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83" r:id="rId3"/>
    <p:sldId id="284" r:id="rId4"/>
    <p:sldId id="257" r:id="rId5"/>
    <p:sldId id="261" r:id="rId6"/>
    <p:sldId id="269" r:id="rId7"/>
    <p:sldId id="267" r:id="rId8"/>
    <p:sldId id="272" r:id="rId9"/>
    <p:sldId id="268" r:id="rId10"/>
    <p:sldId id="273" r:id="rId11"/>
    <p:sldId id="274" r:id="rId12"/>
    <p:sldId id="275" r:id="rId13"/>
    <p:sldId id="263" r:id="rId14"/>
    <p:sldId id="276" r:id="rId15"/>
    <p:sldId id="277" r:id="rId16"/>
    <p:sldId id="270" r:id="rId17"/>
    <p:sldId id="278" r:id="rId18"/>
    <p:sldId id="279" r:id="rId19"/>
    <p:sldId id="280" r:id="rId20"/>
    <p:sldId id="281" r:id="rId21"/>
    <p:sldId id="28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DBF9B8-308B-E444-7596-EDAF31302188}" name="Gautam Yadav" initials="GY" userId="eca7a2fff345696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15"/>
    <p:restoredTop sz="94769"/>
  </p:normalViewPr>
  <p:slideViewPr>
    <p:cSldViewPr snapToGrid="0">
      <p:cViewPr varScale="1">
        <p:scale>
          <a:sx n="102" d="100"/>
          <a:sy n="102" d="100"/>
        </p:scale>
        <p:origin x="6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C3325-263C-D346-B25B-9387D8FF7B9B}" type="datetimeFigureOut">
              <a:rPr lang="en-US" smtClean="0"/>
              <a:t>12/8/25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5A847E-7549-C546-99F2-DF01BD2A14FF}" type="slidenum">
              <a:rPr lang="en-US" smtClean="0"/>
              <a:t>‹#›</a:t>
            </a:fld>
            <a:endParaRPr lang="en-US"/>
          </a:p>
        </p:txBody>
      </p:sp>
    </p:spTree>
    <p:extLst>
      <p:ext uri="{BB962C8B-B14F-4D97-AF65-F5344CB8AC3E}">
        <p14:creationId xmlns:p14="http://schemas.microsoft.com/office/powerpoint/2010/main" val="2765282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7C2FB-1CA8-BAD9-4943-00DAED1FF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3F501C-15F0-856A-8200-67B53F9540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883EDB-60A3-FB50-0F64-2C88B0A98B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5D40D4-8149-3139-6A73-8844D96070BA}"/>
              </a:ext>
            </a:extLst>
          </p:cNvPr>
          <p:cNvSpPr>
            <a:spLocks noGrp="1"/>
          </p:cNvSpPr>
          <p:nvPr>
            <p:ph type="sldNum" sz="quarter" idx="5"/>
          </p:nvPr>
        </p:nvSpPr>
        <p:spPr/>
        <p:txBody>
          <a:bodyPr/>
          <a:lstStyle/>
          <a:p>
            <a:fld id="{43DA14DB-A664-FB40-B4EA-1EBCBBC67201}" type="slidenum">
              <a:rPr lang="en-US" smtClean="0"/>
              <a:t>5</a:t>
            </a:fld>
            <a:endParaRPr lang="en-US"/>
          </a:p>
        </p:txBody>
      </p:sp>
    </p:spTree>
    <p:extLst>
      <p:ext uri="{BB962C8B-B14F-4D97-AF65-F5344CB8AC3E}">
        <p14:creationId xmlns:p14="http://schemas.microsoft.com/office/powerpoint/2010/main" val="3390902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DB748-A26C-1735-AF97-BC51D90DF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E0590-FA7C-5526-F6F0-16479BD98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162C9F-F568-9D1C-D069-11D73BE225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0F6982-94EC-2BA7-4927-73837784D339}"/>
              </a:ext>
            </a:extLst>
          </p:cNvPr>
          <p:cNvSpPr>
            <a:spLocks noGrp="1"/>
          </p:cNvSpPr>
          <p:nvPr>
            <p:ph type="sldNum" sz="quarter" idx="5"/>
          </p:nvPr>
        </p:nvSpPr>
        <p:spPr/>
        <p:txBody>
          <a:bodyPr/>
          <a:lstStyle/>
          <a:p>
            <a:fld id="{43DA14DB-A664-FB40-B4EA-1EBCBBC67201}" type="slidenum">
              <a:rPr lang="en-US" smtClean="0"/>
              <a:t>7</a:t>
            </a:fld>
            <a:endParaRPr lang="en-US"/>
          </a:p>
        </p:txBody>
      </p:sp>
    </p:spTree>
    <p:extLst>
      <p:ext uri="{BB962C8B-B14F-4D97-AF65-F5344CB8AC3E}">
        <p14:creationId xmlns:p14="http://schemas.microsoft.com/office/powerpoint/2010/main" val="1915349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4A61A-56ED-AD89-AC01-AE887C9A5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161BB-A970-6425-9DD6-8DB042AE00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4702CA-1044-900C-7B21-934F9D3495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D56C96-7DEE-5EA5-C013-9EDAA3DCAA7E}"/>
              </a:ext>
            </a:extLst>
          </p:cNvPr>
          <p:cNvSpPr>
            <a:spLocks noGrp="1"/>
          </p:cNvSpPr>
          <p:nvPr>
            <p:ph type="sldNum" sz="quarter" idx="5"/>
          </p:nvPr>
        </p:nvSpPr>
        <p:spPr/>
        <p:txBody>
          <a:bodyPr/>
          <a:lstStyle/>
          <a:p>
            <a:fld id="{43DA14DB-A664-FB40-B4EA-1EBCBBC67201}" type="slidenum">
              <a:rPr lang="en-US" smtClean="0"/>
              <a:t>9</a:t>
            </a:fld>
            <a:endParaRPr lang="en-US"/>
          </a:p>
        </p:txBody>
      </p:sp>
    </p:spTree>
    <p:extLst>
      <p:ext uri="{BB962C8B-B14F-4D97-AF65-F5344CB8AC3E}">
        <p14:creationId xmlns:p14="http://schemas.microsoft.com/office/powerpoint/2010/main" val="2802306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7C2FB-1CA8-BAD9-4943-00DAED1FF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3F501C-15F0-856A-8200-67B53F9540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883EDB-60A3-FB50-0F64-2C88B0A98B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5D40D4-8149-3139-6A73-8844D96070BA}"/>
              </a:ext>
            </a:extLst>
          </p:cNvPr>
          <p:cNvSpPr>
            <a:spLocks noGrp="1"/>
          </p:cNvSpPr>
          <p:nvPr>
            <p:ph type="sldNum" sz="quarter" idx="5"/>
          </p:nvPr>
        </p:nvSpPr>
        <p:spPr/>
        <p:txBody>
          <a:bodyPr/>
          <a:lstStyle/>
          <a:p>
            <a:fld id="{43DA14DB-A664-FB40-B4EA-1EBCBBC67201}" type="slidenum">
              <a:rPr lang="en-US" smtClean="0"/>
              <a:t>12</a:t>
            </a:fld>
            <a:endParaRPr lang="en-US"/>
          </a:p>
        </p:txBody>
      </p:sp>
    </p:spTree>
    <p:extLst>
      <p:ext uri="{BB962C8B-B14F-4D97-AF65-F5344CB8AC3E}">
        <p14:creationId xmlns:p14="http://schemas.microsoft.com/office/powerpoint/2010/main" val="3390902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ED5E8-73E8-8570-4BED-1A50B42A3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19701A-7DEF-BDA1-0FAB-91209A4B3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D314CB-DF07-387B-AA16-F4F9BB8E5B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19ABB8-8CDB-0B79-4CC9-C836F40157D7}"/>
              </a:ext>
            </a:extLst>
          </p:cNvPr>
          <p:cNvSpPr>
            <a:spLocks noGrp="1"/>
          </p:cNvSpPr>
          <p:nvPr>
            <p:ph type="sldNum" sz="quarter" idx="5"/>
          </p:nvPr>
        </p:nvSpPr>
        <p:spPr/>
        <p:txBody>
          <a:bodyPr/>
          <a:lstStyle/>
          <a:p>
            <a:fld id="{43DA14DB-A664-FB40-B4EA-1EBCBBC67201}" type="slidenum">
              <a:rPr lang="en-US" smtClean="0"/>
              <a:t>13</a:t>
            </a:fld>
            <a:endParaRPr lang="en-US"/>
          </a:p>
        </p:txBody>
      </p:sp>
    </p:spTree>
    <p:extLst>
      <p:ext uri="{BB962C8B-B14F-4D97-AF65-F5344CB8AC3E}">
        <p14:creationId xmlns:p14="http://schemas.microsoft.com/office/powerpoint/2010/main" val="29507028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913f5e25b6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g3913f5e25b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913f5e25b6_0_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g3913f5e25b6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A70E4-FA5A-D91A-D2F1-5C21E1F0B1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BD9772-133D-6AB6-2253-9009E78D68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F19FCA-C222-CCE4-E466-B7DF6A28F13C}"/>
              </a:ext>
            </a:extLst>
          </p:cNvPr>
          <p:cNvSpPr>
            <a:spLocks noGrp="1"/>
          </p:cNvSpPr>
          <p:nvPr>
            <p:ph type="dt" sz="half" idx="10"/>
          </p:nvPr>
        </p:nvSpPr>
        <p:spPr/>
        <p:txBody>
          <a:bodyPr/>
          <a:lstStyle/>
          <a:p>
            <a:fld id="{0BA1D5D9-1C0F-3F43-AB1F-4837815AC2D3}" type="datetimeFigureOut">
              <a:rPr lang="en-US" smtClean="0"/>
              <a:t>12/8/25</a:t>
            </a:fld>
            <a:endParaRPr lang="en-US"/>
          </a:p>
        </p:txBody>
      </p:sp>
      <p:sp>
        <p:nvSpPr>
          <p:cNvPr id="5" name="Footer Placeholder 4">
            <a:extLst>
              <a:ext uri="{FF2B5EF4-FFF2-40B4-BE49-F238E27FC236}">
                <a16:creationId xmlns:a16="http://schemas.microsoft.com/office/drawing/2014/main" id="{CBC2572F-9270-5059-DFC6-6F0F2EC823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42993D-7F95-6351-41AA-CFE978B5BA6F}"/>
              </a:ext>
            </a:extLst>
          </p:cNvPr>
          <p:cNvSpPr>
            <a:spLocks noGrp="1"/>
          </p:cNvSpPr>
          <p:nvPr>
            <p:ph type="sldNum" sz="quarter" idx="12"/>
          </p:nvPr>
        </p:nvSpPr>
        <p:spPr/>
        <p:txBody>
          <a:bodyPr/>
          <a:lstStyle/>
          <a:p>
            <a:fld id="{C3087145-67D4-FE4E-81D1-6C0BF3708337}" type="slidenum">
              <a:rPr lang="en-US" smtClean="0"/>
              <a:t>‹#›</a:t>
            </a:fld>
            <a:endParaRPr lang="en-US"/>
          </a:p>
        </p:txBody>
      </p:sp>
    </p:spTree>
    <p:extLst>
      <p:ext uri="{BB962C8B-B14F-4D97-AF65-F5344CB8AC3E}">
        <p14:creationId xmlns:p14="http://schemas.microsoft.com/office/powerpoint/2010/main" val="2333476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7DF67-6CA1-8D34-6130-3B2A8D404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C2A911-6679-F59F-5EF9-4EB9CFDCDF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BEFD6B-F47A-0F83-68CF-5370BB7970D0}"/>
              </a:ext>
            </a:extLst>
          </p:cNvPr>
          <p:cNvSpPr>
            <a:spLocks noGrp="1"/>
          </p:cNvSpPr>
          <p:nvPr>
            <p:ph type="dt" sz="half" idx="10"/>
          </p:nvPr>
        </p:nvSpPr>
        <p:spPr/>
        <p:txBody>
          <a:bodyPr/>
          <a:lstStyle/>
          <a:p>
            <a:fld id="{0BA1D5D9-1C0F-3F43-AB1F-4837815AC2D3}" type="datetimeFigureOut">
              <a:rPr lang="en-US" smtClean="0"/>
              <a:t>12/8/25</a:t>
            </a:fld>
            <a:endParaRPr lang="en-US"/>
          </a:p>
        </p:txBody>
      </p:sp>
      <p:sp>
        <p:nvSpPr>
          <p:cNvPr id="5" name="Footer Placeholder 4">
            <a:extLst>
              <a:ext uri="{FF2B5EF4-FFF2-40B4-BE49-F238E27FC236}">
                <a16:creationId xmlns:a16="http://schemas.microsoft.com/office/drawing/2014/main" id="{C6ACA3C9-F3C4-C746-379B-9191D9C9AE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0B55E2-579D-176C-02CE-62DD011F6A53}"/>
              </a:ext>
            </a:extLst>
          </p:cNvPr>
          <p:cNvSpPr>
            <a:spLocks noGrp="1"/>
          </p:cNvSpPr>
          <p:nvPr>
            <p:ph type="sldNum" sz="quarter" idx="12"/>
          </p:nvPr>
        </p:nvSpPr>
        <p:spPr/>
        <p:txBody>
          <a:bodyPr/>
          <a:lstStyle/>
          <a:p>
            <a:fld id="{C3087145-67D4-FE4E-81D1-6C0BF3708337}" type="slidenum">
              <a:rPr lang="en-US" smtClean="0"/>
              <a:t>‹#›</a:t>
            </a:fld>
            <a:endParaRPr lang="en-US"/>
          </a:p>
        </p:txBody>
      </p:sp>
    </p:spTree>
    <p:extLst>
      <p:ext uri="{BB962C8B-B14F-4D97-AF65-F5344CB8AC3E}">
        <p14:creationId xmlns:p14="http://schemas.microsoft.com/office/powerpoint/2010/main" val="2844528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7528-CA38-2071-D882-DDE1C2A0D6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1505B8-8CE1-E82D-7A61-A8DA74287C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3CAAD9-326A-B9B3-0E37-C80B79222C37}"/>
              </a:ext>
            </a:extLst>
          </p:cNvPr>
          <p:cNvSpPr>
            <a:spLocks noGrp="1"/>
          </p:cNvSpPr>
          <p:nvPr>
            <p:ph type="dt" sz="half" idx="10"/>
          </p:nvPr>
        </p:nvSpPr>
        <p:spPr/>
        <p:txBody>
          <a:bodyPr/>
          <a:lstStyle/>
          <a:p>
            <a:fld id="{0BA1D5D9-1C0F-3F43-AB1F-4837815AC2D3}" type="datetimeFigureOut">
              <a:rPr lang="en-US" smtClean="0"/>
              <a:t>12/8/25</a:t>
            </a:fld>
            <a:endParaRPr lang="en-US"/>
          </a:p>
        </p:txBody>
      </p:sp>
      <p:sp>
        <p:nvSpPr>
          <p:cNvPr id="5" name="Footer Placeholder 4">
            <a:extLst>
              <a:ext uri="{FF2B5EF4-FFF2-40B4-BE49-F238E27FC236}">
                <a16:creationId xmlns:a16="http://schemas.microsoft.com/office/drawing/2014/main" id="{81829CA2-B728-8260-3804-5A2F5416A9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7131E9-CA19-410E-B8FE-99BE2819E971}"/>
              </a:ext>
            </a:extLst>
          </p:cNvPr>
          <p:cNvSpPr>
            <a:spLocks noGrp="1"/>
          </p:cNvSpPr>
          <p:nvPr>
            <p:ph type="sldNum" sz="quarter" idx="12"/>
          </p:nvPr>
        </p:nvSpPr>
        <p:spPr/>
        <p:txBody>
          <a:bodyPr/>
          <a:lstStyle/>
          <a:p>
            <a:fld id="{C3087145-67D4-FE4E-81D1-6C0BF3708337}" type="slidenum">
              <a:rPr lang="en-US" smtClean="0"/>
              <a:t>‹#›</a:t>
            </a:fld>
            <a:endParaRPr lang="en-US"/>
          </a:p>
        </p:txBody>
      </p:sp>
    </p:spTree>
    <p:extLst>
      <p:ext uri="{BB962C8B-B14F-4D97-AF65-F5344CB8AC3E}">
        <p14:creationId xmlns:p14="http://schemas.microsoft.com/office/powerpoint/2010/main" val="368502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C29EA-294C-9830-9170-F8BDD04266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6C6B24-58FB-1AEA-9FEA-E4F6E1505A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4A0317-6D65-B693-0BF3-72C327BD75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31A51E-7132-C365-8757-6A71AB53CF63}"/>
              </a:ext>
            </a:extLst>
          </p:cNvPr>
          <p:cNvSpPr>
            <a:spLocks noGrp="1"/>
          </p:cNvSpPr>
          <p:nvPr>
            <p:ph type="dt" sz="half" idx="10"/>
          </p:nvPr>
        </p:nvSpPr>
        <p:spPr/>
        <p:txBody>
          <a:bodyPr/>
          <a:lstStyle/>
          <a:p>
            <a:fld id="{0BA1D5D9-1C0F-3F43-AB1F-4837815AC2D3}" type="datetimeFigureOut">
              <a:rPr lang="en-US" smtClean="0"/>
              <a:t>12/8/25</a:t>
            </a:fld>
            <a:endParaRPr lang="en-US"/>
          </a:p>
        </p:txBody>
      </p:sp>
      <p:sp>
        <p:nvSpPr>
          <p:cNvPr id="6" name="Footer Placeholder 5">
            <a:extLst>
              <a:ext uri="{FF2B5EF4-FFF2-40B4-BE49-F238E27FC236}">
                <a16:creationId xmlns:a16="http://schemas.microsoft.com/office/drawing/2014/main" id="{F075F516-72D6-DE7E-779B-14295EA08E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09490D-F46A-E391-D083-CAB21CEB4922}"/>
              </a:ext>
            </a:extLst>
          </p:cNvPr>
          <p:cNvSpPr>
            <a:spLocks noGrp="1"/>
          </p:cNvSpPr>
          <p:nvPr>
            <p:ph type="sldNum" sz="quarter" idx="12"/>
          </p:nvPr>
        </p:nvSpPr>
        <p:spPr/>
        <p:txBody>
          <a:bodyPr/>
          <a:lstStyle/>
          <a:p>
            <a:fld id="{C3087145-67D4-FE4E-81D1-6C0BF3708337}" type="slidenum">
              <a:rPr lang="en-US" smtClean="0"/>
              <a:t>‹#›</a:t>
            </a:fld>
            <a:endParaRPr lang="en-US"/>
          </a:p>
        </p:txBody>
      </p:sp>
    </p:spTree>
    <p:extLst>
      <p:ext uri="{BB962C8B-B14F-4D97-AF65-F5344CB8AC3E}">
        <p14:creationId xmlns:p14="http://schemas.microsoft.com/office/powerpoint/2010/main" val="2692987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BF305-E090-468C-51B1-7A02726F89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41A136-FE4A-6AFA-AD68-7B32E4CA5C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DD93E7-AE85-47AA-F27D-C802251865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D1C8B2-8D64-C89E-1855-678497E6D9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45BBEE-1976-6895-E4CC-A6D4ED325B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273F0E-DFF5-1B72-FE56-287F739EC5AB}"/>
              </a:ext>
            </a:extLst>
          </p:cNvPr>
          <p:cNvSpPr>
            <a:spLocks noGrp="1"/>
          </p:cNvSpPr>
          <p:nvPr>
            <p:ph type="dt" sz="half" idx="10"/>
          </p:nvPr>
        </p:nvSpPr>
        <p:spPr/>
        <p:txBody>
          <a:bodyPr/>
          <a:lstStyle/>
          <a:p>
            <a:fld id="{0BA1D5D9-1C0F-3F43-AB1F-4837815AC2D3}" type="datetimeFigureOut">
              <a:rPr lang="en-US" smtClean="0"/>
              <a:t>12/8/25</a:t>
            </a:fld>
            <a:endParaRPr lang="en-US"/>
          </a:p>
        </p:txBody>
      </p:sp>
      <p:sp>
        <p:nvSpPr>
          <p:cNvPr id="8" name="Footer Placeholder 7">
            <a:extLst>
              <a:ext uri="{FF2B5EF4-FFF2-40B4-BE49-F238E27FC236}">
                <a16:creationId xmlns:a16="http://schemas.microsoft.com/office/drawing/2014/main" id="{BA752402-C26E-E887-19AB-9C12B0181B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EF6D4F-4291-C951-EBC9-EC65DB7A173F}"/>
              </a:ext>
            </a:extLst>
          </p:cNvPr>
          <p:cNvSpPr>
            <a:spLocks noGrp="1"/>
          </p:cNvSpPr>
          <p:nvPr>
            <p:ph type="sldNum" sz="quarter" idx="12"/>
          </p:nvPr>
        </p:nvSpPr>
        <p:spPr/>
        <p:txBody>
          <a:bodyPr/>
          <a:lstStyle/>
          <a:p>
            <a:fld id="{C3087145-67D4-FE4E-81D1-6C0BF3708337}" type="slidenum">
              <a:rPr lang="en-US" smtClean="0"/>
              <a:t>‹#›</a:t>
            </a:fld>
            <a:endParaRPr lang="en-US"/>
          </a:p>
        </p:txBody>
      </p:sp>
    </p:spTree>
    <p:extLst>
      <p:ext uri="{BB962C8B-B14F-4D97-AF65-F5344CB8AC3E}">
        <p14:creationId xmlns:p14="http://schemas.microsoft.com/office/powerpoint/2010/main" val="1552087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D7970-6481-665A-FA38-358DFCA426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A650AD-94F4-AA29-E456-E125E4D9DAF3}"/>
              </a:ext>
            </a:extLst>
          </p:cNvPr>
          <p:cNvSpPr>
            <a:spLocks noGrp="1"/>
          </p:cNvSpPr>
          <p:nvPr>
            <p:ph type="dt" sz="half" idx="10"/>
          </p:nvPr>
        </p:nvSpPr>
        <p:spPr/>
        <p:txBody>
          <a:bodyPr/>
          <a:lstStyle/>
          <a:p>
            <a:fld id="{0BA1D5D9-1C0F-3F43-AB1F-4837815AC2D3}" type="datetimeFigureOut">
              <a:rPr lang="en-US" smtClean="0"/>
              <a:t>12/8/25</a:t>
            </a:fld>
            <a:endParaRPr lang="en-US"/>
          </a:p>
        </p:txBody>
      </p:sp>
      <p:sp>
        <p:nvSpPr>
          <p:cNvPr id="4" name="Footer Placeholder 3">
            <a:extLst>
              <a:ext uri="{FF2B5EF4-FFF2-40B4-BE49-F238E27FC236}">
                <a16:creationId xmlns:a16="http://schemas.microsoft.com/office/drawing/2014/main" id="{4E85BD54-D4DC-7182-373A-C964F85D73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7574FA-DC16-41D4-5E46-26B0840D03E1}"/>
              </a:ext>
            </a:extLst>
          </p:cNvPr>
          <p:cNvSpPr>
            <a:spLocks noGrp="1"/>
          </p:cNvSpPr>
          <p:nvPr>
            <p:ph type="sldNum" sz="quarter" idx="12"/>
          </p:nvPr>
        </p:nvSpPr>
        <p:spPr/>
        <p:txBody>
          <a:bodyPr/>
          <a:lstStyle/>
          <a:p>
            <a:fld id="{C3087145-67D4-FE4E-81D1-6C0BF3708337}" type="slidenum">
              <a:rPr lang="en-US" smtClean="0"/>
              <a:t>‹#›</a:t>
            </a:fld>
            <a:endParaRPr lang="en-US"/>
          </a:p>
        </p:txBody>
      </p:sp>
    </p:spTree>
    <p:extLst>
      <p:ext uri="{BB962C8B-B14F-4D97-AF65-F5344CB8AC3E}">
        <p14:creationId xmlns:p14="http://schemas.microsoft.com/office/powerpoint/2010/main" val="3089547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05757E-3305-9AEB-E1D3-B979998CD148}"/>
              </a:ext>
            </a:extLst>
          </p:cNvPr>
          <p:cNvSpPr>
            <a:spLocks noGrp="1"/>
          </p:cNvSpPr>
          <p:nvPr>
            <p:ph type="dt" sz="half" idx="10"/>
          </p:nvPr>
        </p:nvSpPr>
        <p:spPr/>
        <p:txBody>
          <a:bodyPr/>
          <a:lstStyle/>
          <a:p>
            <a:fld id="{0BA1D5D9-1C0F-3F43-AB1F-4837815AC2D3}" type="datetimeFigureOut">
              <a:rPr lang="en-US" smtClean="0"/>
              <a:t>12/8/25</a:t>
            </a:fld>
            <a:endParaRPr lang="en-US"/>
          </a:p>
        </p:txBody>
      </p:sp>
      <p:sp>
        <p:nvSpPr>
          <p:cNvPr id="3" name="Footer Placeholder 2">
            <a:extLst>
              <a:ext uri="{FF2B5EF4-FFF2-40B4-BE49-F238E27FC236}">
                <a16:creationId xmlns:a16="http://schemas.microsoft.com/office/drawing/2014/main" id="{F505A417-1945-57BF-D9FE-E3D4D86AC7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7D42DB-AB69-4AD5-8854-10327EA98478}"/>
              </a:ext>
            </a:extLst>
          </p:cNvPr>
          <p:cNvSpPr>
            <a:spLocks noGrp="1"/>
          </p:cNvSpPr>
          <p:nvPr>
            <p:ph type="sldNum" sz="quarter" idx="12"/>
          </p:nvPr>
        </p:nvSpPr>
        <p:spPr/>
        <p:txBody>
          <a:bodyPr/>
          <a:lstStyle/>
          <a:p>
            <a:fld id="{C3087145-67D4-FE4E-81D1-6C0BF3708337}" type="slidenum">
              <a:rPr lang="en-US" smtClean="0"/>
              <a:t>‹#›</a:t>
            </a:fld>
            <a:endParaRPr lang="en-US"/>
          </a:p>
        </p:txBody>
      </p:sp>
    </p:spTree>
    <p:extLst>
      <p:ext uri="{BB962C8B-B14F-4D97-AF65-F5344CB8AC3E}">
        <p14:creationId xmlns:p14="http://schemas.microsoft.com/office/powerpoint/2010/main" val="4000853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BA4A-D871-83DA-8372-89CB550F80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431C7B-58E2-2995-D75A-9ACFF88BA5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9297E8-58ED-C8FA-3EED-9490994157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609FCC-887D-6C0C-D9F1-E1E4C7268448}"/>
              </a:ext>
            </a:extLst>
          </p:cNvPr>
          <p:cNvSpPr>
            <a:spLocks noGrp="1"/>
          </p:cNvSpPr>
          <p:nvPr>
            <p:ph type="dt" sz="half" idx="10"/>
          </p:nvPr>
        </p:nvSpPr>
        <p:spPr/>
        <p:txBody>
          <a:bodyPr/>
          <a:lstStyle/>
          <a:p>
            <a:fld id="{0BA1D5D9-1C0F-3F43-AB1F-4837815AC2D3}" type="datetimeFigureOut">
              <a:rPr lang="en-US" smtClean="0"/>
              <a:t>12/8/25</a:t>
            </a:fld>
            <a:endParaRPr lang="en-US"/>
          </a:p>
        </p:txBody>
      </p:sp>
      <p:sp>
        <p:nvSpPr>
          <p:cNvPr id="6" name="Footer Placeholder 5">
            <a:extLst>
              <a:ext uri="{FF2B5EF4-FFF2-40B4-BE49-F238E27FC236}">
                <a16:creationId xmlns:a16="http://schemas.microsoft.com/office/drawing/2014/main" id="{D379E5F2-97D0-3F78-C3AA-D7047DE30D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A93F03-B989-B0D7-EAB2-1ACE9AA61E74}"/>
              </a:ext>
            </a:extLst>
          </p:cNvPr>
          <p:cNvSpPr>
            <a:spLocks noGrp="1"/>
          </p:cNvSpPr>
          <p:nvPr>
            <p:ph type="sldNum" sz="quarter" idx="12"/>
          </p:nvPr>
        </p:nvSpPr>
        <p:spPr/>
        <p:txBody>
          <a:bodyPr/>
          <a:lstStyle/>
          <a:p>
            <a:fld id="{C3087145-67D4-FE4E-81D1-6C0BF3708337}" type="slidenum">
              <a:rPr lang="en-US" smtClean="0"/>
              <a:t>‹#›</a:t>
            </a:fld>
            <a:endParaRPr lang="en-US"/>
          </a:p>
        </p:txBody>
      </p:sp>
    </p:spTree>
    <p:extLst>
      <p:ext uri="{BB962C8B-B14F-4D97-AF65-F5344CB8AC3E}">
        <p14:creationId xmlns:p14="http://schemas.microsoft.com/office/powerpoint/2010/main" val="356600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8868-F501-E35D-8408-AD39F8157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ED381F-F4E5-59F2-2BB3-4D99B2E253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9BBD51-3412-059F-01BE-949BC4BBE2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C35871-193C-16E8-09DB-BF69463ACFD6}"/>
              </a:ext>
            </a:extLst>
          </p:cNvPr>
          <p:cNvSpPr>
            <a:spLocks noGrp="1"/>
          </p:cNvSpPr>
          <p:nvPr>
            <p:ph type="dt" sz="half" idx="10"/>
          </p:nvPr>
        </p:nvSpPr>
        <p:spPr/>
        <p:txBody>
          <a:bodyPr/>
          <a:lstStyle/>
          <a:p>
            <a:fld id="{0BA1D5D9-1C0F-3F43-AB1F-4837815AC2D3}" type="datetimeFigureOut">
              <a:rPr lang="en-US" smtClean="0"/>
              <a:t>12/8/25</a:t>
            </a:fld>
            <a:endParaRPr lang="en-US"/>
          </a:p>
        </p:txBody>
      </p:sp>
      <p:sp>
        <p:nvSpPr>
          <p:cNvPr id="6" name="Footer Placeholder 5">
            <a:extLst>
              <a:ext uri="{FF2B5EF4-FFF2-40B4-BE49-F238E27FC236}">
                <a16:creationId xmlns:a16="http://schemas.microsoft.com/office/drawing/2014/main" id="{A7BB6762-F016-D37E-0DCC-D9F934D5EE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9839F6-FA3C-5110-A108-FC015F1D9404}"/>
              </a:ext>
            </a:extLst>
          </p:cNvPr>
          <p:cNvSpPr>
            <a:spLocks noGrp="1"/>
          </p:cNvSpPr>
          <p:nvPr>
            <p:ph type="sldNum" sz="quarter" idx="12"/>
          </p:nvPr>
        </p:nvSpPr>
        <p:spPr/>
        <p:txBody>
          <a:bodyPr/>
          <a:lstStyle/>
          <a:p>
            <a:fld id="{C3087145-67D4-FE4E-81D1-6C0BF3708337}" type="slidenum">
              <a:rPr lang="en-US" smtClean="0"/>
              <a:t>‹#›</a:t>
            </a:fld>
            <a:endParaRPr lang="en-US"/>
          </a:p>
        </p:txBody>
      </p:sp>
    </p:spTree>
    <p:extLst>
      <p:ext uri="{BB962C8B-B14F-4D97-AF65-F5344CB8AC3E}">
        <p14:creationId xmlns:p14="http://schemas.microsoft.com/office/powerpoint/2010/main" val="2173899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6368F-21B0-3223-2AC4-BC22896A514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90F1F6-7E91-FBCD-DC1F-E25CD5C1BE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12CE03-7E8F-F76E-99C4-BD514E5A13FC}"/>
              </a:ext>
            </a:extLst>
          </p:cNvPr>
          <p:cNvSpPr>
            <a:spLocks noGrp="1"/>
          </p:cNvSpPr>
          <p:nvPr>
            <p:ph type="dt" sz="half" idx="10"/>
          </p:nvPr>
        </p:nvSpPr>
        <p:spPr/>
        <p:txBody>
          <a:bodyPr/>
          <a:lstStyle/>
          <a:p>
            <a:fld id="{0BA1D5D9-1C0F-3F43-AB1F-4837815AC2D3}" type="datetimeFigureOut">
              <a:rPr lang="en-US" smtClean="0"/>
              <a:t>12/8/25</a:t>
            </a:fld>
            <a:endParaRPr lang="en-US"/>
          </a:p>
        </p:txBody>
      </p:sp>
      <p:sp>
        <p:nvSpPr>
          <p:cNvPr id="5" name="Footer Placeholder 4">
            <a:extLst>
              <a:ext uri="{FF2B5EF4-FFF2-40B4-BE49-F238E27FC236}">
                <a16:creationId xmlns:a16="http://schemas.microsoft.com/office/drawing/2014/main" id="{15F91C85-8C5E-982D-A60E-53FDEEC853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7850AB-A124-C4DE-FAED-601F11BA4C85}"/>
              </a:ext>
            </a:extLst>
          </p:cNvPr>
          <p:cNvSpPr>
            <a:spLocks noGrp="1"/>
          </p:cNvSpPr>
          <p:nvPr>
            <p:ph type="sldNum" sz="quarter" idx="12"/>
          </p:nvPr>
        </p:nvSpPr>
        <p:spPr/>
        <p:txBody>
          <a:bodyPr/>
          <a:lstStyle/>
          <a:p>
            <a:fld id="{C3087145-67D4-FE4E-81D1-6C0BF3708337}" type="slidenum">
              <a:rPr lang="en-US" smtClean="0"/>
              <a:t>‹#›</a:t>
            </a:fld>
            <a:endParaRPr lang="en-US"/>
          </a:p>
        </p:txBody>
      </p:sp>
    </p:spTree>
    <p:extLst>
      <p:ext uri="{BB962C8B-B14F-4D97-AF65-F5344CB8AC3E}">
        <p14:creationId xmlns:p14="http://schemas.microsoft.com/office/powerpoint/2010/main" val="723899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592E75-E636-7DC1-8DA7-E9FFDF8F20E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2B0D8C-7E48-EFAC-4CE3-78AB00C2DB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A3642-00E2-B155-2AC3-F7ABBB7B7BBB}"/>
              </a:ext>
            </a:extLst>
          </p:cNvPr>
          <p:cNvSpPr>
            <a:spLocks noGrp="1"/>
          </p:cNvSpPr>
          <p:nvPr>
            <p:ph type="dt" sz="half" idx="10"/>
          </p:nvPr>
        </p:nvSpPr>
        <p:spPr/>
        <p:txBody>
          <a:bodyPr/>
          <a:lstStyle/>
          <a:p>
            <a:fld id="{0BA1D5D9-1C0F-3F43-AB1F-4837815AC2D3}" type="datetimeFigureOut">
              <a:rPr lang="en-US" smtClean="0"/>
              <a:t>12/8/25</a:t>
            </a:fld>
            <a:endParaRPr lang="en-US"/>
          </a:p>
        </p:txBody>
      </p:sp>
      <p:sp>
        <p:nvSpPr>
          <p:cNvPr id="5" name="Footer Placeholder 4">
            <a:extLst>
              <a:ext uri="{FF2B5EF4-FFF2-40B4-BE49-F238E27FC236}">
                <a16:creationId xmlns:a16="http://schemas.microsoft.com/office/drawing/2014/main" id="{7E62521B-2D2C-CA9D-6D1F-50027EB33B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08D2C0-4DD9-0E02-ECF4-4DBBBD78FBC3}"/>
              </a:ext>
            </a:extLst>
          </p:cNvPr>
          <p:cNvSpPr>
            <a:spLocks noGrp="1"/>
          </p:cNvSpPr>
          <p:nvPr>
            <p:ph type="sldNum" sz="quarter" idx="12"/>
          </p:nvPr>
        </p:nvSpPr>
        <p:spPr/>
        <p:txBody>
          <a:bodyPr/>
          <a:lstStyle/>
          <a:p>
            <a:fld id="{C3087145-67D4-FE4E-81D1-6C0BF3708337}" type="slidenum">
              <a:rPr lang="en-US" smtClean="0"/>
              <a:t>‹#›</a:t>
            </a:fld>
            <a:endParaRPr lang="en-US"/>
          </a:p>
        </p:txBody>
      </p:sp>
    </p:spTree>
    <p:extLst>
      <p:ext uri="{BB962C8B-B14F-4D97-AF65-F5344CB8AC3E}">
        <p14:creationId xmlns:p14="http://schemas.microsoft.com/office/powerpoint/2010/main" val="3263431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F102CD-92AD-79A4-DAE7-0D5102C3BD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1A7BEA-7E55-82EA-D5E9-7AC33EF9A5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26B3A8-1B87-0EB7-A5E1-BF74760B58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A1D5D9-1C0F-3F43-AB1F-4837815AC2D3}" type="datetimeFigureOut">
              <a:rPr lang="en-US" smtClean="0"/>
              <a:t>12/8/25</a:t>
            </a:fld>
            <a:endParaRPr lang="en-US"/>
          </a:p>
        </p:txBody>
      </p:sp>
      <p:sp>
        <p:nvSpPr>
          <p:cNvPr id="5" name="Footer Placeholder 4">
            <a:extLst>
              <a:ext uri="{FF2B5EF4-FFF2-40B4-BE49-F238E27FC236}">
                <a16:creationId xmlns:a16="http://schemas.microsoft.com/office/drawing/2014/main" id="{7B94236F-B983-A885-D7C1-905596614C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03DA4A1-60EE-6FCD-F1BC-CA3F637DF1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087145-67D4-FE4E-81D1-6C0BF3708337}" type="slidenum">
              <a:rPr lang="en-US" smtClean="0"/>
              <a:t>‹#›</a:t>
            </a:fld>
            <a:endParaRPr lang="en-US"/>
          </a:p>
        </p:txBody>
      </p:sp>
    </p:spTree>
    <p:extLst>
      <p:ext uri="{BB962C8B-B14F-4D97-AF65-F5344CB8AC3E}">
        <p14:creationId xmlns:p14="http://schemas.microsoft.com/office/powerpoint/2010/main" val="2061881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docs.google.com/spreadsheets/d/1YxzhzQN8CVaY3GI6pwNj3TrC00yT9i9z/edit?usp=drive_link&amp;ouid=116355922641085686421&amp;rtpof=true&amp;sd=true" TargetMode="External"/><Relationship Id="rId3" Type="http://schemas.openxmlformats.org/officeDocument/2006/relationships/hyperlink" Target="https://docs.google.com/presentation/d/1kBb7MsE84YqZgjgXE7GV2CgD1d_q81SrTud0R1g79qs/edit?slide=id.g2d96744df0d_0_0#slide=id.g2d96744df0d_0_0" TargetMode="External"/><Relationship Id="rId7" Type="http://schemas.openxmlformats.org/officeDocument/2006/relationships/hyperlink" Target="https://urbanelectricpower.sharepoint.com/:b:/s/UEPGUEPCollaboration/EUZ_MVFdlF9BrbwHTs3Y54EB9HKTN5PYtwnP4jB4htHnWQ?e=j6t3r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docs.google.com/presentation/d/1bTiRUlY3EXtSG1iyTyA1g8UTd1xMfaqsBoG90Swgyzg/edit?usp=sharing" TargetMode="External"/><Relationship Id="rId11" Type="http://schemas.openxmlformats.org/officeDocument/2006/relationships/hyperlink" Target="https://urbanelectricpower.sharepoint.com/:x:/s/InternalUEP/Ec3XjZp7xfhNqjX-ZI68SeEBB_oKGKY8IVx5qXuN2XHtTw?e=RPk241" TargetMode="External"/><Relationship Id="rId5" Type="http://schemas.openxmlformats.org/officeDocument/2006/relationships/hyperlink" Target="https://urbanelectricpower.sharepoint.com/:b:/s/UEPGUEPCollaboration/EQU1_dPAdVdNrgq9gvT53V4BtzVmBW0D8JlozV2rVne-ow?e=gxMyvm" TargetMode="External"/><Relationship Id="rId10" Type="http://schemas.openxmlformats.org/officeDocument/2006/relationships/hyperlink" Target="https://docs.google.com/spreadsheets/d/1vmFrpznwjKyti1sdSv8pZ2haNQ72EvHTI1vozmuFGvY/edit?gid=1115838130#gid=1115838130" TargetMode="External"/><Relationship Id="rId4" Type="http://schemas.openxmlformats.org/officeDocument/2006/relationships/hyperlink" Target="https://urbanelectricpower.sharepoint.com/:b:/s/UEPGUEPCollaboration/Efg9PR8MwA1KvVT266OcTWkBmQ5ontsDX2ALZC-Or3baEQ?e=iyEsiP" TargetMode="External"/><Relationship Id="rId9" Type="http://schemas.openxmlformats.org/officeDocument/2006/relationships/hyperlink" Target="https://docs.google.com/spreadsheets/d/1Eq1o5WqxWyj3au5lb2zMulRVIMjxk4oN/edit?usp=drive_link&amp;ouid=116355922641085686421&amp;rtpof=true&amp;sd=true"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docs.google.com/presentation/d/1kBb7MsE84YqZgjgXE7GV2CgD1d_q81SrTud0R1g79qs/edit?usp=drive_link"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docs.google.com/presentation/d/1QjHiu_EAhYvjhCcpcls_pMVFSqvpTVy-ngD52UA4mMA/edit?usp=drive_link"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ocs.google.com/document/d/1Wqt_vxSV0XsLynSGCUtKjTOgsLp4-4a22rjTRVoZzqM/edit?tab=t.0"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hyperlink" Target="https://urbanelectricpower.sharepoint.com/:x:/r/sites/UEPGUEPCollaboration/_layouts/15/Doc2.aspx?action=edit&amp;sourcedoc=%7B1ddcc30f-ea9e-4681-a86f-ac725e41b254%7D&amp;wdOrigin=TEAMS-MAGLEV.teamsSdk_ns.rwc&amp;wdExp=TEAMS-TREATMENT&amp;wdhostclicktime=1764706359059&amp;web=1"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urbanelectricpower.sharepoint.com/:x:/r/sites/InternalUEP/_layouts/15/Doc2.aspx?action=edit&amp;sourcedoc=%7B05391a1c-92c4-4906-b6ea-e4eb2ed89a6b%7D&amp;wdOrigin=TEAMS-MAGLEV.teamsSdk_ns.rwc&amp;wdExp=TEAMS-TREATMENT&amp;wdhostclicktime=1764707024975&amp;web=1"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hyperlink" Target="https://urbanelectricpower.sharepoint.com/:f:/s/UEPGUEPCollaboration/ElRX8jywNLBAtEy16XwJnHkBkYQWWLiCxsEd_wYz77PInw?e=u801t6" TargetMode="External"/><Relationship Id="rId4" Type="http://schemas.openxmlformats.org/officeDocument/2006/relationships/hyperlink" Target="https://urbanelectricpower.sharepoint.com/:w:/r/sites/UEPGUEPCollaboration/_layouts/15/Doc2.aspx?action=edit&amp;sourcedoc=%7Beefa3094-f010-4a66-8dc1-aaa87e8fb587%7D&amp;wdOrigin=TEAMS-MAGLEV.teamsSdk_ns.rwc&amp;wdExp=TEAMS-TREATMENT&amp;wdhostclicktime=1764707548012&amp;web=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hyperlink" Target="https://urbanelectricpower.sharepoint.com/:p:/s/InternalUEP/EVgzndKXvDdAjd2Jg99jHS8Bj--_C4raji4f-ZRVSapkiw?e=TsPBwo" TargetMode="Externa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A7202-8D7E-6294-BF0C-FB4F1CDE2ED3}"/>
              </a:ext>
            </a:extLst>
          </p:cNvPr>
          <p:cNvSpPr>
            <a:spLocks noGrp="1"/>
          </p:cNvSpPr>
          <p:nvPr>
            <p:ph type="ctrTitle"/>
          </p:nvPr>
        </p:nvSpPr>
        <p:spPr/>
        <p:txBody>
          <a:bodyPr/>
          <a:lstStyle/>
          <a:p>
            <a:r>
              <a:rPr lang="en-US" dirty="0"/>
              <a:t>Assessment Analyzer</a:t>
            </a:r>
          </a:p>
        </p:txBody>
      </p:sp>
      <p:sp>
        <p:nvSpPr>
          <p:cNvPr id="3" name="Subtitle 2">
            <a:extLst>
              <a:ext uri="{FF2B5EF4-FFF2-40B4-BE49-F238E27FC236}">
                <a16:creationId xmlns:a16="http://schemas.microsoft.com/office/drawing/2014/main" id="{D40A78E0-B674-FEA2-B480-F673E30C878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27543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90BF9-47B2-4B31-801D-B744F2D7D753}"/>
              </a:ext>
            </a:extLst>
          </p:cNvPr>
          <p:cNvSpPr>
            <a:spLocks noGrp="1"/>
          </p:cNvSpPr>
          <p:nvPr>
            <p:ph type="title"/>
          </p:nvPr>
        </p:nvSpPr>
        <p:spPr/>
        <p:txBody>
          <a:bodyPr/>
          <a:lstStyle/>
          <a:p>
            <a:r>
              <a:rPr lang="en-US" dirty="0"/>
              <a:t>Template</a:t>
            </a:r>
          </a:p>
        </p:txBody>
      </p:sp>
    </p:spTree>
    <p:extLst>
      <p:ext uri="{BB962C8B-B14F-4D97-AF65-F5344CB8AC3E}">
        <p14:creationId xmlns:p14="http://schemas.microsoft.com/office/powerpoint/2010/main" val="3995638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6"/>
          <p:cNvSpPr txBox="1">
            <a:spLocks noGrp="1"/>
          </p:cNvSpPr>
          <p:nvPr>
            <p:ph type="title"/>
          </p:nvPr>
        </p:nvSpPr>
        <p:spPr>
          <a:xfrm>
            <a:off x="0" y="0"/>
            <a:ext cx="10515600" cy="80240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Helvetica Neue"/>
              <a:buNone/>
            </a:pPr>
            <a:r>
              <a:rPr lang="en-US" sz="3600">
                <a:latin typeface="Helvetica Neue"/>
                <a:ea typeface="Helvetica Neue"/>
                <a:cs typeface="Helvetica Neue"/>
                <a:sym typeface="Helvetica Neue"/>
              </a:rPr>
              <a:t>Employee Assessment Table</a:t>
            </a:r>
            <a:endParaRPr/>
          </a:p>
        </p:txBody>
      </p:sp>
      <p:sp>
        <p:nvSpPr>
          <p:cNvPr id="128" name="Google Shape;128;p6"/>
          <p:cNvSpPr txBox="1"/>
          <p:nvPr/>
        </p:nvSpPr>
        <p:spPr>
          <a:xfrm>
            <a:off x="0" y="5657671"/>
            <a:ext cx="121920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Above table should be attached with the normal review form in your assessment during the reviews. </a:t>
            </a:r>
            <a:endParaRPr/>
          </a:p>
          <a:p>
            <a:pPr marL="0" marR="0" lvl="0" indent="0" algn="l" rtl="0">
              <a:spcBef>
                <a:spcPts val="0"/>
              </a:spcBef>
              <a:spcAft>
                <a:spcPts val="0"/>
              </a:spcAft>
              <a:buNone/>
            </a:pPr>
            <a:endParaRPr sz="1800">
              <a:solidFill>
                <a:schemeClr val="dk1"/>
              </a:solidFill>
              <a:latin typeface="Helvetica Neue"/>
              <a:ea typeface="Helvetica Neue"/>
              <a:cs typeface="Helvetica Neue"/>
              <a:sym typeface="Helvetica Neue"/>
            </a:endParaRPr>
          </a:p>
        </p:txBody>
      </p:sp>
      <p:graphicFrame>
        <p:nvGraphicFramePr>
          <p:cNvPr id="129" name="Google Shape;129;p6"/>
          <p:cNvGraphicFramePr/>
          <p:nvPr/>
        </p:nvGraphicFramePr>
        <p:xfrm>
          <a:off x="1803400" y="1019703"/>
          <a:ext cx="8128000" cy="4348590"/>
        </p:xfrm>
        <a:graphic>
          <a:graphicData uri="http://schemas.openxmlformats.org/drawingml/2006/table">
            <a:tbl>
              <a:tblPr firstRow="1" bandRow="1">
                <a:noFill/>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a:latin typeface="Helvetica Neue"/>
                          <a:ea typeface="Helvetica Neue"/>
                          <a:cs typeface="Helvetica Neue"/>
                          <a:sym typeface="Helvetica Neue"/>
                        </a:rPr>
                        <a:t>Details</a:t>
                      </a:r>
                      <a:endParaRPr/>
                    </a:p>
                  </a:txBody>
                  <a:tcPr marL="91450" marR="91450" marT="45725" marB="45725"/>
                </a:tc>
                <a:tc>
                  <a:txBody>
                    <a:bodyPr/>
                    <a:lstStyle/>
                    <a:p>
                      <a:pPr marL="0" marR="0" lvl="0" indent="0" algn="l" rtl="0">
                        <a:spcBef>
                          <a:spcPts val="0"/>
                        </a:spcBef>
                        <a:spcAft>
                          <a:spcPts val="0"/>
                        </a:spcAft>
                        <a:buNone/>
                      </a:pPr>
                      <a:r>
                        <a:rPr lang="en-US" sz="1800">
                          <a:latin typeface="Helvetica Neue"/>
                          <a:ea typeface="Helvetica Neue"/>
                          <a:cs typeface="Helvetica Neue"/>
                          <a:sym typeface="Helvetica Neue"/>
                        </a:rPr>
                        <a:t>Quantification and other notes</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latin typeface="Helvetica Neue"/>
                          <a:ea typeface="Helvetica Neue"/>
                          <a:cs typeface="Helvetica Neue"/>
                          <a:sym typeface="Helvetica Neue"/>
                        </a:rPr>
                        <a:t>Employee Name</a:t>
                      </a:r>
                      <a:endParaRPr/>
                    </a:p>
                  </a:txBody>
                  <a:tcPr marL="91450" marR="91450" marT="45725" marB="45725"/>
                </a:tc>
                <a:tc>
                  <a:txBody>
                    <a:bodyPr/>
                    <a:lstStyle/>
                    <a:p>
                      <a:pPr marL="0" marR="0" lvl="0" indent="0" algn="l" rtl="0">
                        <a:spcBef>
                          <a:spcPts val="0"/>
                        </a:spcBef>
                        <a:spcAft>
                          <a:spcPts val="0"/>
                        </a:spcAft>
                        <a:buNone/>
                      </a:pPr>
                      <a:endParaRPr sz="1800">
                        <a:latin typeface="Helvetica Neue"/>
                        <a:ea typeface="Helvetica Neue"/>
                        <a:cs typeface="Helvetica Neue"/>
                        <a:sym typeface="Helvetica Neue"/>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latin typeface="Helvetica Neue"/>
                          <a:ea typeface="Helvetica Neue"/>
                          <a:cs typeface="Helvetica Neue"/>
                          <a:sym typeface="Helvetica Neue"/>
                        </a:rPr>
                        <a:t>Role</a:t>
                      </a:r>
                      <a:endParaRPr/>
                    </a:p>
                  </a:txBody>
                  <a:tcPr marL="91450" marR="91450" marT="45725" marB="45725"/>
                </a:tc>
                <a:tc>
                  <a:txBody>
                    <a:bodyPr/>
                    <a:lstStyle/>
                    <a:p>
                      <a:pPr marL="0" marR="0" lvl="0" indent="0" algn="l" rtl="0">
                        <a:spcBef>
                          <a:spcPts val="0"/>
                        </a:spcBef>
                        <a:spcAft>
                          <a:spcPts val="0"/>
                        </a:spcAft>
                        <a:buNone/>
                      </a:pPr>
                      <a:endParaRPr sz="1800">
                        <a:latin typeface="Helvetica Neue"/>
                        <a:ea typeface="Helvetica Neue"/>
                        <a:cs typeface="Helvetica Neue"/>
                        <a:sym typeface="Helvetica Neue"/>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latin typeface="Helvetica Neue"/>
                          <a:ea typeface="Helvetica Neue"/>
                          <a:cs typeface="Helvetica Neue"/>
                          <a:sym typeface="Helvetica Neue"/>
                        </a:rPr>
                        <a:t>Quality Score</a:t>
                      </a:r>
                      <a:endParaRPr/>
                    </a:p>
                  </a:txBody>
                  <a:tcPr marL="91450" marR="91450" marT="45725" marB="45725"/>
                </a:tc>
                <a:tc>
                  <a:txBody>
                    <a:bodyPr/>
                    <a:lstStyle/>
                    <a:p>
                      <a:pPr marL="0" marR="0" lvl="0" indent="0" algn="l" rtl="0">
                        <a:spcBef>
                          <a:spcPts val="0"/>
                        </a:spcBef>
                        <a:spcAft>
                          <a:spcPts val="0"/>
                        </a:spcAft>
                        <a:buNone/>
                      </a:pPr>
                      <a:endParaRPr sz="1800">
                        <a:latin typeface="Helvetica Neue"/>
                        <a:ea typeface="Helvetica Neue"/>
                        <a:cs typeface="Helvetica Neue"/>
                        <a:sym typeface="Helvetica Neue"/>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latin typeface="Helvetica Neue"/>
                          <a:ea typeface="Helvetica Neue"/>
                          <a:cs typeface="Helvetica Neue"/>
                          <a:sym typeface="Helvetica Neue"/>
                        </a:rPr>
                        <a:t>Productivity Score</a:t>
                      </a:r>
                      <a:endParaRPr/>
                    </a:p>
                  </a:txBody>
                  <a:tcPr marL="91450" marR="91450" marT="45725" marB="45725"/>
                </a:tc>
                <a:tc>
                  <a:txBody>
                    <a:bodyPr/>
                    <a:lstStyle/>
                    <a:p>
                      <a:pPr marL="0" marR="0" lvl="0" indent="0" algn="l" rtl="0">
                        <a:spcBef>
                          <a:spcPts val="0"/>
                        </a:spcBef>
                        <a:spcAft>
                          <a:spcPts val="0"/>
                        </a:spcAft>
                        <a:buNone/>
                      </a:pPr>
                      <a:endParaRPr sz="1800">
                        <a:latin typeface="Helvetica Neue"/>
                        <a:ea typeface="Helvetica Neue"/>
                        <a:cs typeface="Helvetica Neue"/>
                        <a:sym typeface="Helvetica Neue"/>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latin typeface="Helvetica Neue"/>
                          <a:ea typeface="Helvetica Neue"/>
                          <a:cs typeface="Helvetica Neue"/>
                          <a:sym typeface="Helvetica Neue"/>
                        </a:rPr>
                        <a:t>Attendance, Reliability, Documentation Score</a:t>
                      </a:r>
                      <a:endParaRPr/>
                    </a:p>
                  </a:txBody>
                  <a:tcPr marL="91450" marR="91450" marT="45725" marB="45725"/>
                </a:tc>
                <a:tc>
                  <a:txBody>
                    <a:bodyPr/>
                    <a:lstStyle/>
                    <a:p>
                      <a:pPr marL="0" marR="0" lvl="0" indent="0" algn="l" rtl="0">
                        <a:spcBef>
                          <a:spcPts val="0"/>
                        </a:spcBef>
                        <a:spcAft>
                          <a:spcPts val="0"/>
                        </a:spcAft>
                        <a:buNone/>
                      </a:pPr>
                      <a:endParaRPr sz="1800">
                        <a:latin typeface="Helvetica Neue"/>
                        <a:ea typeface="Helvetica Neue"/>
                        <a:cs typeface="Helvetica Neue"/>
                        <a:sym typeface="Helvetica Neue"/>
                      </a:endParaRPr>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a:latin typeface="Helvetica Neue"/>
                          <a:ea typeface="Helvetica Neue"/>
                          <a:cs typeface="Helvetica Neue"/>
                          <a:sym typeface="Helvetica Neue"/>
                        </a:rPr>
                        <a:t>Skill Score</a:t>
                      </a:r>
                      <a:endParaRPr/>
                    </a:p>
                  </a:txBody>
                  <a:tcPr marL="91450" marR="91450" marT="45725" marB="45725"/>
                </a:tc>
                <a:tc>
                  <a:txBody>
                    <a:bodyPr/>
                    <a:lstStyle/>
                    <a:p>
                      <a:pPr marL="0" marR="0" lvl="0" indent="0" algn="l" rtl="0">
                        <a:spcBef>
                          <a:spcPts val="0"/>
                        </a:spcBef>
                        <a:spcAft>
                          <a:spcPts val="0"/>
                        </a:spcAft>
                        <a:buNone/>
                      </a:pPr>
                      <a:endParaRPr sz="1800">
                        <a:latin typeface="Helvetica Neue"/>
                        <a:ea typeface="Helvetica Neue"/>
                        <a:cs typeface="Helvetica Neue"/>
                        <a:sym typeface="Helvetica Neue"/>
                      </a:endParaRPr>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r>
                        <a:rPr lang="en-US" sz="1800">
                          <a:latin typeface="Helvetica Neue"/>
                          <a:ea typeface="Helvetica Neue"/>
                          <a:cs typeface="Helvetica Neue"/>
                          <a:sym typeface="Helvetica Neue"/>
                        </a:rPr>
                        <a:t>Communication, Safety Score</a:t>
                      </a:r>
                      <a:endParaRPr/>
                    </a:p>
                  </a:txBody>
                  <a:tcPr marL="91450" marR="91450" marT="45725" marB="45725"/>
                </a:tc>
                <a:tc>
                  <a:txBody>
                    <a:bodyPr/>
                    <a:lstStyle/>
                    <a:p>
                      <a:pPr marL="0" marR="0" lvl="0" indent="0" algn="l" rtl="0">
                        <a:spcBef>
                          <a:spcPts val="0"/>
                        </a:spcBef>
                        <a:spcAft>
                          <a:spcPts val="0"/>
                        </a:spcAft>
                        <a:buNone/>
                      </a:pPr>
                      <a:endParaRPr sz="1800">
                        <a:latin typeface="Helvetica Neue"/>
                        <a:ea typeface="Helvetica Neue"/>
                        <a:cs typeface="Helvetica Neue"/>
                        <a:sym typeface="Helvetica Neue"/>
                      </a:endParaRPr>
                    </a:p>
                  </a:txBody>
                  <a:tcPr marL="91450" marR="91450" marT="45725" marB="45725"/>
                </a:tc>
                <a:extLst>
                  <a:ext uri="{0D108BD9-81ED-4DB2-BD59-A6C34878D82A}">
                    <a16:rowId xmlns:a16="http://schemas.microsoft.com/office/drawing/2014/main" val="10007"/>
                  </a:ext>
                </a:extLst>
              </a:tr>
              <a:tr h="370850">
                <a:tc>
                  <a:txBody>
                    <a:bodyPr/>
                    <a:lstStyle/>
                    <a:p>
                      <a:pPr marL="0" marR="0" lvl="0" indent="0" algn="l" rtl="0">
                        <a:spcBef>
                          <a:spcPts val="0"/>
                        </a:spcBef>
                        <a:spcAft>
                          <a:spcPts val="0"/>
                        </a:spcAft>
                        <a:buNone/>
                      </a:pPr>
                      <a:r>
                        <a:rPr lang="en-US" sz="1800">
                          <a:latin typeface="Helvetica Neue"/>
                          <a:ea typeface="Helvetica Neue"/>
                          <a:cs typeface="Helvetica Neue"/>
                          <a:sym typeface="Helvetica Neue"/>
                        </a:rPr>
                        <a:t>Weighted Final Score</a:t>
                      </a:r>
                      <a:endParaRPr/>
                    </a:p>
                  </a:txBody>
                  <a:tcPr marL="91450" marR="91450" marT="45725" marB="45725"/>
                </a:tc>
                <a:tc>
                  <a:txBody>
                    <a:bodyPr/>
                    <a:lstStyle/>
                    <a:p>
                      <a:pPr marL="0" marR="0" lvl="0" indent="0" algn="l" rtl="0">
                        <a:spcBef>
                          <a:spcPts val="0"/>
                        </a:spcBef>
                        <a:spcAft>
                          <a:spcPts val="0"/>
                        </a:spcAft>
                        <a:buNone/>
                      </a:pPr>
                      <a:endParaRPr sz="1800">
                        <a:latin typeface="Helvetica Neue"/>
                        <a:ea typeface="Helvetica Neue"/>
                        <a:cs typeface="Helvetica Neue"/>
                        <a:sym typeface="Helvetica Neue"/>
                      </a:endParaRPr>
                    </a:p>
                  </a:txBody>
                  <a:tcPr marL="91450" marR="91450" marT="45725" marB="45725"/>
                </a:tc>
                <a:extLst>
                  <a:ext uri="{0D108BD9-81ED-4DB2-BD59-A6C34878D82A}">
                    <a16:rowId xmlns:a16="http://schemas.microsoft.com/office/drawing/2014/main" val="10008"/>
                  </a:ext>
                </a:extLst>
              </a:tr>
              <a:tr h="370850">
                <a:tc>
                  <a:txBody>
                    <a:bodyPr/>
                    <a:lstStyle/>
                    <a:p>
                      <a:pPr marL="0" marR="0" lvl="0" indent="0" algn="l" rtl="0">
                        <a:spcBef>
                          <a:spcPts val="0"/>
                        </a:spcBef>
                        <a:spcAft>
                          <a:spcPts val="0"/>
                        </a:spcAft>
                        <a:buNone/>
                      </a:pPr>
                      <a:r>
                        <a:rPr lang="en-US" sz="1800">
                          <a:latin typeface="Helvetica Neue"/>
                          <a:ea typeface="Helvetica Neue"/>
                          <a:cs typeface="Helvetica Neue"/>
                          <a:sym typeface="Helvetica Neue"/>
                        </a:rPr>
                        <a:t>Recommended Salary Increase</a:t>
                      </a:r>
                      <a:endParaRPr/>
                    </a:p>
                  </a:txBody>
                  <a:tcPr marL="91450" marR="91450" marT="45725" marB="45725"/>
                </a:tc>
                <a:tc>
                  <a:txBody>
                    <a:bodyPr/>
                    <a:lstStyle/>
                    <a:p>
                      <a:pPr marL="0" marR="0" lvl="0" indent="0" algn="l" rtl="0">
                        <a:spcBef>
                          <a:spcPts val="0"/>
                        </a:spcBef>
                        <a:spcAft>
                          <a:spcPts val="0"/>
                        </a:spcAft>
                        <a:buNone/>
                      </a:pPr>
                      <a:endParaRPr sz="1800">
                        <a:latin typeface="Helvetica Neue"/>
                        <a:ea typeface="Helvetica Neue"/>
                        <a:cs typeface="Helvetica Neue"/>
                        <a:sym typeface="Helvetica Neue"/>
                      </a:endParaRPr>
                    </a:p>
                  </a:txBody>
                  <a:tcPr marL="91450" marR="91450" marT="45725" marB="45725"/>
                </a:tc>
                <a:extLst>
                  <a:ext uri="{0D108BD9-81ED-4DB2-BD59-A6C34878D82A}">
                    <a16:rowId xmlns:a16="http://schemas.microsoft.com/office/drawing/2014/main" val="10009"/>
                  </a:ext>
                </a:extLst>
              </a:tr>
              <a:tr h="370850">
                <a:tc>
                  <a:txBody>
                    <a:bodyPr/>
                    <a:lstStyle/>
                    <a:p>
                      <a:pPr marL="0" marR="0" lvl="0" indent="0" algn="l" rtl="0">
                        <a:spcBef>
                          <a:spcPts val="0"/>
                        </a:spcBef>
                        <a:spcAft>
                          <a:spcPts val="0"/>
                        </a:spcAft>
                        <a:buNone/>
                      </a:pPr>
                      <a:r>
                        <a:rPr lang="en-US" sz="1800">
                          <a:latin typeface="Helvetica Neue"/>
                          <a:ea typeface="Helvetica Neue"/>
                          <a:cs typeface="Helvetica Neue"/>
                          <a:sym typeface="Helvetica Neue"/>
                        </a:rPr>
                        <a:t>Notes/Manager Comments</a:t>
                      </a:r>
                      <a:endParaRPr/>
                    </a:p>
                  </a:txBody>
                  <a:tcPr marL="91450" marR="91450" marT="45725" marB="45725"/>
                </a:tc>
                <a:tc>
                  <a:txBody>
                    <a:bodyPr/>
                    <a:lstStyle/>
                    <a:p>
                      <a:pPr marL="0" marR="0" lvl="0" indent="0" algn="l" rtl="0">
                        <a:spcBef>
                          <a:spcPts val="0"/>
                        </a:spcBef>
                        <a:spcAft>
                          <a:spcPts val="0"/>
                        </a:spcAft>
                        <a:buNone/>
                      </a:pPr>
                      <a:endParaRPr sz="1800">
                        <a:latin typeface="Helvetica Neue"/>
                        <a:ea typeface="Helvetica Neue"/>
                        <a:cs typeface="Helvetica Neue"/>
                        <a:sym typeface="Helvetica Neue"/>
                      </a:endParaRPr>
                    </a:p>
                  </a:txBody>
                  <a:tcPr marL="91450" marR="91450" marT="45725" marB="45725"/>
                </a:tc>
                <a:extLst>
                  <a:ext uri="{0D108BD9-81ED-4DB2-BD59-A6C34878D82A}">
                    <a16:rowId xmlns:a16="http://schemas.microsoft.com/office/drawing/2014/main" val="1001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D20CF-126F-4216-85A8-D4F8A60B999B}"/>
              </a:ext>
            </a:extLst>
          </p:cNvPr>
          <p:cNvSpPr>
            <a:spLocks noGrp="1"/>
          </p:cNvSpPr>
          <p:nvPr>
            <p:ph type="title"/>
          </p:nvPr>
        </p:nvSpPr>
        <p:spPr/>
        <p:txBody>
          <a:bodyPr/>
          <a:lstStyle/>
          <a:p>
            <a:r>
              <a:rPr lang="en-US" dirty="0"/>
              <a:t>R&amp;D</a:t>
            </a:r>
          </a:p>
        </p:txBody>
      </p:sp>
    </p:spTree>
    <p:extLst>
      <p:ext uri="{BB962C8B-B14F-4D97-AF65-F5344CB8AC3E}">
        <p14:creationId xmlns:p14="http://schemas.microsoft.com/office/powerpoint/2010/main" val="3036463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5C623-A815-0841-851C-64A1DC28A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59312-306B-DCB6-2BF2-3D5CAB0BF6F3}"/>
              </a:ext>
            </a:extLst>
          </p:cNvPr>
          <p:cNvSpPr>
            <a:spLocks noGrp="1"/>
          </p:cNvSpPr>
          <p:nvPr>
            <p:ph type="title"/>
          </p:nvPr>
        </p:nvSpPr>
        <p:spPr>
          <a:xfrm>
            <a:off x="0" y="0"/>
            <a:ext cx="10515600" cy="802407"/>
          </a:xfrm>
        </p:spPr>
        <p:txBody>
          <a:bodyPr>
            <a:normAutofit/>
          </a:bodyPr>
          <a:lstStyle/>
          <a:p>
            <a:r>
              <a:rPr lang="en-US" sz="3600" dirty="0">
                <a:latin typeface="Helvetica" pitchFamily="2" charset="0"/>
              </a:rPr>
              <a:t>Employee Assessment Table</a:t>
            </a:r>
          </a:p>
        </p:txBody>
      </p:sp>
      <p:graphicFrame>
        <p:nvGraphicFramePr>
          <p:cNvPr id="3" name="Table 2">
            <a:extLst>
              <a:ext uri="{FF2B5EF4-FFF2-40B4-BE49-F238E27FC236}">
                <a16:creationId xmlns:a16="http://schemas.microsoft.com/office/drawing/2014/main" id="{DE270D84-60BA-661F-48A3-98C9713CFA71}"/>
              </a:ext>
            </a:extLst>
          </p:cNvPr>
          <p:cNvGraphicFramePr>
            <a:graphicFrameLocks noGrp="1"/>
          </p:cNvGraphicFramePr>
          <p:nvPr/>
        </p:nvGraphicFramePr>
        <p:xfrm>
          <a:off x="641525" y="921179"/>
          <a:ext cx="10129939" cy="5882640"/>
        </p:xfrm>
        <a:graphic>
          <a:graphicData uri="http://schemas.openxmlformats.org/drawingml/2006/table">
            <a:tbl>
              <a:tblPr firstRow="1" bandRow="1">
                <a:tableStyleId>{5C22544A-7EE6-4342-B048-85BDC9FD1C3A}</a:tableStyleId>
              </a:tblPr>
              <a:tblGrid>
                <a:gridCol w="3523609">
                  <a:extLst>
                    <a:ext uri="{9D8B030D-6E8A-4147-A177-3AD203B41FA5}">
                      <a16:colId xmlns:a16="http://schemas.microsoft.com/office/drawing/2014/main" val="3865702953"/>
                    </a:ext>
                  </a:extLst>
                </a:gridCol>
                <a:gridCol w="6606330">
                  <a:extLst>
                    <a:ext uri="{9D8B030D-6E8A-4147-A177-3AD203B41FA5}">
                      <a16:colId xmlns:a16="http://schemas.microsoft.com/office/drawing/2014/main" val="3235133208"/>
                    </a:ext>
                  </a:extLst>
                </a:gridCol>
              </a:tblGrid>
              <a:tr h="370840">
                <a:tc>
                  <a:txBody>
                    <a:bodyPr/>
                    <a:lstStyle/>
                    <a:p>
                      <a:r>
                        <a:rPr lang="en-US" sz="1400" dirty="0">
                          <a:latin typeface="Helvetica" pitchFamily="2" charset="0"/>
                        </a:rPr>
                        <a:t>Details</a:t>
                      </a:r>
                    </a:p>
                  </a:txBody>
                  <a:tcPr/>
                </a:tc>
                <a:tc>
                  <a:txBody>
                    <a:bodyPr/>
                    <a:lstStyle/>
                    <a:p>
                      <a:r>
                        <a:rPr lang="en-US" sz="1400" dirty="0">
                          <a:latin typeface="Helvetica" pitchFamily="2" charset="0"/>
                        </a:rPr>
                        <a:t>Quantification and other notes</a:t>
                      </a:r>
                    </a:p>
                  </a:txBody>
                  <a:tcPr/>
                </a:tc>
                <a:extLst>
                  <a:ext uri="{0D108BD9-81ED-4DB2-BD59-A6C34878D82A}">
                    <a16:rowId xmlns:a16="http://schemas.microsoft.com/office/drawing/2014/main" val="271493292"/>
                  </a:ext>
                </a:extLst>
              </a:tr>
              <a:tr h="370840">
                <a:tc>
                  <a:txBody>
                    <a:bodyPr/>
                    <a:lstStyle/>
                    <a:p>
                      <a:r>
                        <a:rPr lang="en-US" sz="1400" dirty="0">
                          <a:latin typeface="Helvetica" pitchFamily="2" charset="0"/>
                        </a:rPr>
                        <a:t>Employee Name</a:t>
                      </a:r>
                    </a:p>
                  </a:txBody>
                  <a:tcPr/>
                </a:tc>
                <a:tc>
                  <a:txBody>
                    <a:bodyPr/>
                    <a:lstStyle/>
                    <a:p>
                      <a:r>
                        <a:rPr lang="en-US" sz="1400" dirty="0">
                          <a:latin typeface="Helvetica" pitchFamily="2" charset="0"/>
                        </a:rPr>
                        <a:t>Nahian Sadique</a:t>
                      </a:r>
                    </a:p>
                  </a:txBody>
                  <a:tcPr/>
                </a:tc>
                <a:extLst>
                  <a:ext uri="{0D108BD9-81ED-4DB2-BD59-A6C34878D82A}">
                    <a16:rowId xmlns:a16="http://schemas.microsoft.com/office/drawing/2014/main" val="2372916192"/>
                  </a:ext>
                </a:extLst>
              </a:tr>
              <a:tr h="370840">
                <a:tc>
                  <a:txBody>
                    <a:bodyPr/>
                    <a:lstStyle/>
                    <a:p>
                      <a:r>
                        <a:rPr lang="en-US" sz="1400" dirty="0">
                          <a:latin typeface="Helvetica" pitchFamily="2" charset="0"/>
                        </a:rPr>
                        <a:t>Role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Helvetica" pitchFamily="2" charset="0"/>
                        </a:rPr>
                        <a:t>Battery Scientist III</a:t>
                      </a:r>
                    </a:p>
                  </a:txBody>
                  <a:tcPr/>
                </a:tc>
                <a:extLst>
                  <a:ext uri="{0D108BD9-81ED-4DB2-BD59-A6C34878D82A}">
                    <a16:rowId xmlns:a16="http://schemas.microsoft.com/office/drawing/2014/main" val="1258495537"/>
                  </a:ext>
                </a:extLst>
              </a:tr>
              <a:tr h="370840">
                <a:tc>
                  <a:txBody>
                    <a:bodyPr/>
                    <a:lstStyle/>
                    <a:p>
                      <a:r>
                        <a:rPr lang="en-US" sz="1400" dirty="0">
                          <a:latin typeface="Helvetica" pitchFamily="2" charset="0"/>
                        </a:rPr>
                        <a:t>Quality Score</a:t>
                      </a:r>
                    </a:p>
                  </a:txBody>
                  <a:tcPr/>
                </a:tc>
                <a:tc>
                  <a:txBody>
                    <a:bodyPr/>
                    <a:lstStyle/>
                    <a:p>
                      <a:r>
                        <a:rPr lang="en-US" sz="1400" dirty="0">
                          <a:latin typeface="Helvetica" pitchFamily="2" charset="0"/>
                        </a:rPr>
                        <a:t>3 (Design of experiments is good, but experimental accuracy and quality of data needs improvement)</a:t>
                      </a:r>
                    </a:p>
                  </a:txBody>
                  <a:tcPr/>
                </a:tc>
                <a:extLst>
                  <a:ext uri="{0D108BD9-81ED-4DB2-BD59-A6C34878D82A}">
                    <a16:rowId xmlns:a16="http://schemas.microsoft.com/office/drawing/2014/main" val="1982355638"/>
                  </a:ext>
                </a:extLst>
              </a:tr>
              <a:tr h="370840">
                <a:tc>
                  <a:txBody>
                    <a:bodyPr/>
                    <a:lstStyle/>
                    <a:p>
                      <a:r>
                        <a:rPr lang="en-US" sz="1400" dirty="0">
                          <a:latin typeface="Helvetica" pitchFamily="2" charset="0"/>
                        </a:rPr>
                        <a:t>Productivity Score</a:t>
                      </a:r>
                    </a:p>
                  </a:txBody>
                  <a:tcPr/>
                </a:tc>
                <a:tc>
                  <a:txBody>
                    <a:bodyPr/>
                    <a:lstStyle/>
                    <a:p>
                      <a:r>
                        <a:rPr lang="en-US" sz="1400" dirty="0">
                          <a:latin typeface="Helvetica" pitchFamily="2" charset="0"/>
                        </a:rPr>
                        <a:t>4 (made 200+ cells in the past year, good progress towards cathode milestones, anode development is a little delayed)</a:t>
                      </a:r>
                    </a:p>
                  </a:txBody>
                  <a:tcPr/>
                </a:tc>
                <a:extLst>
                  <a:ext uri="{0D108BD9-81ED-4DB2-BD59-A6C34878D82A}">
                    <a16:rowId xmlns:a16="http://schemas.microsoft.com/office/drawing/2014/main" val="1534594630"/>
                  </a:ext>
                </a:extLst>
              </a:tr>
              <a:tr h="370840">
                <a:tc>
                  <a:txBody>
                    <a:bodyPr/>
                    <a:lstStyle/>
                    <a:p>
                      <a:r>
                        <a:rPr lang="en-US" sz="1400" dirty="0">
                          <a:latin typeface="Helvetica" pitchFamily="2" charset="0"/>
                        </a:rPr>
                        <a:t>Attendance, Reliability, Documentation Score</a:t>
                      </a:r>
                    </a:p>
                  </a:txBody>
                  <a:tcPr/>
                </a:tc>
                <a:tc>
                  <a:txBody>
                    <a:bodyPr/>
                    <a:lstStyle/>
                    <a:p>
                      <a:r>
                        <a:rPr lang="en-US" sz="1400" dirty="0">
                          <a:latin typeface="Helvetica" pitchFamily="2" charset="0"/>
                        </a:rPr>
                        <a:t>3.6 (Good lab practices, proper sample handling, meeting deadlines, but needs to keep a good documentation of work in report or presentations, and needs improvement in reproducibility of work)</a:t>
                      </a:r>
                    </a:p>
                  </a:txBody>
                  <a:tcPr/>
                </a:tc>
                <a:extLst>
                  <a:ext uri="{0D108BD9-81ED-4DB2-BD59-A6C34878D82A}">
                    <a16:rowId xmlns:a16="http://schemas.microsoft.com/office/drawing/2014/main" val="681519438"/>
                  </a:ext>
                </a:extLst>
              </a:tr>
              <a:tr h="370840">
                <a:tc>
                  <a:txBody>
                    <a:bodyPr/>
                    <a:lstStyle/>
                    <a:p>
                      <a:r>
                        <a:rPr lang="en-US" sz="1400" dirty="0">
                          <a:latin typeface="Helvetica" pitchFamily="2" charset="0"/>
                        </a:rPr>
                        <a:t>Skill Score</a:t>
                      </a:r>
                    </a:p>
                  </a:txBody>
                  <a:tcPr/>
                </a:tc>
                <a:tc>
                  <a:txBody>
                    <a:bodyPr/>
                    <a:lstStyle/>
                    <a:p>
                      <a:r>
                        <a:rPr lang="en-US" sz="1400" dirty="0">
                          <a:latin typeface="Helvetica" pitchFamily="2" charset="0"/>
                        </a:rPr>
                        <a:t>3.7 (Good understanding of experimental techniques, needs better understanding of electrochemistry, failure mechanism and interpretation of test results)</a:t>
                      </a:r>
                    </a:p>
                  </a:txBody>
                  <a:tcPr/>
                </a:tc>
                <a:extLst>
                  <a:ext uri="{0D108BD9-81ED-4DB2-BD59-A6C34878D82A}">
                    <a16:rowId xmlns:a16="http://schemas.microsoft.com/office/drawing/2014/main" val="4104393452"/>
                  </a:ext>
                </a:extLst>
              </a:tr>
              <a:tr h="370840">
                <a:tc>
                  <a:txBody>
                    <a:bodyPr/>
                    <a:lstStyle/>
                    <a:p>
                      <a:r>
                        <a:rPr lang="en-US" sz="1400" dirty="0">
                          <a:latin typeface="Helvetica" pitchFamily="2" charset="0"/>
                        </a:rPr>
                        <a:t>Communication, Safety Score</a:t>
                      </a:r>
                    </a:p>
                  </a:txBody>
                  <a:tcPr/>
                </a:tc>
                <a:tc>
                  <a:txBody>
                    <a:bodyPr/>
                    <a:lstStyle/>
                    <a:p>
                      <a:r>
                        <a:rPr lang="en-US" sz="1400" dirty="0">
                          <a:latin typeface="Helvetica" pitchFamily="2" charset="0"/>
                        </a:rPr>
                        <a:t>5 (Communicate clearly and a good team player)</a:t>
                      </a:r>
                    </a:p>
                  </a:txBody>
                  <a:tcPr/>
                </a:tc>
                <a:extLst>
                  <a:ext uri="{0D108BD9-81ED-4DB2-BD59-A6C34878D82A}">
                    <a16:rowId xmlns:a16="http://schemas.microsoft.com/office/drawing/2014/main" val="2785447591"/>
                  </a:ext>
                </a:extLst>
              </a:tr>
              <a:tr h="370840">
                <a:tc>
                  <a:txBody>
                    <a:bodyPr/>
                    <a:lstStyle/>
                    <a:p>
                      <a:r>
                        <a:rPr lang="en-US" sz="1400" dirty="0">
                          <a:latin typeface="Helvetica" pitchFamily="2" charset="0"/>
                        </a:rPr>
                        <a:t>Weighted Final Score</a:t>
                      </a:r>
                    </a:p>
                  </a:txBody>
                  <a:tcPr/>
                </a:tc>
                <a:tc>
                  <a:txBody>
                    <a:bodyPr/>
                    <a:lstStyle/>
                    <a:p>
                      <a:r>
                        <a:rPr lang="en-US" sz="1400" dirty="0">
                          <a:latin typeface="Helvetica" pitchFamily="2" charset="0"/>
                        </a:rPr>
                        <a:t>3.7</a:t>
                      </a:r>
                    </a:p>
                  </a:txBody>
                  <a:tcPr/>
                </a:tc>
                <a:extLst>
                  <a:ext uri="{0D108BD9-81ED-4DB2-BD59-A6C34878D82A}">
                    <a16:rowId xmlns:a16="http://schemas.microsoft.com/office/drawing/2014/main" val="3456045347"/>
                  </a:ext>
                </a:extLst>
              </a:tr>
              <a:tr h="370840">
                <a:tc>
                  <a:txBody>
                    <a:bodyPr/>
                    <a:lstStyle/>
                    <a:p>
                      <a:r>
                        <a:rPr lang="en-US" sz="1400" dirty="0">
                          <a:latin typeface="Helvetica" pitchFamily="2" charset="0"/>
                        </a:rPr>
                        <a:t>Recommended Salary Increase</a:t>
                      </a:r>
                    </a:p>
                  </a:txBody>
                  <a:tcPr/>
                </a:tc>
                <a:tc>
                  <a:txBody>
                    <a:bodyPr/>
                    <a:lstStyle/>
                    <a:p>
                      <a:r>
                        <a:rPr lang="en-US" sz="1400" dirty="0">
                          <a:latin typeface="Helvetica" pitchFamily="2" charset="0"/>
                        </a:rPr>
                        <a:t>4%</a:t>
                      </a:r>
                    </a:p>
                  </a:txBody>
                  <a:tcPr/>
                </a:tc>
                <a:extLst>
                  <a:ext uri="{0D108BD9-81ED-4DB2-BD59-A6C34878D82A}">
                    <a16:rowId xmlns:a16="http://schemas.microsoft.com/office/drawing/2014/main" val="4105237905"/>
                  </a:ext>
                </a:extLst>
              </a:tr>
              <a:tr h="370840">
                <a:tc>
                  <a:txBody>
                    <a:bodyPr/>
                    <a:lstStyle/>
                    <a:p>
                      <a:r>
                        <a:rPr lang="en-US" sz="1400" dirty="0">
                          <a:latin typeface="Helvetica" pitchFamily="2" charset="0"/>
                        </a:rPr>
                        <a:t>Notes/Manager Comments</a:t>
                      </a:r>
                    </a:p>
                  </a:txBody>
                  <a:tcPr/>
                </a:tc>
                <a:tc>
                  <a:txBody>
                    <a:bodyPr/>
                    <a:lstStyle/>
                    <a:p>
                      <a:r>
                        <a:rPr lang="en-US" sz="1400" dirty="0">
                          <a:latin typeface="Helvetica" pitchFamily="2" charset="0"/>
                        </a:rPr>
                        <a:t>Nahian takes initiatives in research and trying new ideas. </a:t>
                      </a:r>
                      <a:r>
                        <a:rPr lang="en-US" altLang="zh-CN" sz="1400" dirty="0">
                          <a:latin typeface="Helvetica" pitchFamily="2" charset="0"/>
                        </a:rPr>
                        <a:t>He is hard working. In the past year, although not achieved the milestone completely, he has made multiple cathode cells that achieved 50% utilization for 200+ cycles. On the anode side, the 40% utilization was achieved for 200+ cycles as well, but only once. </a:t>
                      </a:r>
                    </a:p>
                    <a:p>
                      <a:r>
                        <a:rPr lang="en-US" sz="1400" dirty="0">
                          <a:latin typeface="Helvetica" pitchFamily="2" charset="0"/>
                        </a:rPr>
                        <a:t>He needs to pay more attention to details and cell quality. He also needs improvement in understanding of mechanism and data analysis.</a:t>
                      </a:r>
                    </a:p>
                  </a:txBody>
                  <a:tcPr/>
                </a:tc>
                <a:extLst>
                  <a:ext uri="{0D108BD9-81ED-4DB2-BD59-A6C34878D82A}">
                    <a16:rowId xmlns:a16="http://schemas.microsoft.com/office/drawing/2014/main" val="2921263721"/>
                  </a:ext>
                </a:extLst>
              </a:tr>
            </a:tbl>
          </a:graphicData>
        </a:graphic>
      </p:graphicFrame>
    </p:spTree>
    <p:extLst>
      <p:ext uri="{BB962C8B-B14F-4D97-AF65-F5344CB8AC3E}">
        <p14:creationId xmlns:p14="http://schemas.microsoft.com/office/powerpoint/2010/main" val="2832938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DAA72-18F2-8492-734D-451D9D8369E0}"/>
              </a:ext>
            </a:extLst>
          </p:cNvPr>
          <p:cNvSpPr>
            <a:spLocks noGrp="1"/>
          </p:cNvSpPr>
          <p:nvPr>
            <p:ph type="title"/>
          </p:nvPr>
        </p:nvSpPr>
        <p:spPr>
          <a:xfrm>
            <a:off x="838200" y="71511"/>
            <a:ext cx="10515600" cy="826112"/>
          </a:xfrm>
        </p:spPr>
        <p:txBody>
          <a:bodyPr>
            <a:normAutofit/>
          </a:bodyPr>
          <a:lstStyle/>
          <a:p>
            <a:r>
              <a:rPr lang="en-US" sz="4000" dirty="0"/>
              <a:t>Detailed Assessment for Nahian</a:t>
            </a:r>
          </a:p>
        </p:txBody>
      </p:sp>
      <p:sp>
        <p:nvSpPr>
          <p:cNvPr id="3" name="Content Placeholder 2">
            <a:extLst>
              <a:ext uri="{FF2B5EF4-FFF2-40B4-BE49-F238E27FC236}">
                <a16:creationId xmlns:a16="http://schemas.microsoft.com/office/drawing/2014/main" id="{B7C334E6-0669-EFE1-607D-EE9485A51507}"/>
              </a:ext>
            </a:extLst>
          </p:cNvPr>
          <p:cNvSpPr>
            <a:spLocks noGrp="1"/>
          </p:cNvSpPr>
          <p:nvPr>
            <p:ph idx="1"/>
          </p:nvPr>
        </p:nvSpPr>
        <p:spPr>
          <a:xfrm>
            <a:off x="838200" y="897623"/>
            <a:ext cx="10515600" cy="5746459"/>
          </a:xfrm>
        </p:spPr>
        <p:txBody>
          <a:bodyPr>
            <a:normAutofit lnSpcReduction="10000"/>
          </a:bodyPr>
          <a:lstStyle/>
          <a:p>
            <a:pPr>
              <a:lnSpc>
                <a:spcPct val="100000"/>
              </a:lnSpc>
            </a:pPr>
            <a:r>
              <a:rPr lang="en-US" sz="1000" b="1" dirty="0">
                <a:solidFill>
                  <a:srgbClr val="FF0000"/>
                </a:solidFill>
              </a:rPr>
              <a:t>Quality score: 3</a:t>
            </a:r>
          </a:p>
          <a:p>
            <a:pPr lvl="1">
              <a:lnSpc>
                <a:spcPct val="100000"/>
              </a:lnSpc>
            </a:pPr>
            <a:r>
              <a:rPr lang="en-US" sz="900" b="1" u="sng" dirty="0"/>
              <a:t>Design of experiment: 4</a:t>
            </a:r>
          </a:p>
          <a:p>
            <a:pPr lvl="1">
              <a:lnSpc>
                <a:spcPct val="100000"/>
              </a:lnSpc>
            </a:pPr>
            <a:r>
              <a:rPr lang="en-US" sz="900" b="1" u="sng" dirty="0"/>
              <a:t>Experimental accuracy: 2. </a:t>
            </a:r>
            <a:r>
              <a:rPr lang="en-US" sz="900" dirty="0"/>
              <a:t>Sometimes makes unacceptable mistakes. Examples: One example is that he recently found out he mislabeled a set of cathode tests from the beginning. He found out this during dismantling of a failed cell which was supposed to contain a </a:t>
            </a:r>
            <a:r>
              <a:rPr lang="en-US" sz="900" dirty="0" err="1"/>
              <a:t>Chaoli</a:t>
            </a:r>
            <a:r>
              <a:rPr lang="en-US" sz="900" dirty="0"/>
              <a:t> separator according to the test ID while none was found. Another example is that </a:t>
            </a:r>
            <a:r>
              <a:rPr lang="en-US" sz="900" dirty="0" err="1"/>
              <a:t>Suqi</a:t>
            </a:r>
            <a:r>
              <a:rPr lang="en-US" sz="900" dirty="0"/>
              <a:t> checked the reference electrodes for him of two cells while he was away in Indian and found the aux voltage mapping was wrong. These recent examples made me very nervous about the previous data he generated.</a:t>
            </a:r>
          </a:p>
          <a:p>
            <a:pPr lvl="1">
              <a:lnSpc>
                <a:spcPct val="100000"/>
              </a:lnSpc>
            </a:pPr>
            <a:r>
              <a:rPr lang="en-US" sz="900" b="1" u="sng" dirty="0"/>
              <a:t>Quality of data: 2. </a:t>
            </a:r>
            <a:r>
              <a:rPr lang="en-US" sz="900" dirty="0"/>
              <a:t>Rarely check the cell voltage curves. Most of the time only look at the per cycle data. Often starts cells without checking the data. Won’t know the cells are shorted from the beginning or the reference electrodes are reading bad data until I tell him.</a:t>
            </a:r>
          </a:p>
          <a:p>
            <a:pPr lvl="1">
              <a:lnSpc>
                <a:spcPct val="100000"/>
              </a:lnSpc>
            </a:pPr>
            <a:r>
              <a:rPr lang="en-US" sz="900" b="1" u="sng" dirty="0"/>
              <a:t>Success rate of experiments aligned with hypothesis: 4. </a:t>
            </a:r>
            <a:r>
              <a:rPr lang="en-US" sz="900" dirty="0"/>
              <a:t>Sometimes fails to make the correct hypothesis. </a:t>
            </a:r>
          </a:p>
          <a:p>
            <a:pPr>
              <a:lnSpc>
                <a:spcPct val="100000"/>
              </a:lnSpc>
            </a:pPr>
            <a:r>
              <a:rPr lang="en-US" sz="1000" b="1" dirty="0">
                <a:solidFill>
                  <a:srgbClr val="FF0000"/>
                </a:solidFill>
              </a:rPr>
              <a:t>Productivity: 4</a:t>
            </a:r>
          </a:p>
          <a:p>
            <a:pPr lvl="1">
              <a:lnSpc>
                <a:spcPct val="100000"/>
              </a:lnSpc>
            </a:pPr>
            <a:r>
              <a:rPr lang="en-US" sz="900" b="1" u="sng" dirty="0"/>
              <a:t>No. of experiments completed: 5. </a:t>
            </a:r>
            <a:r>
              <a:rPr lang="en-US" sz="900" dirty="0"/>
              <a:t>Hard working. 200+ cells made over the past year.</a:t>
            </a:r>
          </a:p>
          <a:p>
            <a:pPr lvl="1">
              <a:lnSpc>
                <a:spcPct val="100000"/>
              </a:lnSpc>
            </a:pPr>
            <a:r>
              <a:rPr lang="en-US" sz="900" b="1" u="sng" dirty="0"/>
              <a:t>Progress towards project milestones: 4. </a:t>
            </a:r>
            <a:r>
              <a:rPr lang="en-US" sz="900" dirty="0"/>
              <a:t>Good progress towards cathode milestones; anode development is delayed.</a:t>
            </a:r>
          </a:p>
          <a:p>
            <a:pPr lvl="1">
              <a:lnSpc>
                <a:spcPct val="100000"/>
              </a:lnSpc>
            </a:pPr>
            <a:r>
              <a:rPr lang="en-US" sz="900" b="1" u="sng" dirty="0"/>
              <a:t>Avoiding unnecessary experiments: 3. </a:t>
            </a:r>
            <a:r>
              <a:rPr lang="en-US" sz="900" dirty="0"/>
              <a:t>Example: It happened a few times that the cell tabs touched each other and shorted from the beginning that he had to remake cells. </a:t>
            </a:r>
          </a:p>
          <a:p>
            <a:pPr>
              <a:lnSpc>
                <a:spcPct val="100000"/>
              </a:lnSpc>
            </a:pPr>
            <a:r>
              <a:rPr lang="en-US" sz="1000" b="1" dirty="0">
                <a:solidFill>
                  <a:srgbClr val="FF0000"/>
                </a:solidFill>
              </a:rPr>
              <a:t>Reliability: 3.6</a:t>
            </a:r>
          </a:p>
          <a:p>
            <a:pPr lvl="1">
              <a:lnSpc>
                <a:spcPct val="100000"/>
              </a:lnSpc>
            </a:pPr>
            <a:r>
              <a:rPr lang="en-US" sz="900" b="1" u="sng" dirty="0"/>
              <a:t>Good lab practice: 4</a:t>
            </a:r>
          </a:p>
          <a:p>
            <a:pPr lvl="1">
              <a:lnSpc>
                <a:spcPct val="100000"/>
              </a:lnSpc>
            </a:pPr>
            <a:r>
              <a:rPr lang="en-US" sz="900" b="1" u="sng" dirty="0"/>
              <a:t>Proper sample handling: 4. </a:t>
            </a:r>
          </a:p>
          <a:p>
            <a:pPr lvl="1">
              <a:lnSpc>
                <a:spcPct val="100000"/>
              </a:lnSpc>
            </a:pPr>
            <a:r>
              <a:rPr lang="en-US" sz="900" b="1" u="sng" dirty="0"/>
              <a:t>Documentation completeness: 3</a:t>
            </a:r>
            <a:r>
              <a:rPr lang="en-US" sz="900" dirty="0"/>
              <a:t>. Records cell and electrode details. Originally made presentations for the weekly meeting but in the past a few months skips it frequently. No periodic data analysis reports.</a:t>
            </a:r>
          </a:p>
          <a:p>
            <a:pPr lvl="1">
              <a:lnSpc>
                <a:spcPct val="100000"/>
              </a:lnSpc>
            </a:pPr>
            <a:r>
              <a:rPr lang="en-US" sz="900" b="1" u="sng" dirty="0"/>
              <a:t>Reproducibility of work: 2. </a:t>
            </a:r>
            <a:r>
              <a:rPr lang="en-US" sz="900" dirty="0"/>
              <a:t>Example: 5 cells made with identical anodes, 2 cycling at 30% and 3 cycling at 40%. The best one achieved 200+ cycles at 40% while all the others achieved &lt;100 cycles regardless of utilization.</a:t>
            </a:r>
          </a:p>
          <a:p>
            <a:pPr lvl="1">
              <a:lnSpc>
                <a:spcPct val="100000"/>
              </a:lnSpc>
            </a:pPr>
            <a:r>
              <a:rPr lang="en-US" sz="900" b="1" u="sng" dirty="0"/>
              <a:t>Meeting deadlines: 5. </a:t>
            </a:r>
            <a:r>
              <a:rPr lang="en-US" sz="900" dirty="0"/>
              <a:t>Whenever given a clear deadline, he will try to meet it.</a:t>
            </a:r>
          </a:p>
          <a:p>
            <a:pPr>
              <a:lnSpc>
                <a:spcPct val="100000"/>
              </a:lnSpc>
            </a:pPr>
            <a:r>
              <a:rPr lang="en-US" sz="1000" b="1" dirty="0">
                <a:solidFill>
                  <a:srgbClr val="FF0000"/>
                </a:solidFill>
              </a:rPr>
              <a:t>Skill growth: 3.7</a:t>
            </a:r>
          </a:p>
          <a:p>
            <a:pPr lvl="1">
              <a:lnSpc>
                <a:spcPct val="100000"/>
              </a:lnSpc>
            </a:pPr>
            <a:r>
              <a:rPr lang="en-US" sz="900" b="1" u="sng" dirty="0"/>
              <a:t>Mastery of experimental techniques: 5. </a:t>
            </a:r>
            <a:r>
              <a:rPr lang="en-US" sz="900" dirty="0"/>
              <a:t>Good at characterization techniques. </a:t>
            </a:r>
          </a:p>
          <a:p>
            <a:pPr lvl="1">
              <a:lnSpc>
                <a:spcPct val="100000"/>
              </a:lnSpc>
            </a:pPr>
            <a:r>
              <a:rPr lang="en-US" sz="900" b="1" u="sng" dirty="0"/>
              <a:t>Deeper understanding of chemistry and materials science: 3. </a:t>
            </a:r>
            <a:r>
              <a:rPr lang="en-US" sz="900" dirty="0"/>
              <a:t>Little knowledge on electrochemistry and weak in failure mechanism analysis. Cannot tell the reference electrode is bad based on its voltage curve. Calls a cell shorted when it is not. Better on material science. </a:t>
            </a:r>
          </a:p>
          <a:p>
            <a:pPr lvl="1">
              <a:lnSpc>
                <a:spcPct val="100000"/>
              </a:lnSpc>
            </a:pPr>
            <a:r>
              <a:rPr lang="en-US" sz="900" b="1" u="sng" dirty="0"/>
              <a:t>Statistical analysis: 3. </a:t>
            </a:r>
            <a:r>
              <a:rPr lang="en-US" sz="900" dirty="0"/>
              <a:t>Makes repeats for each test. However, rarely does statistical analysis. </a:t>
            </a:r>
          </a:p>
          <a:p>
            <a:pPr>
              <a:lnSpc>
                <a:spcPct val="100000"/>
              </a:lnSpc>
            </a:pPr>
            <a:r>
              <a:rPr lang="en-US" sz="1000" b="1" dirty="0">
                <a:solidFill>
                  <a:srgbClr val="FF0000"/>
                </a:solidFill>
              </a:rPr>
              <a:t>Teamwork: 5</a:t>
            </a:r>
          </a:p>
          <a:p>
            <a:pPr lvl="1">
              <a:lnSpc>
                <a:spcPct val="100000"/>
              </a:lnSpc>
            </a:pPr>
            <a:r>
              <a:rPr lang="en-US" sz="900" b="1" u="sng" dirty="0"/>
              <a:t>Communicate science clearly to all departments: 5. </a:t>
            </a:r>
            <a:r>
              <a:rPr lang="en-US" sz="900" dirty="0"/>
              <a:t>Good at communication.</a:t>
            </a:r>
          </a:p>
          <a:p>
            <a:pPr lvl="1">
              <a:lnSpc>
                <a:spcPct val="100000"/>
              </a:lnSpc>
            </a:pPr>
            <a:r>
              <a:rPr lang="en-US" sz="900" b="1" u="sng" dirty="0"/>
              <a:t>Report anomalies: 5 </a:t>
            </a:r>
          </a:p>
          <a:p>
            <a:pPr lvl="1">
              <a:lnSpc>
                <a:spcPct val="100000"/>
              </a:lnSpc>
            </a:pPr>
            <a:r>
              <a:rPr lang="en-US" sz="900" b="1" u="sng" dirty="0"/>
              <a:t>Safety: 5</a:t>
            </a:r>
          </a:p>
          <a:p>
            <a:pPr lvl="1">
              <a:lnSpc>
                <a:spcPct val="100000"/>
              </a:lnSpc>
            </a:pPr>
            <a:r>
              <a:rPr lang="en-US" sz="900" b="1" u="sng" dirty="0"/>
              <a:t>Participate in teamwork: 5 </a:t>
            </a:r>
            <a:r>
              <a:rPr lang="en-US" sz="900" dirty="0"/>
              <a:t>Good team player. Everyone seems to like him. </a:t>
            </a:r>
            <a:endParaRPr lang="en-US" sz="1000" dirty="0"/>
          </a:p>
          <a:p>
            <a:pPr>
              <a:lnSpc>
                <a:spcPct val="100000"/>
              </a:lnSpc>
            </a:pPr>
            <a:endParaRPr lang="en-US" sz="1000" dirty="0"/>
          </a:p>
        </p:txBody>
      </p:sp>
    </p:spTree>
    <p:extLst>
      <p:ext uri="{BB962C8B-B14F-4D97-AF65-F5344CB8AC3E}">
        <p14:creationId xmlns:p14="http://schemas.microsoft.com/office/powerpoint/2010/main" val="1645122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9FF08-CFB4-5563-C1E1-A7E398E193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73B0E-35E9-9B5B-0465-66B9E41F9AAF}"/>
              </a:ext>
            </a:extLst>
          </p:cNvPr>
          <p:cNvSpPr>
            <a:spLocks noGrp="1"/>
          </p:cNvSpPr>
          <p:nvPr>
            <p:ph type="title"/>
          </p:nvPr>
        </p:nvSpPr>
        <p:spPr>
          <a:xfrm>
            <a:off x="0" y="0"/>
            <a:ext cx="10515600" cy="802407"/>
          </a:xfrm>
        </p:spPr>
        <p:txBody>
          <a:bodyPr>
            <a:normAutofit/>
          </a:bodyPr>
          <a:lstStyle/>
          <a:p>
            <a:r>
              <a:rPr lang="en-US" sz="3600" dirty="0">
                <a:latin typeface="Helvetica" pitchFamily="2" charset="0"/>
              </a:rPr>
              <a:t>Employee Assessment Table</a:t>
            </a:r>
          </a:p>
        </p:txBody>
      </p:sp>
      <p:graphicFrame>
        <p:nvGraphicFramePr>
          <p:cNvPr id="3" name="Table 2">
            <a:extLst>
              <a:ext uri="{FF2B5EF4-FFF2-40B4-BE49-F238E27FC236}">
                <a16:creationId xmlns:a16="http://schemas.microsoft.com/office/drawing/2014/main" id="{8239C275-31DE-3D92-8AD8-627C56A8984F}"/>
              </a:ext>
            </a:extLst>
          </p:cNvPr>
          <p:cNvGraphicFramePr>
            <a:graphicFrameLocks noGrp="1"/>
          </p:cNvGraphicFramePr>
          <p:nvPr/>
        </p:nvGraphicFramePr>
        <p:xfrm>
          <a:off x="574646" y="1019703"/>
          <a:ext cx="10444293" cy="5511800"/>
        </p:xfrm>
        <a:graphic>
          <a:graphicData uri="http://schemas.openxmlformats.org/drawingml/2006/table">
            <a:tbl>
              <a:tblPr firstRow="1" bandRow="1">
                <a:tableStyleId>{5C22544A-7EE6-4342-B048-85BDC9FD1C3A}</a:tableStyleId>
              </a:tblPr>
              <a:tblGrid>
                <a:gridCol w="4148356">
                  <a:extLst>
                    <a:ext uri="{9D8B030D-6E8A-4147-A177-3AD203B41FA5}">
                      <a16:colId xmlns:a16="http://schemas.microsoft.com/office/drawing/2014/main" val="3865702953"/>
                    </a:ext>
                  </a:extLst>
                </a:gridCol>
                <a:gridCol w="6295937">
                  <a:extLst>
                    <a:ext uri="{9D8B030D-6E8A-4147-A177-3AD203B41FA5}">
                      <a16:colId xmlns:a16="http://schemas.microsoft.com/office/drawing/2014/main" val="3235133208"/>
                    </a:ext>
                  </a:extLst>
                </a:gridCol>
              </a:tblGrid>
              <a:tr h="370840">
                <a:tc>
                  <a:txBody>
                    <a:bodyPr/>
                    <a:lstStyle/>
                    <a:p>
                      <a:r>
                        <a:rPr lang="en-US" sz="1200" dirty="0">
                          <a:latin typeface="Helvetica" pitchFamily="2" charset="0"/>
                        </a:rPr>
                        <a:t>Details</a:t>
                      </a:r>
                    </a:p>
                  </a:txBody>
                  <a:tcPr/>
                </a:tc>
                <a:tc>
                  <a:txBody>
                    <a:bodyPr/>
                    <a:lstStyle/>
                    <a:p>
                      <a:r>
                        <a:rPr lang="en-US" sz="1200" dirty="0">
                          <a:latin typeface="Helvetica" pitchFamily="2" charset="0"/>
                        </a:rPr>
                        <a:t>Quantification and other notes</a:t>
                      </a:r>
                    </a:p>
                  </a:txBody>
                  <a:tcPr/>
                </a:tc>
                <a:extLst>
                  <a:ext uri="{0D108BD9-81ED-4DB2-BD59-A6C34878D82A}">
                    <a16:rowId xmlns:a16="http://schemas.microsoft.com/office/drawing/2014/main" val="271493292"/>
                  </a:ext>
                </a:extLst>
              </a:tr>
              <a:tr h="370840">
                <a:tc>
                  <a:txBody>
                    <a:bodyPr/>
                    <a:lstStyle/>
                    <a:p>
                      <a:r>
                        <a:rPr lang="en-US" sz="1200" dirty="0">
                          <a:latin typeface="Helvetica" pitchFamily="2" charset="0"/>
                        </a:rPr>
                        <a:t>Employee Name</a:t>
                      </a:r>
                    </a:p>
                  </a:txBody>
                  <a:tcPr/>
                </a:tc>
                <a:tc>
                  <a:txBody>
                    <a:bodyPr/>
                    <a:lstStyle/>
                    <a:p>
                      <a:r>
                        <a:rPr lang="en-US" sz="1200" dirty="0" err="1">
                          <a:latin typeface="Helvetica" pitchFamily="2" charset="0"/>
                        </a:rPr>
                        <a:t>Suqi</a:t>
                      </a:r>
                      <a:r>
                        <a:rPr lang="en-US" sz="1200" dirty="0">
                          <a:latin typeface="Helvetica" pitchFamily="2" charset="0"/>
                        </a:rPr>
                        <a:t> Liu</a:t>
                      </a:r>
                    </a:p>
                  </a:txBody>
                  <a:tcPr/>
                </a:tc>
                <a:extLst>
                  <a:ext uri="{0D108BD9-81ED-4DB2-BD59-A6C34878D82A}">
                    <a16:rowId xmlns:a16="http://schemas.microsoft.com/office/drawing/2014/main" val="2372916192"/>
                  </a:ext>
                </a:extLst>
              </a:tr>
              <a:tr h="370840">
                <a:tc>
                  <a:txBody>
                    <a:bodyPr/>
                    <a:lstStyle/>
                    <a:p>
                      <a:r>
                        <a:rPr lang="en-US" sz="1200" dirty="0">
                          <a:latin typeface="Helvetica" pitchFamily="2" charset="0"/>
                        </a:rPr>
                        <a:t>Role</a:t>
                      </a:r>
                    </a:p>
                  </a:txBody>
                  <a:tcPr/>
                </a:tc>
                <a:tc>
                  <a:txBody>
                    <a:bodyPr/>
                    <a:lstStyle/>
                    <a:p>
                      <a:r>
                        <a:rPr lang="en-US" sz="1200" dirty="0">
                          <a:latin typeface="Helvetica" pitchFamily="2" charset="0"/>
                        </a:rPr>
                        <a:t>Battery Scientist III</a:t>
                      </a:r>
                    </a:p>
                  </a:txBody>
                  <a:tcPr/>
                </a:tc>
                <a:extLst>
                  <a:ext uri="{0D108BD9-81ED-4DB2-BD59-A6C34878D82A}">
                    <a16:rowId xmlns:a16="http://schemas.microsoft.com/office/drawing/2014/main" val="1258495537"/>
                  </a:ext>
                </a:extLst>
              </a:tr>
              <a:tr h="370840">
                <a:tc>
                  <a:txBody>
                    <a:bodyPr/>
                    <a:lstStyle/>
                    <a:p>
                      <a:r>
                        <a:rPr lang="en-US" sz="1200" dirty="0">
                          <a:latin typeface="Helvetica" pitchFamily="2" charset="0"/>
                        </a:rPr>
                        <a:t>Quality Score</a:t>
                      </a:r>
                    </a:p>
                  </a:txBody>
                  <a:tcPr/>
                </a:tc>
                <a:tc>
                  <a:txBody>
                    <a:bodyPr/>
                    <a:lstStyle/>
                    <a:p>
                      <a:r>
                        <a:rPr lang="en-US" sz="1200" dirty="0">
                          <a:latin typeface="Helvetica" pitchFamily="2" charset="0"/>
                        </a:rPr>
                        <a:t>5 (Very structured experimental design and very good quality of data. High success rate of experiments aligned with hypotheses)</a:t>
                      </a:r>
                    </a:p>
                  </a:txBody>
                  <a:tcPr/>
                </a:tc>
                <a:extLst>
                  <a:ext uri="{0D108BD9-81ED-4DB2-BD59-A6C34878D82A}">
                    <a16:rowId xmlns:a16="http://schemas.microsoft.com/office/drawing/2014/main" val="1982355638"/>
                  </a:ext>
                </a:extLst>
              </a:tr>
              <a:tr h="370840">
                <a:tc>
                  <a:txBody>
                    <a:bodyPr/>
                    <a:lstStyle/>
                    <a:p>
                      <a:r>
                        <a:rPr lang="en-US" sz="1200" dirty="0">
                          <a:latin typeface="Helvetica" pitchFamily="2" charset="0"/>
                        </a:rPr>
                        <a:t>Productivity Score</a:t>
                      </a:r>
                    </a:p>
                  </a:txBody>
                  <a:tcPr/>
                </a:tc>
                <a:tc>
                  <a:txBody>
                    <a:bodyPr/>
                    <a:lstStyle/>
                    <a:p>
                      <a:r>
                        <a:rPr lang="en-US" sz="1200" dirty="0">
                          <a:latin typeface="Helvetica" pitchFamily="2" charset="0"/>
                        </a:rPr>
                        <a:t>4.3 (made 200+ cells in the past year, met the separator milestones, gel development is a little delayed)</a:t>
                      </a:r>
                    </a:p>
                  </a:txBody>
                  <a:tcPr/>
                </a:tc>
                <a:extLst>
                  <a:ext uri="{0D108BD9-81ED-4DB2-BD59-A6C34878D82A}">
                    <a16:rowId xmlns:a16="http://schemas.microsoft.com/office/drawing/2014/main" val="1534594630"/>
                  </a:ext>
                </a:extLst>
              </a:tr>
              <a:tr h="370840">
                <a:tc>
                  <a:txBody>
                    <a:bodyPr/>
                    <a:lstStyle/>
                    <a:p>
                      <a:r>
                        <a:rPr lang="en-US" sz="1200" dirty="0">
                          <a:latin typeface="Helvetica" pitchFamily="2" charset="0"/>
                        </a:rPr>
                        <a:t>Attendance, Reliability, Documentation Score</a:t>
                      </a:r>
                    </a:p>
                  </a:txBody>
                  <a:tcPr/>
                </a:tc>
                <a:tc>
                  <a:txBody>
                    <a:bodyPr/>
                    <a:lstStyle/>
                    <a:p>
                      <a:r>
                        <a:rPr lang="en-US" sz="1200" dirty="0">
                          <a:latin typeface="Helvetica" pitchFamily="2" charset="0"/>
                        </a:rPr>
                        <a:t>5 (Good lab practices and sample handling, great documentation with weekly presentation properly titled and uploaded into the Teams folder, </a:t>
                      </a:r>
                      <a:r>
                        <a:rPr lang="en-US" altLang="zh-CN" sz="1200" dirty="0">
                          <a:latin typeface="Helvetica" pitchFamily="2" charset="0"/>
                        </a:rPr>
                        <a:t>exceptional </a:t>
                      </a:r>
                      <a:r>
                        <a:rPr lang="en-US" sz="1200" dirty="0">
                          <a:latin typeface="Helvetica" pitchFamily="2" charset="0"/>
                        </a:rPr>
                        <a:t>reproducibility of work)</a:t>
                      </a:r>
                    </a:p>
                  </a:txBody>
                  <a:tcPr/>
                </a:tc>
                <a:extLst>
                  <a:ext uri="{0D108BD9-81ED-4DB2-BD59-A6C34878D82A}">
                    <a16:rowId xmlns:a16="http://schemas.microsoft.com/office/drawing/2014/main" val="681519438"/>
                  </a:ext>
                </a:extLst>
              </a:tr>
              <a:tr h="370840">
                <a:tc>
                  <a:txBody>
                    <a:bodyPr/>
                    <a:lstStyle/>
                    <a:p>
                      <a:r>
                        <a:rPr lang="en-US" sz="1200" dirty="0">
                          <a:latin typeface="Helvetica" pitchFamily="2" charset="0"/>
                        </a:rPr>
                        <a:t>Skill Score</a:t>
                      </a:r>
                    </a:p>
                  </a:txBody>
                  <a:tcPr/>
                </a:tc>
                <a:tc>
                  <a:txBody>
                    <a:bodyPr/>
                    <a:lstStyle/>
                    <a:p>
                      <a:r>
                        <a:rPr lang="en-US" sz="1200" dirty="0">
                          <a:latin typeface="Helvetica" pitchFamily="2" charset="0"/>
                        </a:rPr>
                        <a:t>4.3 (Good understanding of experimental techniques, good at interpreting test results, quickly learning battery chemistry and asks lots of questions. Needs to take more initiatives in finding new stuffs)</a:t>
                      </a:r>
                    </a:p>
                  </a:txBody>
                  <a:tcPr/>
                </a:tc>
                <a:extLst>
                  <a:ext uri="{0D108BD9-81ED-4DB2-BD59-A6C34878D82A}">
                    <a16:rowId xmlns:a16="http://schemas.microsoft.com/office/drawing/2014/main" val="4104393452"/>
                  </a:ext>
                </a:extLst>
              </a:tr>
              <a:tr h="370840">
                <a:tc>
                  <a:txBody>
                    <a:bodyPr/>
                    <a:lstStyle/>
                    <a:p>
                      <a:r>
                        <a:rPr lang="en-US" sz="1200" dirty="0">
                          <a:latin typeface="Helvetica" pitchFamily="2" charset="0"/>
                        </a:rPr>
                        <a:t>Communication, Safety Score</a:t>
                      </a:r>
                    </a:p>
                  </a:txBody>
                  <a:tcPr/>
                </a:tc>
                <a:tc>
                  <a:txBody>
                    <a:bodyPr/>
                    <a:lstStyle/>
                    <a:p>
                      <a:r>
                        <a:rPr lang="en-US" sz="1200" dirty="0">
                          <a:latin typeface="Helvetica" pitchFamily="2" charset="0"/>
                        </a:rPr>
                        <a:t>4.5 (Communicate science clearly; follows all safety practice; generally a good team player – received complaint once from other team member but seems like due to miscommunication).</a:t>
                      </a:r>
                    </a:p>
                  </a:txBody>
                  <a:tcPr/>
                </a:tc>
                <a:extLst>
                  <a:ext uri="{0D108BD9-81ED-4DB2-BD59-A6C34878D82A}">
                    <a16:rowId xmlns:a16="http://schemas.microsoft.com/office/drawing/2014/main" val="2785447591"/>
                  </a:ext>
                </a:extLst>
              </a:tr>
              <a:tr h="370840">
                <a:tc>
                  <a:txBody>
                    <a:bodyPr/>
                    <a:lstStyle/>
                    <a:p>
                      <a:r>
                        <a:rPr lang="en-US" sz="1200" dirty="0">
                          <a:latin typeface="Helvetica" pitchFamily="2" charset="0"/>
                        </a:rPr>
                        <a:t>Weighted Final Score</a:t>
                      </a:r>
                    </a:p>
                  </a:txBody>
                  <a:tcPr/>
                </a:tc>
                <a:tc>
                  <a:txBody>
                    <a:bodyPr/>
                    <a:lstStyle/>
                    <a:p>
                      <a:r>
                        <a:rPr lang="en-US" sz="1200" dirty="0">
                          <a:latin typeface="Helvetica" pitchFamily="2" charset="0"/>
                        </a:rPr>
                        <a:t>4.7</a:t>
                      </a:r>
                    </a:p>
                  </a:txBody>
                  <a:tcPr/>
                </a:tc>
                <a:extLst>
                  <a:ext uri="{0D108BD9-81ED-4DB2-BD59-A6C34878D82A}">
                    <a16:rowId xmlns:a16="http://schemas.microsoft.com/office/drawing/2014/main" val="3456045347"/>
                  </a:ext>
                </a:extLst>
              </a:tr>
              <a:tr h="370840">
                <a:tc>
                  <a:txBody>
                    <a:bodyPr/>
                    <a:lstStyle/>
                    <a:p>
                      <a:r>
                        <a:rPr lang="en-US" sz="1200" dirty="0">
                          <a:latin typeface="Helvetica" pitchFamily="2" charset="0"/>
                        </a:rPr>
                        <a:t>Recommended Salary Increase</a:t>
                      </a:r>
                    </a:p>
                  </a:txBody>
                  <a:tcPr/>
                </a:tc>
                <a:tc>
                  <a:txBody>
                    <a:bodyPr/>
                    <a:lstStyle/>
                    <a:p>
                      <a:r>
                        <a:rPr lang="en-US" sz="1200" dirty="0">
                          <a:latin typeface="Helvetica" pitchFamily="2" charset="0"/>
                        </a:rPr>
                        <a:t>7%</a:t>
                      </a:r>
                    </a:p>
                  </a:txBody>
                  <a:tcPr/>
                </a:tc>
                <a:extLst>
                  <a:ext uri="{0D108BD9-81ED-4DB2-BD59-A6C34878D82A}">
                    <a16:rowId xmlns:a16="http://schemas.microsoft.com/office/drawing/2014/main" val="4105237905"/>
                  </a:ext>
                </a:extLst>
              </a:tr>
              <a:tr h="370840">
                <a:tc>
                  <a:txBody>
                    <a:bodyPr/>
                    <a:lstStyle/>
                    <a:p>
                      <a:r>
                        <a:rPr lang="en-US" sz="1200" dirty="0">
                          <a:latin typeface="Helvetica" pitchFamily="2" charset="0"/>
                        </a:rPr>
                        <a:t>Notes/Manager Comments</a:t>
                      </a:r>
                    </a:p>
                  </a:txBody>
                  <a:tcPr/>
                </a:tc>
                <a:tc>
                  <a:txBody>
                    <a:bodyPr/>
                    <a:lstStyle/>
                    <a:p>
                      <a:r>
                        <a:rPr lang="en-US" sz="1200" dirty="0" err="1">
                          <a:latin typeface="Helvetica" pitchFamily="2" charset="0"/>
                        </a:rPr>
                        <a:t>Suqi</a:t>
                      </a:r>
                      <a:r>
                        <a:rPr lang="en-US" sz="1200" dirty="0">
                          <a:latin typeface="Helvetica" pitchFamily="2" charset="0"/>
                        </a:rPr>
                        <a:t> is able to deliver exceptional quality of work. She combines strong logical reasoning with an exceptional ability to learn and apply new knowledge. The main area that needs improvement is that she needs to take more initiatives and think out of the box to test new ideas. The separator project is well on track while the gel electrolyte project needs more attention. </a:t>
                      </a:r>
                    </a:p>
                  </a:txBody>
                  <a:tcPr/>
                </a:tc>
                <a:extLst>
                  <a:ext uri="{0D108BD9-81ED-4DB2-BD59-A6C34878D82A}">
                    <a16:rowId xmlns:a16="http://schemas.microsoft.com/office/drawing/2014/main" val="2921263721"/>
                  </a:ext>
                </a:extLst>
              </a:tr>
            </a:tbl>
          </a:graphicData>
        </a:graphic>
      </p:graphicFrame>
    </p:spTree>
    <p:extLst>
      <p:ext uri="{BB962C8B-B14F-4D97-AF65-F5344CB8AC3E}">
        <p14:creationId xmlns:p14="http://schemas.microsoft.com/office/powerpoint/2010/main" val="1245294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97DE5-C4A3-7BB1-7B0B-E41B26D41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DE8CE-D55C-D891-4082-F271E8B7C34E}"/>
              </a:ext>
            </a:extLst>
          </p:cNvPr>
          <p:cNvSpPr>
            <a:spLocks noGrp="1"/>
          </p:cNvSpPr>
          <p:nvPr>
            <p:ph type="title"/>
          </p:nvPr>
        </p:nvSpPr>
        <p:spPr>
          <a:xfrm>
            <a:off x="838200" y="71511"/>
            <a:ext cx="10515600" cy="826112"/>
          </a:xfrm>
        </p:spPr>
        <p:txBody>
          <a:bodyPr>
            <a:normAutofit/>
          </a:bodyPr>
          <a:lstStyle/>
          <a:p>
            <a:r>
              <a:rPr lang="en-US" sz="4000" dirty="0"/>
              <a:t>Detailed Assessment for </a:t>
            </a:r>
            <a:r>
              <a:rPr lang="en-US" sz="4000" dirty="0" err="1"/>
              <a:t>Suqi</a:t>
            </a:r>
            <a:endParaRPr lang="en-US" sz="4000" dirty="0"/>
          </a:p>
        </p:txBody>
      </p:sp>
      <p:sp>
        <p:nvSpPr>
          <p:cNvPr id="3" name="Content Placeholder 2">
            <a:extLst>
              <a:ext uri="{FF2B5EF4-FFF2-40B4-BE49-F238E27FC236}">
                <a16:creationId xmlns:a16="http://schemas.microsoft.com/office/drawing/2014/main" id="{A61295F7-A6BF-1BF1-E8FD-5B9385FC19D2}"/>
              </a:ext>
            </a:extLst>
          </p:cNvPr>
          <p:cNvSpPr>
            <a:spLocks noGrp="1"/>
          </p:cNvSpPr>
          <p:nvPr>
            <p:ph idx="1"/>
          </p:nvPr>
        </p:nvSpPr>
        <p:spPr>
          <a:xfrm>
            <a:off x="838200" y="897623"/>
            <a:ext cx="10515600" cy="5746459"/>
          </a:xfrm>
        </p:spPr>
        <p:txBody>
          <a:bodyPr>
            <a:normAutofit/>
          </a:bodyPr>
          <a:lstStyle/>
          <a:p>
            <a:pPr>
              <a:lnSpc>
                <a:spcPct val="100000"/>
              </a:lnSpc>
            </a:pPr>
            <a:r>
              <a:rPr lang="en-US" sz="1000" b="1" dirty="0">
                <a:solidFill>
                  <a:srgbClr val="FF0000"/>
                </a:solidFill>
              </a:rPr>
              <a:t>Quality score: 5</a:t>
            </a:r>
          </a:p>
          <a:p>
            <a:pPr lvl="1">
              <a:lnSpc>
                <a:spcPct val="100000"/>
              </a:lnSpc>
            </a:pPr>
            <a:r>
              <a:rPr lang="en-US" sz="900" b="1" u="sng" dirty="0"/>
              <a:t>Design of experiment: 5</a:t>
            </a:r>
            <a:r>
              <a:rPr lang="en-US" sz="900" dirty="0"/>
              <a:t>. Carefully considers every possibility</a:t>
            </a:r>
            <a:r>
              <a:rPr lang="en-US" sz="900" b="1" dirty="0"/>
              <a:t>.</a:t>
            </a:r>
          </a:p>
          <a:p>
            <a:pPr lvl="1">
              <a:lnSpc>
                <a:spcPct val="100000"/>
              </a:lnSpc>
            </a:pPr>
            <a:r>
              <a:rPr lang="en-US" sz="900" b="1" u="sng" dirty="0"/>
              <a:t>Experimental accuracy: 5</a:t>
            </a:r>
            <a:r>
              <a:rPr lang="en-US" sz="900" dirty="0"/>
              <a:t>. Very careful with the experiments set up and cell fabrication.</a:t>
            </a:r>
          </a:p>
          <a:p>
            <a:pPr lvl="1">
              <a:lnSpc>
                <a:spcPct val="100000"/>
              </a:lnSpc>
            </a:pPr>
            <a:r>
              <a:rPr lang="en-US" sz="900" b="1" u="sng" dirty="0"/>
              <a:t>Quality of data: 5</a:t>
            </a:r>
            <a:r>
              <a:rPr lang="en-US" sz="900" dirty="0"/>
              <a:t>. Very good quality. Once a bad cell is noticed, will immediately remake one.</a:t>
            </a:r>
          </a:p>
          <a:p>
            <a:pPr lvl="1">
              <a:lnSpc>
                <a:spcPct val="100000"/>
              </a:lnSpc>
            </a:pPr>
            <a:r>
              <a:rPr lang="en-US" sz="900" b="1" u="sng" dirty="0"/>
              <a:t>Success rate of experiments aligned with hypothesis: 5</a:t>
            </a:r>
            <a:r>
              <a:rPr lang="en-US" sz="900" dirty="0"/>
              <a:t>. Easily notices abnormal things and comes up with good hypothesis. Example: Found out the gel raw materials had different pHs and the one took longest to gel had the highest </a:t>
            </a:r>
            <a:r>
              <a:rPr lang="en-US" sz="900" dirty="0" err="1"/>
              <a:t>pH.</a:t>
            </a:r>
            <a:r>
              <a:rPr lang="en-US" sz="900" dirty="0"/>
              <a:t> Aligned well with her earlier hypothesis that different batches of raw materials contain residues/impurities that affected gelling.</a:t>
            </a:r>
          </a:p>
          <a:p>
            <a:pPr>
              <a:lnSpc>
                <a:spcPct val="100000"/>
              </a:lnSpc>
            </a:pPr>
            <a:r>
              <a:rPr lang="en-US" sz="1000" b="1" dirty="0">
                <a:solidFill>
                  <a:srgbClr val="FF0000"/>
                </a:solidFill>
              </a:rPr>
              <a:t>Productivity: 4.3</a:t>
            </a:r>
          </a:p>
          <a:p>
            <a:pPr lvl="1">
              <a:lnSpc>
                <a:spcPct val="100000"/>
              </a:lnSpc>
            </a:pPr>
            <a:r>
              <a:rPr lang="en-US" sz="900" b="1" u="sng" dirty="0"/>
              <a:t>No. of experiments completed: 5</a:t>
            </a:r>
            <a:r>
              <a:rPr lang="en-US" sz="900" dirty="0"/>
              <a:t>. 200+ cells made over the past year.</a:t>
            </a:r>
          </a:p>
          <a:p>
            <a:pPr lvl="1">
              <a:lnSpc>
                <a:spcPct val="100000"/>
              </a:lnSpc>
            </a:pPr>
            <a:r>
              <a:rPr lang="en-US" sz="900" b="1" u="sng" dirty="0"/>
              <a:t>Progress towards project milestones: 4</a:t>
            </a:r>
            <a:r>
              <a:rPr lang="en-US" sz="900" dirty="0"/>
              <a:t>. Good progress towards separators; gel development is delayed.</a:t>
            </a:r>
          </a:p>
          <a:p>
            <a:pPr lvl="1">
              <a:lnSpc>
                <a:spcPct val="100000"/>
              </a:lnSpc>
            </a:pPr>
            <a:r>
              <a:rPr lang="en-US" sz="900" b="1" u="sng" dirty="0"/>
              <a:t>Avoiding unnecessary experiments: 4</a:t>
            </a:r>
            <a:r>
              <a:rPr lang="en-US" sz="900" dirty="0"/>
              <a:t>. Sometimes makes to many tests to verify a single factor which delays the progress a bit. </a:t>
            </a:r>
          </a:p>
          <a:p>
            <a:pPr>
              <a:lnSpc>
                <a:spcPct val="100000"/>
              </a:lnSpc>
            </a:pPr>
            <a:r>
              <a:rPr lang="en-US" sz="1000" b="1" dirty="0">
                <a:solidFill>
                  <a:srgbClr val="FF0000"/>
                </a:solidFill>
              </a:rPr>
              <a:t>Reliability: 5</a:t>
            </a:r>
          </a:p>
          <a:p>
            <a:pPr lvl="1">
              <a:lnSpc>
                <a:spcPct val="100000"/>
              </a:lnSpc>
            </a:pPr>
            <a:r>
              <a:rPr lang="en-US" sz="900" b="1" u="sng" dirty="0"/>
              <a:t>Good lab practice: 5</a:t>
            </a:r>
            <a:r>
              <a:rPr lang="en-US" sz="900" dirty="0"/>
              <a:t>.</a:t>
            </a:r>
          </a:p>
          <a:p>
            <a:pPr lvl="1">
              <a:lnSpc>
                <a:spcPct val="100000"/>
              </a:lnSpc>
            </a:pPr>
            <a:r>
              <a:rPr lang="en-US" sz="900" b="1" u="sng" dirty="0"/>
              <a:t>Proper sample handling: 5</a:t>
            </a:r>
            <a:r>
              <a:rPr lang="en-US" sz="900" dirty="0"/>
              <a:t>.</a:t>
            </a:r>
          </a:p>
          <a:p>
            <a:pPr lvl="1">
              <a:lnSpc>
                <a:spcPct val="100000"/>
              </a:lnSpc>
            </a:pPr>
            <a:r>
              <a:rPr lang="en-US" sz="900" b="1" u="sng" dirty="0"/>
              <a:t>Documentation completeness: 5</a:t>
            </a:r>
            <a:r>
              <a:rPr lang="en-US" sz="900" dirty="0"/>
              <a:t>. Records every experimental detail and takes a lot of pictures. Very nicely titled presentations made and uploaded weekly for the meeting. Very easy for me to find her results whenever needed without having to ask her.</a:t>
            </a:r>
          </a:p>
          <a:p>
            <a:pPr lvl="1">
              <a:lnSpc>
                <a:spcPct val="100000"/>
              </a:lnSpc>
            </a:pPr>
            <a:r>
              <a:rPr lang="en-US" sz="900" b="1" u="sng" dirty="0"/>
              <a:t>Reproducibility of work: 5</a:t>
            </a:r>
            <a:r>
              <a:rPr lang="en-US" sz="900" dirty="0"/>
              <a:t>. Excellent. Even at a high discharge rate of C/2 for 40% utilization, the cell minimum voltages can overlap with each other. Never need to worry about her cell accuracy.</a:t>
            </a:r>
          </a:p>
          <a:p>
            <a:pPr lvl="1">
              <a:lnSpc>
                <a:spcPct val="100000"/>
              </a:lnSpc>
            </a:pPr>
            <a:r>
              <a:rPr lang="en-US" sz="900" b="1" u="sng" dirty="0"/>
              <a:t>Meeting deadlines: 5</a:t>
            </a:r>
            <a:r>
              <a:rPr lang="en-US" sz="900" dirty="0"/>
              <a:t>. Will work overtime to meet deadlines.</a:t>
            </a:r>
          </a:p>
          <a:p>
            <a:pPr>
              <a:lnSpc>
                <a:spcPct val="100000"/>
              </a:lnSpc>
            </a:pPr>
            <a:r>
              <a:rPr lang="en-US" sz="1000" b="1" dirty="0">
                <a:solidFill>
                  <a:srgbClr val="FF0000"/>
                </a:solidFill>
              </a:rPr>
              <a:t>Skill growth: 4.3</a:t>
            </a:r>
          </a:p>
          <a:p>
            <a:pPr lvl="1">
              <a:lnSpc>
                <a:spcPct val="100000"/>
              </a:lnSpc>
            </a:pPr>
            <a:r>
              <a:rPr lang="en-US" sz="900" b="1" u="sng" dirty="0"/>
              <a:t>Mastery of experimental techniques: 4</a:t>
            </a:r>
            <a:r>
              <a:rPr lang="en-US" sz="900" dirty="0"/>
              <a:t>. Good but can be improved. For example, may work with Shinju to better figure out the Rheometer.</a:t>
            </a:r>
          </a:p>
          <a:p>
            <a:pPr lvl="1">
              <a:lnSpc>
                <a:spcPct val="100000"/>
              </a:lnSpc>
            </a:pPr>
            <a:r>
              <a:rPr lang="en-US" sz="900" b="1" u="sng" dirty="0"/>
              <a:t>Deeper understanding of chemistry and materials science: 4</a:t>
            </a:r>
            <a:r>
              <a:rPr lang="en-US" sz="900" dirty="0"/>
              <a:t>. Learns very quickly. Calls me up whenever she has a question regarding weird cell data. Takes the opportunity of the weekly meeting to ask a lot of questions. </a:t>
            </a:r>
          </a:p>
          <a:p>
            <a:pPr lvl="1">
              <a:lnSpc>
                <a:spcPct val="100000"/>
              </a:lnSpc>
            </a:pPr>
            <a:r>
              <a:rPr lang="en-US" sz="900" b="1" u="sng" dirty="0"/>
              <a:t>Statistical analysis: 5</a:t>
            </a:r>
            <a:r>
              <a:rPr lang="en-US" sz="900" dirty="0"/>
              <a:t>. Makes repeats for each cell and does statistical analysis. </a:t>
            </a:r>
          </a:p>
          <a:p>
            <a:pPr>
              <a:lnSpc>
                <a:spcPct val="100000"/>
              </a:lnSpc>
            </a:pPr>
            <a:r>
              <a:rPr lang="en-US" sz="1000" b="1" dirty="0">
                <a:solidFill>
                  <a:srgbClr val="FF0000"/>
                </a:solidFill>
              </a:rPr>
              <a:t>Teamwork: 4.5</a:t>
            </a:r>
          </a:p>
          <a:p>
            <a:pPr lvl="1">
              <a:lnSpc>
                <a:spcPct val="100000"/>
              </a:lnSpc>
            </a:pPr>
            <a:r>
              <a:rPr lang="en-US" sz="900" b="1" u="sng" dirty="0"/>
              <a:t>Communicate science clearly to all departments: 4</a:t>
            </a:r>
            <a:r>
              <a:rPr lang="en-US" sz="900" dirty="0"/>
              <a:t>. Communication was slightly limited by language originally but improving.</a:t>
            </a:r>
          </a:p>
          <a:p>
            <a:pPr lvl="1">
              <a:lnSpc>
                <a:spcPct val="100000"/>
              </a:lnSpc>
            </a:pPr>
            <a:r>
              <a:rPr lang="en-US" sz="900" b="1" u="sng" dirty="0"/>
              <a:t>Report anomalies: 5</a:t>
            </a:r>
            <a:r>
              <a:rPr lang="en-US" sz="900" dirty="0"/>
              <a:t>. </a:t>
            </a:r>
          </a:p>
          <a:p>
            <a:pPr lvl="1">
              <a:lnSpc>
                <a:spcPct val="100000"/>
              </a:lnSpc>
            </a:pPr>
            <a:r>
              <a:rPr lang="en-US" sz="900" b="1" u="sng" dirty="0"/>
              <a:t>Safety: 5</a:t>
            </a:r>
          </a:p>
          <a:p>
            <a:pPr lvl="1">
              <a:lnSpc>
                <a:spcPct val="100000"/>
              </a:lnSpc>
            </a:pPr>
            <a:r>
              <a:rPr lang="en-US" sz="900" b="1" u="sng" dirty="0"/>
              <a:t>Participate in teamwork: 4</a:t>
            </a:r>
            <a:r>
              <a:rPr lang="en-US" sz="900" dirty="0"/>
              <a:t>. When first joined the company, received complaint twice regarding her taking time off while the team was doing a thorough lab cleaning. But it turned out to be miscommunication issues, not by intention. </a:t>
            </a:r>
            <a:endParaRPr lang="en-US" sz="1000" dirty="0"/>
          </a:p>
          <a:p>
            <a:pPr>
              <a:lnSpc>
                <a:spcPct val="100000"/>
              </a:lnSpc>
            </a:pPr>
            <a:endParaRPr lang="en-US" sz="1000" dirty="0"/>
          </a:p>
        </p:txBody>
      </p:sp>
    </p:spTree>
    <p:extLst>
      <p:ext uri="{BB962C8B-B14F-4D97-AF65-F5344CB8AC3E}">
        <p14:creationId xmlns:p14="http://schemas.microsoft.com/office/powerpoint/2010/main" val="1548557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598DD-920D-58E6-6397-B4AB310F7F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01C3D8-7597-4490-F9DB-1A8759088A4D}"/>
              </a:ext>
            </a:extLst>
          </p:cNvPr>
          <p:cNvSpPr>
            <a:spLocks noGrp="1"/>
          </p:cNvSpPr>
          <p:nvPr>
            <p:ph type="title"/>
          </p:nvPr>
        </p:nvSpPr>
        <p:spPr>
          <a:xfrm>
            <a:off x="0" y="0"/>
            <a:ext cx="10515600" cy="802407"/>
          </a:xfrm>
        </p:spPr>
        <p:txBody>
          <a:bodyPr>
            <a:normAutofit/>
          </a:bodyPr>
          <a:lstStyle/>
          <a:p>
            <a:r>
              <a:rPr lang="en-US" sz="3600" dirty="0">
                <a:latin typeface="Helvetica" pitchFamily="2" charset="0"/>
              </a:rPr>
              <a:t>Employee Assessment Table</a:t>
            </a:r>
          </a:p>
        </p:txBody>
      </p:sp>
      <p:graphicFrame>
        <p:nvGraphicFramePr>
          <p:cNvPr id="3" name="Table 2">
            <a:extLst>
              <a:ext uri="{FF2B5EF4-FFF2-40B4-BE49-F238E27FC236}">
                <a16:creationId xmlns:a16="http://schemas.microsoft.com/office/drawing/2014/main" id="{B65BE951-A839-92C9-89DD-6F9FACAE66A1}"/>
              </a:ext>
            </a:extLst>
          </p:cNvPr>
          <p:cNvGraphicFramePr>
            <a:graphicFrameLocks noGrp="1"/>
          </p:cNvGraphicFramePr>
          <p:nvPr/>
        </p:nvGraphicFramePr>
        <p:xfrm>
          <a:off x="1363211" y="1019703"/>
          <a:ext cx="9261445" cy="5694680"/>
        </p:xfrm>
        <a:graphic>
          <a:graphicData uri="http://schemas.openxmlformats.org/drawingml/2006/table">
            <a:tbl>
              <a:tblPr firstRow="1" bandRow="1">
                <a:tableStyleId>{5C22544A-7EE6-4342-B048-85BDC9FD1C3A}</a:tableStyleId>
              </a:tblPr>
              <a:tblGrid>
                <a:gridCol w="3778710">
                  <a:extLst>
                    <a:ext uri="{9D8B030D-6E8A-4147-A177-3AD203B41FA5}">
                      <a16:colId xmlns:a16="http://schemas.microsoft.com/office/drawing/2014/main" val="3865702953"/>
                    </a:ext>
                  </a:extLst>
                </a:gridCol>
                <a:gridCol w="5482735">
                  <a:extLst>
                    <a:ext uri="{9D8B030D-6E8A-4147-A177-3AD203B41FA5}">
                      <a16:colId xmlns:a16="http://schemas.microsoft.com/office/drawing/2014/main" val="3235133208"/>
                    </a:ext>
                  </a:extLst>
                </a:gridCol>
              </a:tblGrid>
              <a:tr h="370840">
                <a:tc>
                  <a:txBody>
                    <a:bodyPr/>
                    <a:lstStyle/>
                    <a:p>
                      <a:r>
                        <a:rPr lang="en-US" sz="1200" dirty="0">
                          <a:latin typeface="Helvetica" pitchFamily="2" charset="0"/>
                        </a:rPr>
                        <a:t>Details</a:t>
                      </a:r>
                    </a:p>
                  </a:txBody>
                  <a:tcPr/>
                </a:tc>
                <a:tc>
                  <a:txBody>
                    <a:bodyPr/>
                    <a:lstStyle/>
                    <a:p>
                      <a:r>
                        <a:rPr lang="en-US" sz="1200" dirty="0">
                          <a:latin typeface="Helvetica" pitchFamily="2" charset="0"/>
                        </a:rPr>
                        <a:t>Quantification and other notes</a:t>
                      </a:r>
                    </a:p>
                  </a:txBody>
                  <a:tcPr/>
                </a:tc>
                <a:extLst>
                  <a:ext uri="{0D108BD9-81ED-4DB2-BD59-A6C34878D82A}">
                    <a16:rowId xmlns:a16="http://schemas.microsoft.com/office/drawing/2014/main" val="271493292"/>
                  </a:ext>
                </a:extLst>
              </a:tr>
              <a:tr h="370840">
                <a:tc>
                  <a:txBody>
                    <a:bodyPr/>
                    <a:lstStyle/>
                    <a:p>
                      <a:r>
                        <a:rPr lang="en-US" sz="1200" dirty="0">
                          <a:latin typeface="Helvetica" pitchFamily="2" charset="0"/>
                        </a:rPr>
                        <a:t>Employee Name</a:t>
                      </a:r>
                    </a:p>
                  </a:txBody>
                  <a:tcPr/>
                </a:tc>
                <a:tc>
                  <a:txBody>
                    <a:bodyPr/>
                    <a:lstStyle/>
                    <a:p>
                      <a:r>
                        <a:rPr lang="en-US" sz="1200" dirty="0">
                          <a:latin typeface="Helvetica" pitchFamily="2" charset="0"/>
                        </a:rPr>
                        <a:t>Shinju Yang</a:t>
                      </a:r>
                    </a:p>
                  </a:txBody>
                  <a:tcPr/>
                </a:tc>
                <a:extLst>
                  <a:ext uri="{0D108BD9-81ED-4DB2-BD59-A6C34878D82A}">
                    <a16:rowId xmlns:a16="http://schemas.microsoft.com/office/drawing/2014/main" val="2372916192"/>
                  </a:ext>
                </a:extLst>
              </a:tr>
              <a:tr h="370840">
                <a:tc>
                  <a:txBody>
                    <a:bodyPr/>
                    <a:lstStyle/>
                    <a:p>
                      <a:r>
                        <a:rPr lang="en-US" sz="1200" dirty="0">
                          <a:latin typeface="Helvetica" pitchFamily="2" charset="0"/>
                        </a:rPr>
                        <a:t>Role</a:t>
                      </a:r>
                    </a:p>
                  </a:txBody>
                  <a:tcPr/>
                </a:tc>
                <a:tc>
                  <a:txBody>
                    <a:bodyPr/>
                    <a:lstStyle/>
                    <a:p>
                      <a:r>
                        <a:rPr lang="en-US" sz="1200" dirty="0">
                          <a:latin typeface="Helvetica" pitchFamily="2" charset="0"/>
                        </a:rPr>
                        <a:t>Senior Process Engineer II</a:t>
                      </a:r>
                    </a:p>
                  </a:txBody>
                  <a:tcPr/>
                </a:tc>
                <a:extLst>
                  <a:ext uri="{0D108BD9-81ED-4DB2-BD59-A6C34878D82A}">
                    <a16:rowId xmlns:a16="http://schemas.microsoft.com/office/drawing/2014/main" val="1258495537"/>
                  </a:ext>
                </a:extLst>
              </a:tr>
              <a:tr h="370840">
                <a:tc>
                  <a:txBody>
                    <a:bodyPr/>
                    <a:lstStyle/>
                    <a:p>
                      <a:r>
                        <a:rPr lang="en-US" sz="1200" dirty="0">
                          <a:latin typeface="Helvetica" pitchFamily="2" charset="0"/>
                        </a:rPr>
                        <a:t>Quality Score</a:t>
                      </a:r>
                    </a:p>
                  </a:txBody>
                  <a:tcPr/>
                </a:tc>
                <a:tc>
                  <a:txBody>
                    <a:bodyPr/>
                    <a:lstStyle/>
                    <a:p>
                      <a:r>
                        <a:rPr lang="en-US" sz="1200" dirty="0">
                          <a:latin typeface="Helvetica" pitchFamily="2" charset="0"/>
                        </a:rPr>
                        <a:t>3.8 (Good at predicting behavior and making adjustments based on experience and some science, needs to understand the science more and translate to actionable process settings)</a:t>
                      </a:r>
                    </a:p>
                  </a:txBody>
                  <a:tcPr/>
                </a:tc>
                <a:extLst>
                  <a:ext uri="{0D108BD9-81ED-4DB2-BD59-A6C34878D82A}">
                    <a16:rowId xmlns:a16="http://schemas.microsoft.com/office/drawing/2014/main" val="1982355638"/>
                  </a:ext>
                </a:extLst>
              </a:tr>
              <a:tr h="370840">
                <a:tc>
                  <a:txBody>
                    <a:bodyPr/>
                    <a:lstStyle/>
                    <a:p>
                      <a:r>
                        <a:rPr lang="en-US" sz="1200" dirty="0">
                          <a:latin typeface="Helvetica" pitchFamily="2" charset="0"/>
                        </a:rPr>
                        <a:t>Productivity Score</a:t>
                      </a:r>
                    </a:p>
                  </a:txBody>
                  <a:tcPr/>
                </a:tc>
                <a:tc>
                  <a:txBody>
                    <a:bodyPr/>
                    <a:lstStyle/>
                    <a:p>
                      <a:r>
                        <a:rPr lang="en-US" sz="1200" dirty="0">
                          <a:latin typeface="Helvetica" pitchFamily="2" charset="0"/>
                        </a:rPr>
                        <a:t>3.7 (Tried to run coating trials weekly or biweekly whenever the production team is available, also helped the battery team to coat electrodes at their request; Will send out a detailed plan to corresponding team members before each coating trial. Successfully reduced the anode mass variation and helped with anode recycling, which has a positive economic impact to the company.)</a:t>
                      </a:r>
                    </a:p>
                  </a:txBody>
                  <a:tcPr/>
                </a:tc>
                <a:extLst>
                  <a:ext uri="{0D108BD9-81ED-4DB2-BD59-A6C34878D82A}">
                    <a16:rowId xmlns:a16="http://schemas.microsoft.com/office/drawing/2014/main" val="1534594630"/>
                  </a:ext>
                </a:extLst>
              </a:tr>
              <a:tr h="370840">
                <a:tc>
                  <a:txBody>
                    <a:bodyPr/>
                    <a:lstStyle/>
                    <a:p>
                      <a:r>
                        <a:rPr lang="en-US" sz="1200" dirty="0">
                          <a:latin typeface="Helvetica" pitchFamily="2" charset="0"/>
                        </a:rPr>
                        <a:t>Attendance, Reliability, Documentation Score</a:t>
                      </a:r>
                    </a:p>
                  </a:txBody>
                  <a:tcPr/>
                </a:tc>
                <a:tc>
                  <a:txBody>
                    <a:bodyPr/>
                    <a:lstStyle/>
                    <a:p>
                      <a:r>
                        <a:rPr lang="en-US" sz="1200" dirty="0">
                          <a:latin typeface="Helvetica" pitchFamily="2" charset="0"/>
                        </a:rPr>
                        <a:t>3.5 (Good documentation of the coating runs, shares a presentation weekly; work needs more reproducibility and scientific accuracy, especially the rheometer measurements)</a:t>
                      </a:r>
                    </a:p>
                  </a:txBody>
                  <a:tcPr/>
                </a:tc>
                <a:extLst>
                  <a:ext uri="{0D108BD9-81ED-4DB2-BD59-A6C34878D82A}">
                    <a16:rowId xmlns:a16="http://schemas.microsoft.com/office/drawing/2014/main" val="681519438"/>
                  </a:ext>
                </a:extLst>
              </a:tr>
              <a:tr h="370840">
                <a:tc>
                  <a:txBody>
                    <a:bodyPr/>
                    <a:lstStyle/>
                    <a:p>
                      <a:r>
                        <a:rPr lang="en-US" sz="1200" dirty="0">
                          <a:latin typeface="Helvetica" pitchFamily="2" charset="0"/>
                        </a:rPr>
                        <a:t>Skill Score</a:t>
                      </a:r>
                    </a:p>
                  </a:txBody>
                  <a:tcPr/>
                </a:tc>
                <a:tc>
                  <a:txBody>
                    <a:bodyPr/>
                    <a:lstStyle/>
                    <a:p>
                      <a:r>
                        <a:rPr lang="en-US" sz="1200" dirty="0">
                          <a:latin typeface="Helvetica" pitchFamily="2" charset="0"/>
                        </a:rPr>
                        <a:t>3.5 (Needs deeper understanding of the equipment, including the manufacturing line equipment, and the rheometer)</a:t>
                      </a:r>
                    </a:p>
                  </a:txBody>
                  <a:tcPr/>
                </a:tc>
                <a:extLst>
                  <a:ext uri="{0D108BD9-81ED-4DB2-BD59-A6C34878D82A}">
                    <a16:rowId xmlns:a16="http://schemas.microsoft.com/office/drawing/2014/main" val="4104393452"/>
                  </a:ext>
                </a:extLst>
              </a:tr>
              <a:tr h="370840">
                <a:tc>
                  <a:txBody>
                    <a:bodyPr/>
                    <a:lstStyle/>
                    <a:p>
                      <a:r>
                        <a:rPr lang="en-US" sz="1200" dirty="0">
                          <a:latin typeface="Helvetica" pitchFamily="2" charset="0"/>
                        </a:rPr>
                        <a:t>Communication, Safety Score</a:t>
                      </a:r>
                    </a:p>
                  </a:txBody>
                  <a:tcPr/>
                </a:tc>
                <a:tc>
                  <a:txBody>
                    <a:bodyPr/>
                    <a:lstStyle/>
                    <a:p>
                      <a:r>
                        <a:rPr lang="en-US" sz="1200" dirty="0">
                          <a:latin typeface="Helvetica" pitchFamily="2" charset="0"/>
                        </a:rPr>
                        <a:t>4 (Collaborate well with different teams, takes leadership in weekly meetings with the Indian team, OK communications)</a:t>
                      </a:r>
                    </a:p>
                  </a:txBody>
                  <a:tcPr/>
                </a:tc>
                <a:extLst>
                  <a:ext uri="{0D108BD9-81ED-4DB2-BD59-A6C34878D82A}">
                    <a16:rowId xmlns:a16="http://schemas.microsoft.com/office/drawing/2014/main" val="2785447591"/>
                  </a:ext>
                </a:extLst>
              </a:tr>
              <a:tr h="370840">
                <a:tc>
                  <a:txBody>
                    <a:bodyPr/>
                    <a:lstStyle/>
                    <a:p>
                      <a:r>
                        <a:rPr lang="en-US" sz="1200" dirty="0">
                          <a:latin typeface="Helvetica" pitchFamily="2" charset="0"/>
                        </a:rPr>
                        <a:t>Weighted Final Score</a:t>
                      </a:r>
                    </a:p>
                  </a:txBody>
                  <a:tcPr/>
                </a:tc>
                <a:tc>
                  <a:txBody>
                    <a:bodyPr/>
                    <a:lstStyle/>
                    <a:p>
                      <a:r>
                        <a:rPr lang="en-US" sz="1200" dirty="0">
                          <a:latin typeface="Helvetica" pitchFamily="2" charset="0"/>
                        </a:rPr>
                        <a:t>3.7</a:t>
                      </a:r>
                    </a:p>
                  </a:txBody>
                  <a:tcPr/>
                </a:tc>
                <a:extLst>
                  <a:ext uri="{0D108BD9-81ED-4DB2-BD59-A6C34878D82A}">
                    <a16:rowId xmlns:a16="http://schemas.microsoft.com/office/drawing/2014/main" val="3456045347"/>
                  </a:ext>
                </a:extLst>
              </a:tr>
              <a:tr h="370840">
                <a:tc>
                  <a:txBody>
                    <a:bodyPr/>
                    <a:lstStyle/>
                    <a:p>
                      <a:r>
                        <a:rPr lang="en-US" sz="1200" dirty="0">
                          <a:latin typeface="Helvetica" pitchFamily="2" charset="0"/>
                        </a:rPr>
                        <a:t>Recommended Salary Increase</a:t>
                      </a:r>
                    </a:p>
                  </a:txBody>
                  <a:tcPr/>
                </a:tc>
                <a:tc>
                  <a:txBody>
                    <a:bodyPr/>
                    <a:lstStyle/>
                    <a:p>
                      <a:r>
                        <a:rPr lang="en-US" sz="1200" dirty="0">
                          <a:latin typeface="Helvetica" pitchFamily="2" charset="0"/>
                        </a:rPr>
                        <a:t>4%</a:t>
                      </a:r>
                    </a:p>
                  </a:txBody>
                  <a:tcPr/>
                </a:tc>
                <a:extLst>
                  <a:ext uri="{0D108BD9-81ED-4DB2-BD59-A6C34878D82A}">
                    <a16:rowId xmlns:a16="http://schemas.microsoft.com/office/drawing/2014/main" val="4105237905"/>
                  </a:ext>
                </a:extLst>
              </a:tr>
              <a:tr h="370840">
                <a:tc>
                  <a:txBody>
                    <a:bodyPr/>
                    <a:lstStyle/>
                    <a:p>
                      <a:r>
                        <a:rPr lang="en-US" sz="1200" dirty="0">
                          <a:latin typeface="Helvetica" pitchFamily="2" charset="0"/>
                        </a:rPr>
                        <a:t>Notes/Manager Comments</a:t>
                      </a:r>
                    </a:p>
                  </a:txBody>
                  <a:tcPr/>
                </a:tc>
                <a:tc>
                  <a:txBody>
                    <a:bodyPr/>
                    <a:lstStyle/>
                    <a:p>
                      <a:r>
                        <a:rPr lang="en-US" sz="1200" dirty="0">
                          <a:latin typeface="Helvetica" pitchFamily="2" charset="0"/>
                        </a:rPr>
                        <a:t>Shinju is not as technically strong considering his background and relies on experiences, but he has the potential to learn and grow quickly. Needs more effort on rheology and manufacturing process study.</a:t>
                      </a:r>
                    </a:p>
                  </a:txBody>
                  <a:tcPr/>
                </a:tc>
                <a:extLst>
                  <a:ext uri="{0D108BD9-81ED-4DB2-BD59-A6C34878D82A}">
                    <a16:rowId xmlns:a16="http://schemas.microsoft.com/office/drawing/2014/main" val="2921263721"/>
                  </a:ext>
                </a:extLst>
              </a:tr>
            </a:tbl>
          </a:graphicData>
        </a:graphic>
      </p:graphicFrame>
    </p:spTree>
    <p:extLst>
      <p:ext uri="{BB962C8B-B14F-4D97-AF65-F5344CB8AC3E}">
        <p14:creationId xmlns:p14="http://schemas.microsoft.com/office/powerpoint/2010/main" val="2874338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98603-E131-2CB4-5861-F35141851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976AAD-0B0F-0B17-0B30-6F69C0564EF5}"/>
              </a:ext>
            </a:extLst>
          </p:cNvPr>
          <p:cNvSpPr>
            <a:spLocks noGrp="1"/>
          </p:cNvSpPr>
          <p:nvPr>
            <p:ph type="title"/>
          </p:nvPr>
        </p:nvSpPr>
        <p:spPr>
          <a:xfrm>
            <a:off x="838200" y="71511"/>
            <a:ext cx="10515600" cy="826112"/>
          </a:xfrm>
        </p:spPr>
        <p:txBody>
          <a:bodyPr>
            <a:normAutofit/>
          </a:bodyPr>
          <a:lstStyle/>
          <a:p>
            <a:r>
              <a:rPr lang="en-US" sz="4000" dirty="0"/>
              <a:t>Detailed Assessment for Shinju</a:t>
            </a:r>
          </a:p>
        </p:txBody>
      </p:sp>
      <p:sp>
        <p:nvSpPr>
          <p:cNvPr id="3" name="Content Placeholder 2">
            <a:extLst>
              <a:ext uri="{FF2B5EF4-FFF2-40B4-BE49-F238E27FC236}">
                <a16:creationId xmlns:a16="http://schemas.microsoft.com/office/drawing/2014/main" id="{46069F0B-4DCF-C724-F0BF-23B7D716BDB7}"/>
              </a:ext>
            </a:extLst>
          </p:cNvPr>
          <p:cNvSpPr>
            <a:spLocks noGrp="1"/>
          </p:cNvSpPr>
          <p:nvPr>
            <p:ph idx="1"/>
          </p:nvPr>
        </p:nvSpPr>
        <p:spPr>
          <a:xfrm>
            <a:off x="838200" y="897623"/>
            <a:ext cx="10515600" cy="5746459"/>
          </a:xfrm>
        </p:spPr>
        <p:txBody>
          <a:bodyPr>
            <a:normAutofit/>
          </a:bodyPr>
          <a:lstStyle/>
          <a:p>
            <a:pPr>
              <a:lnSpc>
                <a:spcPct val="100000"/>
              </a:lnSpc>
            </a:pPr>
            <a:r>
              <a:rPr lang="en-US" sz="1000" b="1" dirty="0">
                <a:solidFill>
                  <a:srgbClr val="FF0000"/>
                </a:solidFill>
              </a:rPr>
              <a:t>Quality score: 3.8</a:t>
            </a:r>
          </a:p>
          <a:p>
            <a:pPr lvl="1">
              <a:lnSpc>
                <a:spcPct val="100000"/>
              </a:lnSpc>
            </a:pPr>
            <a:r>
              <a:rPr lang="en-US" sz="900" b="1" u="sng" dirty="0"/>
              <a:t>Ability to translate science to actionable process settings: 4</a:t>
            </a:r>
            <a:r>
              <a:rPr lang="en-US" sz="900" dirty="0"/>
              <a:t>. Found out PTFE fibrillated more at higher temperature in the literature and </a:t>
            </a:r>
            <a:r>
              <a:rPr lang="en-US" altLang="zh-CN" sz="900" dirty="0"/>
              <a:t>successfully </a:t>
            </a:r>
            <a:r>
              <a:rPr lang="en-US" sz="900" dirty="0"/>
              <a:t>applied that to actual settings and achieved good results.</a:t>
            </a:r>
          </a:p>
          <a:p>
            <a:pPr lvl="1">
              <a:lnSpc>
                <a:spcPct val="100000"/>
              </a:lnSpc>
            </a:pPr>
            <a:r>
              <a:rPr lang="en-US" sz="900" b="1" u="sng" dirty="0"/>
              <a:t>Developing and fitting scientific models: 3</a:t>
            </a:r>
            <a:r>
              <a:rPr lang="en-US" sz="900" dirty="0"/>
              <a:t>. Haven’t seem much evidence. </a:t>
            </a:r>
            <a:r>
              <a:rPr lang="en-US" altLang="zh-CN" sz="900" dirty="0"/>
              <a:t>Have shown progress in rent rheometer study in a short period. He has the potential to grow.</a:t>
            </a:r>
            <a:endParaRPr lang="en-US" sz="900" dirty="0"/>
          </a:p>
          <a:p>
            <a:pPr lvl="1">
              <a:lnSpc>
                <a:spcPct val="100000"/>
              </a:lnSpc>
            </a:pPr>
            <a:r>
              <a:rPr lang="en-US" sz="900" b="1" u="sng" dirty="0"/>
              <a:t>Understanding failure physics: 4</a:t>
            </a:r>
            <a:r>
              <a:rPr lang="en-US" sz="900" dirty="0"/>
              <a:t>. Usually can make reasonable hypothesis and correctly point out why a coating fails. </a:t>
            </a:r>
          </a:p>
          <a:p>
            <a:pPr lvl="1">
              <a:lnSpc>
                <a:spcPct val="100000"/>
              </a:lnSpc>
            </a:pPr>
            <a:r>
              <a:rPr lang="en-US" sz="900" b="1" u="sng" dirty="0"/>
              <a:t>Predicting behavior: 4</a:t>
            </a:r>
            <a:r>
              <a:rPr lang="en-US" sz="900" dirty="0"/>
              <a:t>. Have a good sense of the paste and the process, but more empirical rather than scientific. </a:t>
            </a:r>
          </a:p>
          <a:p>
            <a:pPr>
              <a:lnSpc>
                <a:spcPct val="100000"/>
              </a:lnSpc>
            </a:pPr>
            <a:r>
              <a:rPr lang="en-US" sz="1000" b="1" dirty="0">
                <a:solidFill>
                  <a:srgbClr val="FF0000"/>
                </a:solidFill>
              </a:rPr>
              <a:t>Productivity: 3.7</a:t>
            </a:r>
          </a:p>
          <a:p>
            <a:pPr lvl="1">
              <a:lnSpc>
                <a:spcPct val="100000"/>
              </a:lnSpc>
            </a:pPr>
            <a:r>
              <a:rPr lang="en-US" sz="900" b="1" u="sng" dirty="0"/>
              <a:t>Ability to do DOE: 4</a:t>
            </a:r>
            <a:r>
              <a:rPr lang="en-US" sz="900" dirty="0"/>
              <a:t>. Capable of developing DOE for testing different parameters; but hasn’t practiced a lot.</a:t>
            </a:r>
          </a:p>
          <a:p>
            <a:pPr lvl="1">
              <a:lnSpc>
                <a:spcPct val="100000"/>
              </a:lnSpc>
            </a:pPr>
            <a:r>
              <a:rPr lang="en-US" sz="900" b="1" u="sng" dirty="0"/>
              <a:t>Ability to design experiments to reveal mechanisms: 4</a:t>
            </a:r>
            <a:r>
              <a:rPr lang="en-US" sz="900" dirty="0"/>
              <a:t>. Capable. Has done experiments on figuring out the water separation issue.</a:t>
            </a:r>
          </a:p>
          <a:p>
            <a:pPr lvl="1">
              <a:lnSpc>
                <a:spcPct val="100000"/>
              </a:lnSpc>
            </a:pPr>
            <a:r>
              <a:rPr lang="en-US" sz="900" b="1" u="sng" dirty="0"/>
              <a:t>Number of experiments completed: 3</a:t>
            </a:r>
            <a:r>
              <a:rPr lang="en-US" sz="900" dirty="0"/>
              <a:t>. Need to conduct more lab tests when the manufacturing is not available.</a:t>
            </a:r>
          </a:p>
          <a:p>
            <a:pPr>
              <a:lnSpc>
                <a:spcPct val="100000"/>
              </a:lnSpc>
            </a:pPr>
            <a:r>
              <a:rPr lang="en-US" sz="1000" b="1" dirty="0">
                <a:solidFill>
                  <a:srgbClr val="FF0000"/>
                </a:solidFill>
              </a:rPr>
              <a:t>Reliability: 3.5</a:t>
            </a:r>
          </a:p>
          <a:p>
            <a:pPr lvl="1">
              <a:lnSpc>
                <a:spcPct val="100000"/>
              </a:lnSpc>
            </a:pPr>
            <a:r>
              <a:rPr lang="en-US" sz="900" b="1" u="sng" dirty="0"/>
              <a:t>Reports explaining physical principles: 3</a:t>
            </a:r>
            <a:r>
              <a:rPr lang="en-US" sz="900" dirty="0"/>
              <a:t>.</a:t>
            </a:r>
            <a:r>
              <a:rPr lang="zh-CN" altLang="en-US" sz="900" dirty="0"/>
              <a:t> </a:t>
            </a:r>
            <a:r>
              <a:rPr lang="en-US" altLang="zh-CN" sz="900" dirty="0"/>
              <a:t>Generates report explaining results, but</a:t>
            </a:r>
            <a:r>
              <a:rPr lang="zh-CN" altLang="en-US" sz="900" dirty="0"/>
              <a:t> </a:t>
            </a:r>
            <a:r>
              <a:rPr lang="en-US" altLang="zh-CN" sz="900" dirty="0"/>
              <a:t>not enough scientific discussion.</a:t>
            </a:r>
          </a:p>
          <a:p>
            <a:pPr lvl="1">
              <a:lnSpc>
                <a:spcPct val="100000"/>
              </a:lnSpc>
            </a:pPr>
            <a:r>
              <a:rPr lang="en-US" sz="900" b="1" u="sng" dirty="0"/>
              <a:t>Documentation completeness: 4</a:t>
            </a:r>
            <a:r>
              <a:rPr lang="en-US" sz="900" dirty="0"/>
              <a:t>. </a:t>
            </a:r>
            <a:r>
              <a:rPr lang="en-US" altLang="zh-CN" sz="900" dirty="0"/>
              <a:t>Makes</a:t>
            </a:r>
            <a:r>
              <a:rPr lang="zh-CN" altLang="en-US" sz="900" dirty="0"/>
              <a:t> </a:t>
            </a:r>
            <a:r>
              <a:rPr lang="en-US" altLang="zh-CN" sz="900" dirty="0"/>
              <a:t>a</a:t>
            </a:r>
            <a:r>
              <a:rPr lang="zh-CN" altLang="en-US" sz="900" dirty="0"/>
              <a:t> </a:t>
            </a:r>
            <a:r>
              <a:rPr lang="en-US" altLang="zh-CN" sz="900" dirty="0"/>
              <a:t>presentation</a:t>
            </a:r>
            <a:r>
              <a:rPr lang="zh-CN" altLang="en-US" sz="900" dirty="0"/>
              <a:t> </a:t>
            </a:r>
            <a:r>
              <a:rPr lang="en-US" altLang="zh-CN" sz="900" dirty="0"/>
              <a:t>weekly.</a:t>
            </a:r>
            <a:r>
              <a:rPr lang="zh-CN" altLang="en-US" sz="900" dirty="0"/>
              <a:t> </a:t>
            </a:r>
            <a:r>
              <a:rPr lang="en-US" altLang="zh-CN" sz="900" dirty="0"/>
              <a:t>Sends out detailed plans before each coating trial.</a:t>
            </a:r>
            <a:endParaRPr lang="en-US" sz="900" dirty="0"/>
          </a:p>
          <a:p>
            <a:pPr lvl="1">
              <a:lnSpc>
                <a:spcPct val="100000"/>
              </a:lnSpc>
            </a:pPr>
            <a:r>
              <a:rPr lang="en-US" sz="900" b="1" u="sng" dirty="0"/>
              <a:t>Reproducible experiments: 4</a:t>
            </a:r>
            <a:r>
              <a:rPr lang="en-US" sz="900" dirty="0"/>
              <a:t>. Was able to repeat the low temperature results across batches.</a:t>
            </a:r>
          </a:p>
          <a:p>
            <a:pPr lvl="1">
              <a:lnSpc>
                <a:spcPct val="100000"/>
              </a:lnSpc>
            </a:pPr>
            <a:r>
              <a:rPr lang="en-US" sz="900" b="1" u="sng" dirty="0"/>
              <a:t>Scientific accuracy: 3</a:t>
            </a:r>
            <a:r>
              <a:rPr lang="en-US" sz="900" dirty="0"/>
              <a:t>. OK so far, needs more evaluation.</a:t>
            </a:r>
            <a:endParaRPr lang="en-US" sz="900" b="1" u="sng" dirty="0"/>
          </a:p>
          <a:p>
            <a:pPr>
              <a:lnSpc>
                <a:spcPct val="100000"/>
              </a:lnSpc>
            </a:pPr>
            <a:r>
              <a:rPr lang="en-US" sz="1000" b="1" dirty="0">
                <a:solidFill>
                  <a:srgbClr val="FF0000"/>
                </a:solidFill>
              </a:rPr>
              <a:t>Skill growth: 3.5</a:t>
            </a:r>
          </a:p>
          <a:p>
            <a:pPr lvl="1">
              <a:lnSpc>
                <a:spcPct val="100000"/>
              </a:lnSpc>
            </a:pPr>
            <a:r>
              <a:rPr lang="en-US" sz="900" b="1" u="sng" dirty="0"/>
              <a:t>Creating new scientific models: 3</a:t>
            </a:r>
            <a:r>
              <a:rPr lang="en-US" sz="900" dirty="0"/>
              <a:t>. Haven’t seem much evidence.</a:t>
            </a:r>
            <a:r>
              <a:rPr lang="en-US" altLang="zh-CN" sz="900" dirty="0">
                <a:solidFill>
                  <a:srgbClr val="FF0000"/>
                </a:solidFill>
              </a:rPr>
              <a:t> </a:t>
            </a:r>
            <a:r>
              <a:rPr lang="en-US" altLang="zh-CN" sz="900" dirty="0"/>
              <a:t>Have shown progress in rent rheometer study in a short period. He has the potential to grow.</a:t>
            </a:r>
            <a:endParaRPr lang="en-US" sz="900" b="1" u="sng" dirty="0"/>
          </a:p>
          <a:p>
            <a:pPr lvl="1">
              <a:lnSpc>
                <a:spcPct val="100000"/>
              </a:lnSpc>
            </a:pPr>
            <a:r>
              <a:rPr lang="en-US" sz="900" b="1" u="sng" dirty="0"/>
              <a:t>Creating engineering plots and ability to control parameters: 3.</a:t>
            </a:r>
            <a:r>
              <a:rPr lang="en-US" sz="900" dirty="0"/>
              <a:t> Still in the progress of learning. Will see how it improves.</a:t>
            </a:r>
            <a:endParaRPr lang="en-US" sz="900" b="1" u="sng" dirty="0"/>
          </a:p>
          <a:p>
            <a:pPr lvl="1">
              <a:lnSpc>
                <a:spcPct val="100000"/>
              </a:lnSpc>
            </a:pPr>
            <a:r>
              <a:rPr lang="en-US" sz="900" b="1" u="sng" dirty="0"/>
              <a:t>Improvement of SOPs, teaching other engineers: 4</a:t>
            </a:r>
            <a:r>
              <a:rPr lang="en-US" sz="900" dirty="0"/>
              <a:t>. OK.</a:t>
            </a:r>
          </a:p>
          <a:p>
            <a:pPr lvl="1">
              <a:lnSpc>
                <a:spcPct val="100000"/>
              </a:lnSpc>
            </a:pPr>
            <a:r>
              <a:rPr lang="en-US" sz="900" b="1" u="sng" dirty="0"/>
              <a:t>Statistical analysis: 4</a:t>
            </a:r>
            <a:r>
              <a:rPr lang="en-US" sz="900" dirty="0"/>
              <a:t>. Started using box charts to analyze mass distributions.</a:t>
            </a:r>
          </a:p>
          <a:p>
            <a:pPr>
              <a:lnSpc>
                <a:spcPct val="100000"/>
              </a:lnSpc>
            </a:pPr>
            <a:r>
              <a:rPr lang="en-US" sz="1000" b="1" dirty="0">
                <a:solidFill>
                  <a:srgbClr val="FF0000"/>
                </a:solidFill>
              </a:rPr>
              <a:t>Teamwork: 4</a:t>
            </a:r>
          </a:p>
          <a:p>
            <a:pPr lvl="1">
              <a:lnSpc>
                <a:spcPct val="100000"/>
              </a:lnSpc>
            </a:pPr>
            <a:r>
              <a:rPr lang="en-US" sz="900" b="1" u="sng" dirty="0"/>
              <a:t>Communication skills: 4</a:t>
            </a:r>
            <a:r>
              <a:rPr lang="en-US" sz="900" dirty="0"/>
              <a:t>. Communication was slightly limited by language.</a:t>
            </a:r>
            <a:endParaRPr lang="en-US" sz="900" b="1" u="sng" dirty="0"/>
          </a:p>
          <a:p>
            <a:pPr lvl="1">
              <a:lnSpc>
                <a:spcPct val="100000"/>
              </a:lnSpc>
            </a:pPr>
            <a:r>
              <a:rPr lang="en-US" sz="900" b="1" u="sng" dirty="0"/>
              <a:t>Collaboration between all departments: 5</a:t>
            </a:r>
            <a:r>
              <a:rPr lang="en-US" sz="900" dirty="0"/>
              <a:t>. Collaborates with the production team smoothly to make coating trials and helps the battery team to coat at their request.</a:t>
            </a:r>
          </a:p>
          <a:p>
            <a:pPr lvl="1">
              <a:lnSpc>
                <a:spcPct val="100000"/>
              </a:lnSpc>
            </a:pPr>
            <a:r>
              <a:rPr lang="en-US" sz="900" b="1" u="sng" dirty="0"/>
              <a:t>Simplify complex ideas: 4</a:t>
            </a:r>
            <a:r>
              <a:rPr lang="en-US" sz="900" dirty="0"/>
              <a:t>. OK so far, needs more evaluation.</a:t>
            </a:r>
            <a:endParaRPr lang="en-US" sz="900" b="1" u="sng" dirty="0"/>
          </a:p>
          <a:p>
            <a:pPr lvl="1">
              <a:lnSpc>
                <a:spcPct val="100000"/>
              </a:lnSpc>
            </a:pPr>
            <a:endParaRPr lang="en-US" sz="900" b="1" u="sng" dirty="0"/>
          </a:p>
        </p:txBody>
      </p:sp>
    </p:spTree>
    <p:extLst>
      <p:ext uri="{BB962C8B-B14F-4D97-AF65-F5344CB8AC3E}">
        <p14:creationId xmlns:p14="http://schemas.microsoft.com/office/powerpoint/2010/main" val="4262301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AF536-7E37-EFB3-8F83-8486066C18CC}"/>
              </a:ext>
            </a:extLst>
          </p:cNvPr>
          <p:cNvSpPr>
            <a:spLocks noGrp="1"/>
          </p:cNvSpPr>
          <p:nvPr>
            <p:ph type="title"/>
          </p:nvPr>
        </p:nvSpPr>
        <p:spPr/>
        <p:txBody>
          <a:bodyPr/>
          <a:lstStyle/>
          <a:p>
            <a:r>
              <a:rPr lang="en-US" dirty="0"/>
              <a:t>QA/QC</a:t>
            </a:r>
          </a:p>
        </p:txBody>
      </p:sp>
      <p:sp>
        <p:nvSpPr>
          <p:cNvPr id="3" name="Content Placeholder 2">
            <a:extLst>
              <a:ext uri="{FF2B5EF4-FFF2-40B4-BE49-F238E27FC236}">
                <a16:creationId xmlns:a16="http://schemas.microsoft.com/office/drawing/2014/main" id="{0CA7FEBA-EA1C-0071-6DC7-8DD1630AE77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39581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5C623-A815-0841-851C-64A1DC28A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59312-306B-DCB6-2BF2-3D5CAB0BF6F3}"/>
              </a:ext>
            </a:extLst>
          </p:cNvPr>
          <p:cNvSpPr>
            <a:spLocks noGrp="1"/>
          </p:cNvSpPr>
          <p:nvPr>
            <p:ph type="title"/>
          </p:nvPr>
        </p:nvSpPr>
        <p:spPr>
          <a:xfrm>
            <a:off x="0" y="-69850"/>
            <a:ext cx="10515600" cy="802407"/>
          </a:xfrm>
        </p:spPr>
        <p:txBody>
          <a:bodyPr>
            <a:normAutofit/>
          </a:bodyPr>
          <a:lstStyle/>
          <a:p>
            <a:r>
              <a:rPr lang="en-US" sz="3200" dirty="0">
                <a:latin typeface="Helvetica" pitchFamily="2" charset="0"/>
              </a:rPr>
              <a:t>Employee Assessment Table – 2025 End of Year</a:t>
            </a:r>
          </a:p>
        </p:txBody>
      </p:sp>
      <p:graphicFrame>
        <p:nvGraphicFramePr>
          <p:cNvPr id="3" name="Table 2">
            <a:extLst>
              <a:ext uri="{FF2B5EF4-FFF2-40B4-BE49-F238E27FC236}">
                <a16:creationId xmlns:a16="http://schemas.microsoft.com/office/drawing/2014/main" id="{DE270D84-60BA-661F-48A3-98C9713CFA71}"/>
              </a:ext>
            </a:extLst>
          </p:cNvPr>
          <p:cNvGraphicFramePr>
            <a:graphicFrameLocks noGrp="1"/>
          </p:cNvGraphicFramePr>
          <p:nvPr/>
        </p:nvGraphicFramePr>
        <p:xfrm>
          <a:off x="0" y="572611"/>
          <a:ext cx="12192001" cy="6660813"/>
        </p:xfrm>
        <a:graphic>
          <a:graphicData uri="http://schemas.openxmlformats.org/drawingml/2006/table">
            <a:tbl>
              <a:tblPr firstRow="1" bandRow="1">
                <a:tableStyleId>{5C22544A-7EE6-4342-B048-85BDC9FD1C3A}</a:tableStyleId>
              </a:tblPr>
              <a:tblGrid>
                <a:gridCol w="3534874">
                  <a:extLst>
                    <a:ext uri="{9D8B030D-6E8A-4147-A177-3AD203B41FA5}">
                      <a16:colId xmlns:a16="http://schemas.microsoft.com/office/drawing/2014/main" val="3865702953"/>
                    </a:ext>
                  </a:extLst>
                </a:gridCol>
                <a:gridCol w="1587379">
                  <a:extLst>
                    <a:ext uri="{9D8B030D-6E8A-4147-A177-3AD203B41FA5}">
                      <a16:colId xmlns:a16="http://schemas.microsoft.com/office/drawing/2014/main" val="3235133208"/>
                    </a:ext>
                  </a:extLst>
                </a:gridCol>
                <a:gridCol w="3534874">
                  <a:extLst>
                    <a:ext uri="{9D8B030D-6E8A-4147-A177-3AD203B41FA5}">
                      <a16:colId xmlns:a16="http://schemas.microsoft.com/office/drawing/2014/main" val="630387096"/>
                    </a:ext>
                  </a:extLst>
                </a:gridCol>
                <a:gridCol w="3534874">
                  <a:extLst>
                    <a:ext uri="{9D8B030D-6E8A-4147-A177-3AD203B41FA5}">
                      <a16:colId xmlns:a16="http://schemas.microsoft.com/office/drawing/2014/main" val="1398374313"/>
                    </a:ext>
                  </a:extLst>
                </a:gridCol>
              </a:tblGrid>
              <a:tr h="259391">
                <a:tc>
                  <a:txBody>
                    <a:bodyPr/>
                    <a:lstStyle/>
                    <a:p>
                      <a:r>
                        <a:rPr lang="en-US" sz="1100" dirty="0">
                          <a:latin typeface="Helvetica" pitchFamily="2" charset="0"/>
                        </a:rPr>
                        <a:t>Details</a:t>
                      </a:r>
                    </a:p>
                  </a:txBody>
                  <a:tcPr/>
                </a:tc>
                <a:tc>
                  <a:txBody>
                    <a:bodyPr/>
                    <a:lstStyle/>
                    <a:p>
                      <a:r>
                        <a:rPr lang="en-US" sz="1100" dirty="0">
                          <a:latin typeface="Helvetica" pitchFamily="2" charset="0"/>
                        </a:rPr>
                        <a:t>Quantification</a:t>
                      </a:r>
                    </a:p>
                  </a:txBody>
                  <a:tcPr/>
                </a:tc>
                <a:tc>
                  <a:txBody>
                    <a:bodyPr/>
                    <a:lstStyle/>
                    <a:p>
                      <a:r>
                        <a:rPr lang="en-US" sz="1100" dirty="0">
                          <a:latin typeface="Helvetica" pitchFamily="2" charset="0"/>
                        </a:rPr>
                        <a:t>Reason for Score</a:t>
                      </a:r>
                    </a:p>
                  </a:txBody>
                  <a:tcPr/>
                </a:tc>
                <a:tc>
                  <a:txBody>
                    <a:bodyPr/>
                    <a:lstStyle/>
                    <a:p>
                      <a:r>
                        <a:rPr lang="en-US" sz="1100" dirty="0">
                          <a:latin typeface="Helvetica" pitchFamily="2" charset="0"/>
                        </a:rPr>
                        <a:t>Proof</a:t>
                      </a:r>
                    </a:p>
                  </a:txBody>
                  <a:tcPr/>
                </a:tc>
                <a:extLst>
                  <a:ext uri="{0D108BD9-81ED-4DB2-BD59-A6C34878D82A}">
                    <a16:rowId xmlns:a16="http://schemas.microsoft.com/office/drawing/2014/main" val="271493292"/>
                  </a:ext>
                </a:extLst>
              </a:tr>
              <a:tr h="259391">
                <a:tc>
                  <a:txBody>
                    <a:bodyPr/>
                    <a:lstStyle/>
                    <a:p>
                      <a:r>
                        <a:rPr lang="en-US" sz="1100" dirty="0">
                          <a:latin typeface="Helvetica" pitchFamily="2" charset="0"/>
                        </a:rPr>
                        <a:t>Employee Name</a:t>
                      </a:r>
                    </a:p>
                  </a:txBody>
                  <a:tcPr/>
                </a:tc>
                <a:tc>
                  <a:txBody>
                    <a:bodyPr/>
                    <a:lstStyle/>
                    <a:p>
                      <a:r>
                        <a:rPr lang="en-US" sz="1100" dirty="0">
                          <a:latin typeface="Helvetica" pitchFamily="2" charset="0"/>
                        </a:rPr>
                        <a:t>Josue Auguste</a:t>
                      </a:r>
                    </a:p>
                  </a:txBody>
                  <a:tcPr/>
                </a:tc>
                <a:tc>
                  <a:txBody>
                    <a:bodyPr/>
                    <a:lstStyle/>
                    <a:p>
                      <a:endParaRPr lang="en-US" sz="1100" dirty="0">
                        <a:latin typeface="Helvetica" pitchFamily="2" charset="0"/>
                      </a:endParaRPr>
                    </a:p>
                  </a:txBody>
                  <a:tcPr/>
                </a:tc>
                <a:tc>
                  <a:txBody>
                    <a:bodyPr/>
                    <a:lstStyle/>
                    <a:p>
                      <a:endParaRPr lang="en-US" sz="1100" dirty="0">
                        <a:latin typeface="Helvetica" pitchFamily="2" charset="0"/>
                      </a:endParaRPr>
                    </a:p>
                  </a:txBody>
                  <a:tcPr/>
                </a:tc>
                <a:extLst>
                  <a:ext uri="{0D108BD9-81ED-4DB2-BD59-A6C34878D82A}">
                    <a16:rowId xmlns:a16="http://schemas.microsoft.com/office/drawing/2014/main" val="2372916192"/>
                  </a:ext>
                </a:extLst>
              </a:tr>
              <a:tr h="259391">
                <a:tc>
                  <a:txBody>
                    <a:bodyPr/>
                    <a:lstStyle/>
                    <a:p>
                      <a:r>
                        <a:rPr lang="en-US" sz="1100" dirty="0">
                          <a:latin typeface="Helvetica" pitchFamily="2" charset="0"/>
                        </a:rPr>
                        <a:t>Role</a:t>
                      </a:r>
                    </a:p>
                  </a:txBody>
                  <a:tcPr/>
                </a:tc>
                <a:tc>
                  <a:txBody>
                    <a:bodyPr/>
                    <a:lstStyle/>
                    <a:p>
                      <a:r>
                        <a:rPr lang="en-US" sz="1100" dirty="0">
                          <a:latin typeface="Helvetica" pitchFamily="2" charset="0"/>
                        </a:rPr>
                        <a:t>Quality Engineer II</a:t>
                      </a:r>
                    </a:p>
                  </a:txBody>
                  <a:tcPr/>
                </a:tc>
                <a:tc>
                  <a:txBody>
                    <a:bodyPr/>
                    <a:lstStyle/>
                    <a:p>
                      <a:endParaRPr lang="en-US" sz="1100" dirty="0">
                        <a:latin typeface="Helvetica" pitchFamily="2" charset="0"/>
                      </a:endParaRPr>
                    </a:p>
                  </a:txBody>
                  <a:tcPr/>
                </a:tc>
                <a:tc>
                  <a:txBody>
                    <a:bodyPr/>
                    <a:lstStyle/>
                    <a:p>
                      <a:endParaRPr lang="en-US" sz="1100" dirty="0">
                        <a:latin typeface="Helvetica" pitchFamily="2" charset="0"/>
                      </a:endParaRPr>
                    </a:p>
                  </a:txBody>
                  <a:tcPr/>
                </a:tc>
                <a:extLst>
                  <a:ext uri="{0D108BD9-81ED-4DB2-BD59-A6C34878D82A}">
                    <a16:rowId xmlns:a16="http://schemas.microsoft.com/office/drawing/2014/main" val="1258495537"/>
                  </a:ext>
                </a:extLst>
              </a:tr>
              <a:tr h="985687">
                <a:tc>
                  <a:txBody>
                    <a:bodyPr/>
                    <a:lstStyle/>
                    <a:p>
                      <a:r>
                        <a:rPr lang="en-US" sz="1100" dirty="0">
                          <a:latin typeface="Helvetica" pitchFamily="2" charset="0"/>
                        </a:rPr>
                        <a:t>Quality Score</a:t>
                      </a:r>
                    </a:p>
                  </a:txBody>
                  <a:tcPr/>
                </a:tc>
                <a:tc>
                  <a:txBody>
                    <a:bodyPr/>
                    <a:lstStyle/>
                    <a:p>
                      <a:r>
                        <a:rPr lang="en-US" sz="1100" dirty="0">
                          <a:latin typeface="Helvetica" pitchFamily="2"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Quality in Actual Processes (4): Adheres to SOPs for dissection, production processes. Knows how to set up data collection and instrumentation for coating such as mass computer, moisture balance, QMS and Oryxes.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Quality in Presentations (3): Needs significant improvement. Shows dissection images and occasional testing data but does not always interpret the data in a meaningful way.</a:t>
                      </a:r>
                      <a:br>
                        <a:rPr lang="en-US" sz="1100" dirty="0">
                          <a:latin typeface="Helvetica" pitchFamily="2" charset="0"/>
                        </a:rPr>
                      </a:br>
                      <a:r>
                        <a:rPr lang="en-US" sz="1100" dirty="0">
                          <a:latin typeface="Helvetica" pitchFamily="2" charset="0"/>
                        </a:rPr>
                        <a:t>Quality in Analyzing Data (3): Needs improvement. Does not always correlate dissection data with statistical analysis to provide recommendations in cell design or production processes.</a:t>
                      </a:r>
                    </a:p>
                  </a:txBody>
                  <a:tcPr/>
                </a:tc>
                <a:tc>
                  <a:txBody>
                    <a:bodyPr/>
                    <a:lstStyle/>
                    <a:p>
                      <a:pPr marL="228600" indent="-228600">
                        <a:buAutoNum type="arabicParenR"/>
                      </a:pPr>
                      <a:r>
                        <a:rPr lang="en-US" sz="1100" dirty="0">
                          <a:latin typeface="Helvetica" pitchFamily="2" charset="0"/>
                          <a:hlinkClick r:id="rId3"/>
                        </a:rPr>
                        <a:t>https://docs.google.com/presentation/d/1kBb7MsE84YqZgjgXE7GV2CgD1d_q81SrTud0R1g79qs/edit?slide=id.g2d96744df0d_0_0#slide=id.g2d96744df0d_0_0</a:t>
                      </a:r>
                      <a:endParaRPr lang="en-US" sz="1100" dirty="0">
                        <a:latin typeface="Helvetica" pitchFamily="2" charset="0"/>
                      </a:endParaRPr>
                    </a:p>
                    <a:p>
                      <a:pPr marL="228600" indent="-228600">
                        <a:buAutoNum type="arabicParenR"/>
                      </a:pPr>
                      <a:r>
                        <a:rPr lang="en-US" sz="1100" dirty="0">
                          <a:latin typeface="Helvetica" pitchFamily="2" charset="0"/>
                        </a:rPr>
                        <a:t> </a:t>
                      </a:r>
                      <a:r>
                        <a:rPr lang="fr-FR" sz="1100" dirty="0">
                          <a:hlinkClick r:id="rId4"/>
                        </a:rPr>
                        <a:t>04.24.2025_Navajo Type </a:t>
                      </a:r>
                      <a:r>
                        <a:rPr lang="fr-FR" sz="1100" dirty="0" err="1">
                          <a:hlinkClick r:id="rId4"/>
                        </a:rPr>
                        <a:t>Cell</a:t>
                      </a:r>
                      <a:r>
                        <a:rPr lang="fr-FR" sz="1100" dirty="0">
                          <a:hlinkClick r:id="rId4"/>
                        </a:rPr>
                        <a:t> Dissection Comparison.pdf</a:t>
                      </a:r>
                      <a:endParaRPr lang="en-US" sz="1100" dirty="0">
                        <a:latin typeface="Helvetica" pitchFamily="2" charset="0"/>
                      </a:endParaRPr>
                    </a:p>
                    <a:p>
                      <a:r>
                        <a:rPr lang="en-US" sz="1100" dirty="0">
                          <a:latin typeface="Helvetica" pitchFamily="2" charset="0"/>
                        </a:rPr>
                        <a:t>3) </a:t>
                      </a:r>
                      <a:r>
                        <a:rPr lang="en-US" sz="1100" dirty="0">
                          <a:hlinkClick r:id="rId5"/>
                        </a:rPr>
                        <a:t>06.12.2025_Capacitance Tests on Rev 3 Cell_ Failure Analysis.pdf</a:t>
                      </a:r>
                      <a:endParaRPr lang="en-US" sz="1100" dirty="0">
                        <a:latin typeface="Helvetica"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4) </a:t>
                      </a:r>
                      <a:r>
                        <a:rPr lang="en-US" sz="1100" dirty="0">
                          <a:latin typeface="+mn-lt"/>
                          <a:hlinkClick r:id="rId6"/>
                        </a:rPr>
                        <a:t>https://docs.google.com/presentation/d/1bTiRUlY3EXtSG1iyTyA1g8UTd1xMfaqsBoG90Swgyzg/edit?usp=sharing</a:t>
                      </a:r>
                      <a:endParaRPr lang="en-US" sz="1100" dirty="0">
                        <a:latin typeface="+mn-lt"/>
                      </a:endParaRPr>
                    </a:p>
                    <a:p>
                      <a:r>
                        <a:rPr lang="en-US" sz="1100" dirty="0">
                          <a:latin typeface="Helvetica" pitchFamily="2" charset="0"/>
                        </a:rPr>
                        <a:t>5) </a:t>
                      </a:r>
                      <a:r>
                        <a:rPr lang="en-US" sz="1100" dirty="0">
                          <a:hlinkClick r:id="rId7"/>
                        </a:rPr>
                        <a:t>08.14.2025_Navajo_In-House_System_Failure_Analysis.pdf</a:t>
                      </a:r>
                      <a:endParaRPr lang="en-US" sz="1100" dirty="0"/>
                    </a:p>
                    <a:p>
                      <a:endParaRPr lang="en-US" sz="1100" dirty="0">
                        <a:latin typeface="Helvetica" pitchFamily="2" charset="0"/>
                      </a:endParaRPr>
                    </a:p>
                    <a:p>
                      <a:endParaRPr lang="en-US" sz="1100" dirty="0">
                        <a:latin typeface="Helvetica" pitchFamily="2" charset="0"/>
                      </a:endParaRPr>
                    </a:p>
                  </a:txBody>
                  <a:tcPr/>
                </a:tc>
                <a:extLst>
                  <a:ext uri="{0D108BD9-81ED-4DB2-BD59-A6C34878D82A}">
                    <a16:rowId xmlns:a16="http://schemas.microsoft.com/office/drawing/2014/main" val="1982355638"/>
                  </a:ext>
                </a:extLst>
              </a:tr>
              <a:tr h="985687">
                <a:tc>
                  <a:txBody>
                    <a:bodyPr/>
                    <a:lstStyle/>
                    <a:p>
                      <a:r>
                        <a:rPr lang="en-US" sz="1100" dirty="0">
                          <a:latin typeface="Helvetica" pitchFamily="2" charset="0"/>
                        </a:rPr>
                        <a:t>Productivity Score</a:t>
                      </a:r>
                    </a:p>
                  </a:txBody>
                  <a:tcPr/>
                </a:tc>
                <a:tc>
                  <a:txBody>
                    <a:bodyPr/>
                    <a:lstStyle/>
                    <a:p>
                      <a:r>
                        <a:rPr lang="en-US" sz="1100" dirty="0">
                          <a:latin typeface="Helvetica" pitchFamily="2" charset="0"/>
                        </a:rPr>
                        <a:t>4</a:t>
                      </a:r>
                    </a:p>
                  </a:txBody>
                  <a:tcPr/>
                </a:tc>
                <a:tc>
                  <a:txBody>
                    <a:bodyPr/>
                    <a:lstStyle/>
                    <a:p>
                      <a:r>
                        <a:rPr lang="en-US" sz="1100" dirty="0">
                          <a:latin typeface="Helvetica" pitchFamily="2" charset="0"/>
                        </a:rPr>
                        <a:t>Independently dissects cells for failure document progress and ongoing cell builds to understand failure mechanisms but needs to start recommending improvements to the cell design. Has also started dissections of previous projects such as Dairy Farm. Has dissected 82 cells this year across different cell types and builds which is good. Aim for 100+ cells next year. Very helpful during the manufacturing cleanup process as he documented the equipment for sale, cells/modules to be disposed of, and updated the Gantt chart. Helps with QMS and QA checklist duties during coating, QA checking of electrodes post-coating, and assisting with process QC such as </a:t>
                      </a:r>
                      <a:r>
                        <a:rPr lang="en-US" sz="1100" dirty="0" err="1">
                          <a:latin typeface="Helvetica" pitchFamily="2" charset="0"/>
                        </a:rPr>
                        <a:t>loadbank</a:t>
                      </a:r>
                      <a:r>
                        <a:rPr lang="en-US" sz="1100" dirty="0">
                          <a:latin typeface="Helvetica" pitchFamily="2" charset="0"/>
                        </a:rPr>
                        <a:t> testing.</a:t>
                      </a:r>
                    </a:p>
                  </a:txBody>
                  <a:tcPr/>
                </a:tc>
                <a:tc>
                  <a:txBody>
                    <a:bodyPr/>
                    <a:lstStyle/>
                    <a:p>
                      <a:r>
                        <a:rPr lang="en-US" sz="1100" dirty="0">
                          <a:latin typeface="Helvetica" pitchFamily="2" charset="0"/>
                        </a:rPr>
                        <a:t>1) Dissections have been recorded in the FileMaker Dissection Layouts. Here are exported logs of the dissections done:</a:t>
                      </a:r>
                    </a:p>
                    <a:p>
                      <a:r>
                        <a:rPr lang="en-US" sz="1100" dirty="0">
                          <a:latin typeface="Helvetica" pitchFamily="2" charset="0"/>
                          <a:hlinkClick r:id="rId8"/>
                        </a:rPr>
                        <a:t>https://docs.google.com/spreadsheets/d/1YxzhzQN8CVaY3GI6pwNj3TrC00yT9i9z/edit?usp=drive_link&amp;ouid=116355922641085686421&amp;rtpof=true&amp;sd=true</a:t>
                      </a:r>
                      <a:endParaRPr lang="en-US" sz="1100" dirty="0">
                        <a:latin typeface="Helvetica" pitchFamily="2" charset="0"/>
                      </a:endParaRPr>
                    </a:p>
                    <a:p>
                      <a:endParaRPr lang="en-US" sz="1100" dirty="0">
                        <a:latin typeface="Helvetica" pitchFamily="2" charset="0"/>
                      </a:endParaRPr>
                    </a:p>
                    <a:p>
                      <a:r>
                        <a:rPr lang="en-US" sz="1100" dirty="0">
                          <a:latin typeface="Helvetica" pitchFamily="2" charset="0"/>
                          <a:hlinkClick r:id="rId9"/>
                        </a:rPr>
                        <a:t>https://docs.google.com/spreadsheets/d/1Eq1o5WqxWyj3au5lb2zMulRVIMjxk4oN/edit?usp=drive_link&amp;ouid=116355922641085686421&amp;rtpof=true&amp;sd=true</a:t>
                      </a:r>
                      <a:endParaRPr lang="en-US" sz="1100" dirty="0">
                        <a:latin typeface="Helvetica" pitchFamily="2" charset="0"/>
                      </a:endParaRPr>
                    </a:p>
                    <a:p>
                      <a:endParaRPr lang="en-US" sz="1100" dirty="0">
                        <a:latin typeface="Helvetica" pitchFamily="2" charset="0"/>
                      </a:endParaRPr>
                    </a:p>
                    <a:p>
                      <a:r>
                        <a:rPr lang="en-US" sz="1100" dirty="0">
                          <a:latin typeface="Helvetica" pitchFamily="2" charset="0"/>
                        </a:rPr>
                        <a:t>Gantt Charts:</a:t>
                      </a:r>
                    </a:p>
                    <a:p>
                      <a:r>
                        <a:rPr lang="en-US" sz="1100" dirty="0">
                          <a:latin typeface="Helvetica" pitchFamily="2" charset="0"/>
                          <a:hlinkClick r:id="rId10"/>
                        </a:rPr>
                        <a:t>https://docs.google.com/spreadsheets/d/1vmFrpznwjKyti1sdSv8pZ2haNQ72EvHTI1vozmuFGvY/edit?gid=1115838130#gid=1115838130</a:t>
                      </a:r>
                      <a:endParaRPr lang="en-US" sz="1100" dirty="0">
                        <a:latin typeface="Helvetica" pitchFamily="2" charset="0"/>
                      </a:endParaRPr>
                    </a:p>
                    <a:p>
                      <a:endParaRPr lang="en-US" sz="1100" dirty="0">
                        <a:latin typeface="Helvetica" pitchFamily="2" charset="0"/>
                      </a:endParaRPr>
                    </a:p>
                    <a:p>
                      <a:r>
                        <a:rPr lang="en-US" sz="1100" dirty="0">
                          <a:hlinkClick r:id="rId11"/>
                        </a:rPr>
                        <a:t>Manufacturing Floor Material Disposal Gantt Chart.xlsx</a:t>
                      </a:r>
                      <a:endParaRPr lang="en-US" sz="1100" dirty="0">
                        <a:latin typeface="Helvetica" pitchFamily="2" charset="0"/>
                      </a:endParaRPr>
                    </a:p>
                    <a:p>
                      <a:endParaRPr lang="en-US" sz="1100" dirty="0">
                        <a:latin typeface="Helvetica" pitchFamily="2" charset="0"/>
                      </a:endParaRPr>
                    </a:p>
                  </a:txBody>
                  <a:tcPr/>
                </a:tc>
                <a:extLst>
                  <a:ext uri="{0D108BD9-81ED-4DB2-BD59-A6C34878D82A}">
                    <a16:rowId xmlns:a16="http://schemas.microsoft.com/office/drawing/2014/main" val="1534594630"/>
                  </a:ext>
                </a:extLst>
              </a:tr>
            </a:tbl>
          </a:graphicData>
        </a:graphic>
      </p:graphicFrame>
    </p:spTree>
    <p:extLst>
      <p:ext uri="{BB962C8B-B14F-4D97-AF65-F5344CB8AC3E}">
        <p14:creationId xmlns:p14="http://schemas.microsoft.com/office/powerpoint/2010/main" val="2573775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D452A-C342-B64C-8A03-7223A6AB26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10970-9066-37AC-8ACA-E2D5EE047144}"/>
              </a:ext>
            </a:extLst>
          </p:cNvPr>
          <p:cNvSpPr>
            <a:spLocks noGrp="1"/>
          </p:cNvSpPr>
          <p:nvPr>
            <p:ph type="title"/>
          </p:nvPr>
        </p:nvSpPr>
        <p:spPr>
          <a:xfrm>
            <a:off x="0" y="-69850"/>
            <a:ext cx="10515600" cy="802407"/>
          </a:xfrm>
        </p:spPr>
        <p:txBody>
          <a:bodyPr>
            <a:normAutofit/>
          </a:bodyPr>
          <a:lstStyle/>
          <a:p>
            <a:r>
              <a:rPr lang="en-US" sz="3200" dirty="0">
                <a:latin typeface="Helvetica" pitchFamily="2" charset="0"/>
              </a:rPr>
              <a:t>Employee Assessment Table – 2025 End of Year (cont.)</a:t>
            </a:r>
          </a:p>
        </p:txBody>
      </p:sp>
      <p:graphicFrame>
        <p:nvGraphicFramePr>
          <p:cNvPr id="3" name="Table 2">
            <a:extLst>
              <a:ext uri="{FF2B5EF4-FFF2-40B4-BE49-F238E27FC236}">
                <a16:creationId xmlns:a16="http://schemas.microsoft.com/office/drawing/2014/main" id="{7A8DCFAE-F0B9-259F-8226-7026F2A52A0A}"/>
              </a:ext>
            </a:extLst>
          </p:cNvPr>
          <p:cNvGraphicFramePr>
            <a:graphicFrameLocks noGrp="1"/>
          </p:cNvGraphicFramePr>
          <p:nvPr>
            <p:extLst>
              <p:ext uri="{D42A27DB-BD31-4B8C-83A1-F6EECF244321}">
                <p14:modId xmlns:p14="http://schemas.microsoft.com/office/powerpoint/2010/main" val="686632548"/>
              </p:ext>
            </p:extLst>
          </p:nvPr>
        </p:nvGraphicFramePr>
        <p:xfrm>
          <a:off x="0" y="572611"/>
          <a:ext cx="12192000" cy="6005493"/>
        </p:xfrm>
        <a:graphic>
          <a:graphicData uri="http://schemas.openxmlformats.org/drawingml/2006/table">
            <a:tbl>
              <a:tblPr firstRow="1" bandRow="1">
                <a:tableStyleId>{5C22544A-7EE6-4342-B048-85BDC9FD1C3A}</a:tableStyleId>
              </a:tblPr>
              <a:tblGrid>
                <a:gridCol w="3607323">
                  <a:extLst>
                    <a:ext uri="{9D8B030D-6E8A-4147-A177-3AD203B41FA5}">
                      <a16:colId xmlns:a16="http://schemas.microsoft.com/office/drawing/2014/main" val="3865702953"/>
                    </a:ext>
                  </a:extLst>
                </a:gridCol>
                <a:gridCol w="1370031">
                  <a:extLst>
                    <a:ext uri="{9D8B030D-6E8A-4147-A177-3AD203B41FA5}">
                      <a16:colId xmlns:a16="http://schemas.microsoft.com/office/drawing/2014/main" val="3235133208"/>
                    </a:ext>
                  </a:extLst>
                </a:gridCol>
                <a:gridCol w="3607323">
                  <a:extLst>
                    <a:ext uri="{9D8B030D-6E8A-4147-A177-3AD203B41FA5}">
                      <a16:colId xmlns:a16="http://schemas.microsoft.com/office/drawing/2014/main" val="630387096"/>
                    </a:ext>
                  </a:extLst>
                </a:gridCol>
                <a:gridCol w="3607323">
                  <a:extLst>
                    <a:ext uri="{9D8B030D-6E8A-4147-A177-3AD203B41FA5}">
                      <a16:colId xmlns:a16="http://schemas.microsoft.com/office/drawing/2014/main" val="1398374313"/>
                    </a:ext>
                  </a:extLst>
                </a:gridCol>
              </a:tblGrid>
              <a:tr h="259391">
                <a:tc>
                  <a:txBody>
                    <a:bodyPr/>
                    <a:lstStyle/>
                    <a:p>
                      <a:r>
                        <a:rPr lang="en-US" sz="1100" dirty="0">
                          <a:latin typeface="Helvetica" pitchFamily="2" charset="0"/>
                        </a:rPr>
                        <a:t>Details</a:t>
                      </a:r>
                    </a:p>
                  </a:txBody>
                  <a:tcPr/>
                </a:tc>
                <a:tc>
                  <a:txBody>
                    <a:bodyPr/>
                    <a:lstStyle/>
                    <a:p>
                      <a:r>
                        <a:rPr lang="en-US" sz="1100" dirty="0">
                          <a:latin typeface="Helvetica" pitchFamily="2" charset="0"/>
                        </a:rPr>
                        <a:t>Quantification</a:t>
                      </a:r>
                    </a:p>
                  </a:txBody>
                  <a:tcPr/>
                </a:tc>
                <a:tc>
                  <a:txBody>
                    <a:bodyPr/>
                    <a:lstStyle/>
                    <a:p>
                      <a:r>
                        <a:rPr lang="en-US" sz="1100" dirty="0">
                          <a:latin typeface="Helvetica" pitchFamily="2" charset="0"/>
                        </a:rPr>
                        <a:t>Reason for Score</a:t>
                      </a:r>
                    </a:p>
                  </a:txBody>
                  <a:tcPr/>
                </a:tc>
                <a:tc>
                  <a:txBody>
                    <a:bodyPr/>
                    <a:lstStyle/>
                    <a:p>
                      <a:r>
                        <a:rPr lang="en-US" sz="1100" dirty="0">
                          <a:latin typeface="Helvetica" pitchFamily="2" charset="0"/>
                        </a:rPr>
                        <a:t>Proof</a:t>
                      </a:r>
                    </a:p>
                  </a:txBody>
                  <a:tcPr/>
                </a:tc>
                <a:extLst>
                  <a:ext uri="{0D108BD9-81ED-4DB2-BD59-A6C34878D82A}">
                    <a16:rowId xmlns:a16="http://schemas.microsoft.com/office/drawing/2014/main" val="271493292"/>
                  </a:ext>
                </a:extLst>
              </a:tr>
              <a:tr h="622539">
                <a:tc>
                  <a:txBody>
                    <a:bodyPr/>
                    <a:lstStyle/>
                    <a:p>
                      <a:r>
                        <a:rPr lang="en-US" sz="1100" dirty="0">
                          <a:latin typeface="Helvetica" pitchFamily="2" charset="0"/>
                        </a:rPr>
                        <a:t>Attendance, Reliability, Documentation Score</a:t>
                      </a:r>
                    </a:p>
                  </a:txBody>
                  <a:tcPr/>
                </a:tc>
                <a:tc>
                  <a:txBody>
                    <a:bodyPr/>
                    <a:lstStyle/>
                    <a:p>
                      <a:r>
                        <a:rPr lang="en-US" sz="1100" dirty="0">
                          <a:latin typeface="Helvetica" pitchFamily="2" charset="0"/>
                        </a:rPr>
                        <a:t>3</a:t>
                      </a:r>
                    </a:p>
                  </a:txBody>
                  <a:tcPr/>
                </a:tc>
                <a:tc>
                  <a:txBody>
                    <a:bodyPr/>
                    <a:lstStyle/>
                    <a:p>
                      <a:r>
                        <a:rPr lang="en-US" sz="1100" dirty="0">
                          <a:latin typeface="Helvetica" pitchFamily="2" charset="0"/>
                        </a:rPr>
                        <a:t>Quality of documentation can be improved, especially in presentations. More statistical analysis and FMEA risk analyses necessary for failure analysis document.</a:t>
                      </a:r>
                    </a:p>
                    <a:p>
                      <a:r>
                        <a:rPr lang="en-US" sz="1100" dirty="0">
                          <a:latin typeface="Helvetica" pitchFamily="2" charset="0"/>
                        </a:rPr>
                        <a:t>Risk and benefits analysis document needs to be expanded on. There are points that he explains but does not prove with data or dissection analysis.</a:t>
                      </a:r>
                    </a:p>
                  </a:txBody>
                  <a:tcPr/>
                </a:tc>
                <a:tc>
                  <a:txBody>
                    <a:bodyPr/>
                    <a:lstStyle/>
                    <a:p>
                      <a:r>
                        <a:rPr lang="en-US" sz="1100" dirty="0">
                          <a:latin typeface="Helvetica" pitchFamily="2" charset="0"/>
                        </a:rPr>
                        <a:t>Failure Analysis Document:</a:t>
                      </a:r>
                    </a:p>
                    <a:p>
                      <a:r>
                        <a:rPr lang="en-US" sz="1100" dirty="0">
                          <a:latin typeface="Helvetica" pitchFamily="2" charset="0"/>
                          <a:hlinkClick r:id="rId3"/>
                        </a:rPr>
                        <a:t>https://docs.google.com/presentation/d/1kBb7MsE84YqZgjgXE7GV2CgD1d_q81SrTud0R1g79qs/edit?usp=drive_link</a:t>
                      </a:r>
                      <a:endParaRPr lang="en-US" sz="1100" dirty="0">
                        <a:latin typeface="Helvetica" pitchFamily="2" charset="0"/>
                      </a:endParaRPr>
                    </a:p>
                    <a:p>
                      <a:r>
                        <a:rPr lang="en-US" sz="1100" dirty="0">
                          <a:latin typeface="Helvetica" pitchFamily="2" charset="0"/>
                        </a:rPr>
                        <a:t>Risks and Benefits Analysis of Adopting Module Series Configurations:</a:t>
                      </a:r>
                    </a:p>
                    <a:p>
                      <a:r>
                        <a:rPr lang="en-US" sz="1100" dirty="0">
                          <a:latin typeface="Helvetica" pitchFamily="2" charset="0"/>
                          <a:hlinkClick r:id="rId4"/>
                        </a:rPr>
                        <a:t>https://docs.google.com/presentation/d/1QjHiu_EAhYvjhCcpcls_pMVFSqvpTVy-ngD52UA4mMA/edit?usp=drive_link</a:t>
                      </a:r>
                      <a:endParaRPr lang="en-US" sz="1100" dirty="0">
                        <a:latin typeface="Helvetica" pitchFamily="2" charset="0"/>
                      </a:endParaRPr>
                    </a:p>
                    <a:p>
                      <a:endParaRPr lang="en-US" sz="1100" dirty="0">
                        <a:latin typeface="Helvetica" pitchFamily="2" charset="0"/>
                      </a:endParaRPr>
                    </a:p>
                  </a:txBody>
                  <a:tcPr/>
                </a:tc>
                <a:extLst>
                  <a:ext uri="{0D108BD9-81ED-4DB2-BD59-A6C34878D82A}">
                    <a16:rowId xmlns:a16="http://schemas.microsoft.com/office/drawing/2014/main" val="120434434"/>
                  </a:ext>
                </a:extLst>
              </a:tr>
              <a:tr h="622539">
                <a:tc>
                  <a:txBody>
                    <a:bodyPr/>
                    <a:lstStyle/>
                    <a:p>
                      <a:r>
                        <a:rPr lang="en-US" sz="1100" dirty="0">
                          <a:latin typeface="Helvetica" pitchFamily="2" charset="0"/>
                        </a:rPr>
                        <a:t>Skill Score</a:t>
                      </a:r>
                    </a:p>
                  </a:txBody>
                  <a:tcPr/>
                </a:tc>
                <a:tc>
                  <a:txBody>
                    <a:bodyPr/>
                    <a:lstStyle/>
                    <a:p>
                      <a:r>
                        <a:rPr lang="en-US" sz="1100" dirty="0">
                          <a:latin typeface="Helvetica" pitchFamily="2" charset="0"/>
                        </a:rPr>
                        <a:t>3</a:t>
                      </a:r>
                    </a:p>
                  </a:txBody>
                  <a:tcPr/>
                </a:tc>
                <a:tc>
                  <a:txBody>
                    <a:bodyPr/>
                    <a:lstStyle/>
                    <a:p>
                      <a:r>
                        <a:rPr lang="en-US" sz="1100" dirty="0">
                          <a:latin typeface="Helvetica" pitchFamily="2" charset="0"/>
                        </a:rPr>
                        <a:t>Needs to take a more proactive approach in identifying root causes of defects through dissection analysis and experiments. Needs to complete Lean Six Sigma Certification by February 2026 and start implementing statistical techniques in his failure analysis.</a:t>
                      </a:r>
                    </a:p>
                  </a:txBody>
                  <a:tcPr/>
                </a:tc>
                <a:tc>
                  <a:txBody>
                    <a:bodyPr/>
                    <a:lstStyle/>
                    <a:p>
                      <a:endParaRPr lang="en-US" sz="1100" dirty="0">
                        <a:latin typeface="Helvetica" pitchFamily="2" charset="0"/>
                      </a:endParaRPr>
                    </a:p>
                  </a:txBody>
                  <a:tcPr/>
                </a:tc>
                <a:extLst>
                  <a:ext uri="{0D108BD9-81ED-4DB2-BD59-A6C34878D82A}">
                    <a16:rowId xmlns:a16="http://schemas.microsoft.com/office/drawing/2014/main" val="4104393452"/>
                  </a:ext>
                </a:extLst>
              </a:tr>
              <a:tr h="622539">
                <a:tc>
                  <a:txBody>
                    <a:bodyPr/>
                    <a:lstStyle/>
                    <a:p>
                      <a:r>
                        <a:rPr lang="en-US" sz="1100" dirty="0">
                          <a:latin typeface="Helvetica" pitchFamily="2" charset="0"/>
                        </a:rPr>
                        <a:t>Communication, Safety Score</a:t>
                      </a:r>
                    </a:p>
                  </a:txBody>
                  <a:tcPr/>
                </a:tc>
                <a:tc>
                  <a:txBody>
                    <a:bodyPr/>
                    <a:lstStyle/>
                    <a:p>
                      <a:r>
                        <a:rPr lang="en-US" sz="1100" dirty="0">
                          <a:latin typeface="Helvetica" pitchFamily="2" charset="0"/>
                        </a:rPr>
                        <a:t>4</a:t>
                      </a:r>
                    </a:p>
                  </a:txBody>
                  <a:tcPr/>
                </a:tc>
                <a:tc>
                  <a:txBody>
                    <a:bodyPr/>
                    <a:lstStyle/>
                    <a:p>
                      <a:r>
                        <a:rPr lang="en-US" sz="1100" dirty="0">
                          <a:latin typeface="Helvetica" pitchFamily="2" charset="0"/>
                        </a:rPr>
                        <a:t>Works well with cross functional teams and adheres to safety protocols during dissection and process QC. Needs to communicate failure mechanisms with production team and have clear actionable steps in future analyses.</a:t>
                      </a:r>
                    </a:p>
                  </a:txBody>
                  <a:tcPr/>
                </a:tc>
                <a:tc>
                  <a:txBody>
                    <a:bodyPr/>
                    <a:lstStyle/>
                    <a:p>
                      <a:endParaRPr lang="en-US" sz="1100" dirty="0">
                        <a:latin typeface="Helvetica" pitchFamily="2" charset="0"/>
                      </a:endParaRPr>
                    </a:p>
                  </a:txBody>
                  <a:tcPr/>
                </a:tc>
                <a:extLst>
                  <a:ext uri="{0D108BD9-81ED-4DB2-BD59-A6C34878D82A}">
                    <a16:rowId xmlns:a16="http://schemas.microsoft.com/office/drawing/2014/main" val="2785447591"/>
                  </a:ext>
                </a:extLst>
              </a:tr>
              <a:tr h="259391">
                <a:tc>
                  <a:txBody>
                    <a:bodyPr/>
                    <a:lstStyle/>
                    <a:p>
                      <a:r>
                        <a:rPr lang="en-US" sz="1100" dirty="0">
                          <a:latin typeface="Helvetica" pitchFamily="2" charset="0"/>
                        </a:rPr>
                        <a:t>Weighted Final Score</a:t>
                      </a:r>
                    </a:p>
                  </a:txBody>
                  <a:tcPr/>
                </a:tc>
                <a:tc>
                  <a:txBody>
                    <a:bodyPr/>
                    <a:lstStyle/>
                    <a:p>
                      <a:r>
                        <a:rPr lang="en-US" sz="1100" dirty="0">
                          <a:latin typeface="Helvetica" pitchFamily="2" charset="0"/>
                        </a:rPr>
                        <a:t>3.35</a:t>
                      </a:r>
                    </a:p>
                  </a:txBody>
                  <a:tcPr/>
                </a:tc>
                <a:tc>
                  <a:txBody>
                    <a:bodyPr/>
                    <a:lstStyle/>
                    <a:p>
                      <a:endParaRPr lang="en-US" sz="1100" dirty="0">
                        <a:latin typeface="Helvetica" pitchFamily="2" charset="0"/>
                      </a:endParaRPr>
                    </a:p>
                  </a:txBody>
                  <a:tcPr/>
                </a:tc>
                <a:tc>
                  <a:txBody>
                    <a:bodyPr/>
                    <a:lstStyle/>
                    <a:p>
                      <a:endParaRPr lang="en-US" sz="1100" dirty="0">
                        <a:latin typeface="Helvetica" pitchFamily="2" charset="0"/>
                      </a:endParaRPr>
                    </a:p>
                  </a:txBody>
                  <a:tcPr/>
                </a:tc>
                <a:extLst>
                  <a:ext uri="{0D108BD9-81ED-4DB2-BD59-A6C34878D82A}">
                    <a16:rowId xmlns:a16="http://schemas.microsoft.com/office/drawing/2014/main" val="3456045347"/>
                  </a:ext>
                </a:extLst>
              </a:tr>
              <a:tr h="259391">
                <a:tc>
                  <a:txBody>
                    <a:bodyPr/>
                    <a:lstStyle/>
                    <a:p>
                      <a:r>
                        <a:rPr lang="en-US" sz="1100" dirty="0">
                          <a:latin typeface="Helvetica" pitchFamily="2" charset="0"/>
                        </a:rPr>
                        <a:t>Recommended Salary Increase</a:t>
                      </a:r>
                    </a:p>
                  </a:txBody>
                  <a:tcPr/>
                </a:tc>
                <a:tc>
                  <a:txBody>
                    <a:bodyPr/>
                    <a:lstStyle/>
                    <a:p>
                      <a:r>
                        <a:rPr lang="en-US" sz="1100" dirty="0">
                          <a:latin typeface="Helvetica" pitchFamily="2" charset="0"/>
                        </a:rPr>
                        <a:t>3%</a:t>
                      </a:r>
                    </a:p>
                  </a:txBody>
                  <a:tcPr/>
                </a:tc>
                <a:tc>
                  <a:txBody>
                    <a:bodyPr/>
                    <a:lstStyle/>
                    <a:p>
                      <a:endParaRPr lang="en-US" sz="1100" dirty="0">
                        <a:latin typeface="Helvetica" pitchFamily="2" charset="0"/>
                      </a:endParaRPr>
                    </a:p>
                  </a:txBody>
                  <a:tcPr/>
                </a:tc>
                <a:tc>
                  <a:txBody>
                    <a:bodyPr/>
                    <a:lstStyle/>
                    <a:p>
                      <a:endParaRPr lang="en-US" sz="1100" dirty="0">
                        <a:latin typeface="Helvetica" pitchFamily="2" charset="0"/>
                      </a:endParaRPr>
                    </a:p>
                  </a:txBody>
                  <a:tcPr/>
                </a:tc>
                <a:extLst>
                  <a:ext uri="{0D108BD9-81ED-4DB2-BD59-A6C34878D82A}">
                    <a16:rowId xmlns:a16="http://schemas.microsoft.com/office/drawing/2014/main" val="4105237905"/>
                  </a:ext>
                </a:extLst>
              </a:tr>
              <a:tr h="1092296">
                <a:tc>
                  <a:txBody>
                    <a:bodyPr/>
                    <a:lstStyle/>
                    <a:p>
                      <a:r>
                        <a:rPr lang="en-US" sz="1100" dirty="0">
                          <a:latin typeface="Helvetica" pitchFamily="2" charset="0"/>
                        </a:rPr>
                        <a:t>Notes/Manager Comments</a:t>
                      </a:r>
                    </a:p>
                  </a:txBody>
                  <a:tcPr/>
                </a:tc>
                <a:tc>
                  <a:txBody>
                    <a:bodyPr/>
                    <a:lstStyle/>
                    <a:p>
                      <a:endParaRPr lang="en-US" sz="1100" dirty="0">
                        <a:latin typeface="Helvetica"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Josue needs to improve in his failure analysis through dissection and determining root causes. Presentation and documentation skills need improvement and clear recommendations for future cell designs. Quality of work needs to significantly improve. Through Six Sigma he is learning more statistical analysis techniques. I expect him to finish his certification and achieve black belt by February 2026 and start implementing what he learned into his failure analysis.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latin typeface="Helvetica" pitchFamily="2" charset="0"/>
                      </a:endParaRPr>
                    </a:p>
                  </a:txBody>
                  <a:tcPr/>
                </a:tc>
                <a:extLst>
                  <a:ext uri="{0D108BD9-81ED-4DB2-BD59-A6C34878D82A}">
                    <a16:rowId xmlns:a16="http://schemas.microsoft.com/office/drawing/2014/main" val="2921263721"/>
                  </a:ext>
                </a:extLst>
              </a:tr>
            </a:tbl>
          </a:graphicData>
        </a:graphic>
      </p:graphicFrame>
    </p:spTree>
    <p:extLst>
      <p:ext uri="{BB962C8B-B14F-4D97-AF65-F5344CB8AC3E}">
        <p14:creationId xmlns:p14="http://schemas.microsoft.com/office/powerpoint/2010/main" val="3770467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E9BB9-7D72-A4CA-DD75-545C623BA661}"/>
              </a:ext>
            </a:extLst>
          </p:cNvPr>
          <p:cNvSpPr>
            <a:spLocks noGrp="1"/>
          </p:cNvSpPr>
          <p:nvPr>
            <p:ph type="title"/>
          </p:nvPr>
        </p:nvSpPr>
        <p:spPr/>
        <p:txBody>
          <a:bodyPr/>
          <a:lstStyle/>
          <a:p>
            <a:r>
              <a:rPr lang="en-US" dirty="0"/>
              <a:t>Batt Dev</a:t>
            </a:r>
          </a:p>
        </p:txBody>
      </p:sp>
      <p:sp>
        <p:nvSpPr>
          <p:cNvPr id="3" name="Content Placeholder 2">
            <a:extLst>
              <a:ext uri="{FF2B5EF4-FFF2-40B4-BE49-F238E27FC236}">
                <a16:creationId xmlns:a16="http://schemas.microsoft.com/office/drawing/2014/main" id="{B1505300-B95B-FBD4-ACC6-24A853904A9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30651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3913f5e25b6_0_0"/>
          <p:cNvSpPr txBox="1">
            <a:spLocks noGrp="1"/>
          </p:cNvSpPr>
          <p:nvPr>
            <p:ph type="title"/>
          </p:nvPr>
        </p:nvSpPr>
        <p:spPr>
          <a:xfrm>
            <a:off x="91125" y="-21924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Battery Development November 2025</a:t>
            </a:r>
            <a:endParaRPr/>
          </a:p>
        </p:txBody>
      </p:sp>
      <p:graphicFrame>
        <p:nvGraphicFramePr>
          <p:cNvPr id="182" name="Google Shape;182;g3913f5e25b6_0_0"/>
          <p:cNvGraphicFramePr/>
          <p:nvPr/>
        </p:nvGraphicFramePr>
        <p:xfrm>
          <a:off x="250975" y="831902"/>
          <a:ext cx="11737175" cy="6087660"/>
        </p:xfrm>
        <a:graphic>
          <a:graphicData uri="http://schemas.openxmlformats.org/drawingml/2006/table">
            <a:tbl>
              <a:tblPr firstRow="1" firstCol="1" bandRow="1">
                <a:noFill/>
              </a:tblPr>
              <a:tblGrid>
                <a:gridCol w="2123850">
                  <a:extLst>
                    <a:ext uri="{9D8B030D-6E8A-4147-A177-3AD203B41FA5}">
                      <a16:colId xmlns:a16="http://schemas.microsoft.com/office/drawing/2014/main" val="20000"/>
                    </a:ext>
                  </a:extLst>
                </a:gridCol>
                <a:gridCol w="4579675">
                  <a:extLst>
                    <a:ext uri="{9D8B030D-6E8A-4147-A177-3AD203B41FA5}">
                      <a16:colId xmlns:a16="http://schemas.microsoft.com/office/drawing/2014/main" val="20001"/>
                    </a:ext>
                  </a:extLst>
                </a:gridCol>
                <a:gridCol w="5033650">
                  <a:extLst>
                    <a:ext uri="{9D8B030D-6E8A-4147-A177-3AD203B41FA5}">
                      <a16:colId xmlns:a16="http://schemas.microsoft.com/office/drawing/2014/main" val="20002"/>
                    </a:ext>
                  </a:extLst>
                </a:gridCol>
              </a:tblGrid>
              <a:tr h="588525">
                <a:tc>
                  <a:txBody>
                    <a:bodyPr/>
                    <a:lstStyle/>
                    <a:p>
                      <a:pPr marL="0" marR="0" lvl="0" indent="0" algn="l" rtl="0">
                        <a:lnSpc>
                          <a:spcPct val="115000"/>
                        </a:lnSpc>
                        <a:spcBef>
                          <a:spcPts val="0"/>
                        </a:spcBef>
                        <a:spcAft>
                          <a:spcPts val="0"/>
                        </a:spcAft>
                        <a:buClr>
                          <a:schemeClr val="dk1"/>
                        </a:buClr>
                        <a:buSzPts val="1400"/>
                        <a:buFont typeface="Arial"/>
                        <a:buNone/>
                      </a:pPr>
                      <a:r>
                        <a:rPr lang="en-US" sz="1200"/>
                        <a:t>Details</a:t>
                      </a:r>
                      <a:endParaRPr sz="1200">
                        <a:latin typeface="Arial"/>
                        <a:ea typeface="Arial"/>
                        <a:cs typeface="Arial"/>
                        <a:sym typeface="Arial"/>
                      </a:endParaRPr>
                    </a:p>
                  </a:txBody>
                  <a:tcPr marL="58100" marR="58100" marT="0" marB="0"/>
                </a:tc>
                <a:tc>
                  <a:txBody>
                    <a:bodyPr/>
                    <a:lstStyle/>
                    <a:p>
                      <a:pPr marL="0" marR="0" lvl="0" indent="0" algn="l" rtl="0">
                        <a:lnSpc>
                          <a:spcPct val="115000"/>
                        </a:lnSpc>
                        <a:spcBef>
                          <a:spcPts val="0"/>
                        </a:spcBef>
                        <a:spcAft>
                          <a:spcPts val="0"/>
                        </a:spcAft>
                        <a:buClr>
                          <a:schemeClr val="dk1"/>
                        </a:buClr>
                        <a:buSzPts val="1400"/>
                        <a:buFont typeface="Arial"/>
                        <a:buNone/>
                      </a:pPr>
                      <a:r>
                        <a:rPr lang="en-US" sz="1200"/>
                        <a:t> Performance and Notes </a:t>
                      </a:r>
                      <a:endParaRPr sz="1200">
                        <a:latin typeface="Arial"/>
                        <a:ea typeface="Arial"/>
                        <a:cs typeface="Arial"/>
                        <a:sym typeface="Arial"/>
                      </a:endParaRPr>
                    </a:p>
                  </a:txBody>
                  <a:tcPr marL="58100" marR="58100" marT="0" marB="0"/>
                </a:tc>
                <a:tc>
                  <a:txBody>
                    <a:bodyPr/>
                    <a:lstStyle/>
                    <a:p>
                      <a:pPr marL="0" marR="0" lvl="0" indent="0" algn="l" rtl="0">
                        <a:lnSpc>
                          <a:spcPct val="115000"/>
                        </a:lnSpc>
                        <a:spcBef>
                          <a:spcPts val="0"/>
                        </a:spcBef>
                        <a:spcAft>
                          <a:spcPts val="0"/>
                        </a:spcAft>
                        <a:buClr>
                          <a:schemeClr val="dk1"/>
                        </a:buClr>
                        <a:buSzPts val="1400"/>
                        <a:buFont typeface="Arial"/>
                        <a:buNone/>
                      </a:pPr>
                      <a:r>
                        <a:rPr lang="en-US" sz="1200"/>
                        <a:t>Proof and Notes</a:t>
                      </a:r>
                      <a:endParaRPr sz="1200">
                        <a:latin typeface="Arial"/>
                        <a:ea typeface="Arial"/>
                        <a:cs typeface="Arial"/>
                        <a:sym typeface="Arial"/>
                      </a:endParaRPr>
                    </a:p>
                    <a:p>
                      <a:pPr marL="0" marR="0" lvl="0" indent="0" algn="l" rtl="0">
                        <a:lnSpc>
                          <a:spcPct val="115000"/>
                        </a:lnSpc>
                        <a:spcBef>
                          <a:spcPts val="800"/>
                        </a:spcBef>
                        <a:spcAft>
                          <a:spcPts val="0"/>
                        </a:spcAft>
                        <a:buClr>
                          <a:schemeClr val="dk1"/>
                        </a:buClr>
                        <a:buSzPts val="1400"/>
                        <a:buFont typeface="Arial"/>
                        <a:buNone/>
                      </a:pPr>
                      <a:endParaRPr sz="1200">
                        <a:latin typeface="Arial"/>
                        <a:ea typeface="Arial"/>
                        <a:cs typeface="Arial"/>
                        <a:sym typeface="Arial"/>
                      </a:endParaRPr>
                    </a:p>
                  </a:txBody>
                  <a:tcPr marL="58100" marR="58100" marT="0" marB="0"/>
                </a:tc>
                <a:extLst>
                  <a:ext uri="{0D108BD9-81ED-4DB2-BD59-A6C34878D82A}">
                    <a16:rowId xmlns:a16="http://schemas.microsoft.com/office/drawing/2014/main" val="10000"/>
                  </a:ext>
                </a:extLst>
              </a:tr>
              <a:tr h="253800">
                <a:tc>
                  <a:txBody>
                    <a:bodyPr/>
                    <a:lstStyle/>
                    <a:p>
                      <a:pPr marL="0" marR="0" lvl="0" indent="0" algn="l" rtl="0">
                        <a:lnSpc>
                          <a:spcPct val="115000"/>
                        </a:lnSpc>
                        <a:spcBef>
                          <a:spcPts val="0"/>
                        </a:spcBef>
                        <a:spcAft>
                          <a:spcPts val="0"/>
                        </a:spcAft>
                        <a:buClr>
                          <a:schemeClr val="dk1"/>
                        </a:buClr>
                        <a:buSzPts val="1400"/>
                        <a:buFont typeface="Arial"/>
                        <a:buNone/>
                      </a:pPr>
                      <a:r>
                        <a:rPr lang="en-US" sz="1200"/>
                        <a:t>Employee Name</a:t>
                      </a:r>
                      <a:endParaRPr sz="1200">
                        <a:latin typeface="Arial"/>
                        <a:ea typeface="Arial"/>
                        <a:cs typeface="Arial"/>
                        <a:sym typeface="Arial"/>
                      </a:endParaRPr>
                    </a:p>
                  </a:txBody>
                  <a:tcPr marL="58100" marR="58100" marT="0" marB="0"/>
                </a:tc>
                <a:tc>
                  <a:txBody>
                    <a:bodyPr/>
                    <a:lstStyle/>
                    <a:p>
                      <a:pPr marL="0" marR="0" lvl="0" indent="0" algn="l" rtl="0">
                        <a:lnSpc>
                          <a:spcPct val="115000"/>
                        </a:lnSpc>
                        <a:spcBef>
                          <a:spcPts val="0"/>
                        </a:spcBef>
                        <a:spcAft>
                          <a:spcPts val="0"/>
                        </a:spcAft>
                        <a:buClr>
                          <a:schemeClr val="dk1"/>
                        </a:buClr>
                        <a:buSzPts val="1400"/>
                        <a:buFont typeface="Arial"/>
                        <a:buNone/>
                      </a:pPr>
                      <a:r>
                        <a:rPr lang="en-US" sz="1200" b="1"/>
                        <a:t>Malesa Sammy</a:t>
                      </a:r>
                      <a:endParaRPr sz="1200" b="1">
                        <a:latin typeface="Arial"/>
                        <a:ea typeface="Arial"/>
                        <a:cs typeface="Arial"/>
                        <a:sym typeface="Arial"/>
                      </a:endParaRPr>
                    </a:p>
                  </a:txBody>
                  <a:tcPr marL="58100" marR="58100" marT="0" marB="0"/>
                </a:tc>
                <a:tc>
                  <a:txBody>
                    <a:bodyPr/>
                    <a:lstStyle/>
                    <a:p>
                      <a:pPr marL="0" lvl="0" indent="0" algn="l" rtl="0">
                        <a:spcBef>
                          <a:spcPts val="0"/>
                        </a:spcBef>
                        <a:spcAft>
                          <a:spcPts val="0"/>
                        </a:spcAft>
                        <a:buNone/>
                      </a:pPr>
                      <a:endParaRPr/>
                    </a:p>
                  </a:txBody>
                  <a:tcPr marL="58100" marR="58100" marT="0" marB="0"/>
                </a:tc>
                <a:extLst>
                  <a:ext uri="{0D108BD9-81ED-4DB2-BD59-A6C34878D82A}">
                    <a16:rowId xmlns:a16="http://schemas.microsoft.com/office/drawing/2014/main" val="10001"/>
                  </a:ext>
                </a:extLst>
              </a:tr>
              <a:tr h="253800">
                <a:tc>
                  <a:txBody>
                    <a:bodyPr/>
                    <a:lstStyle/>
                    <a:p>
                      <a:pPr marL="0" marR="0" lvl="0" indent="0" algn="l" rtl="0">
                        <a:lnSpc>
                          <a:spcPct val="115000"/>
                        </a:lnSpc>
                        <a:spcBef>
                          <a:spcPts val="0"/>
                        </a:spcBef>
                        <a:spcAft>
                          <a:spcPts val="0"/>
                        </a:spcAft>
                        <a:buClr>
                          <a:schemeClr val="dk1"/>
                        </a:buClr>
                        <a:buSzPts val="1400"/>
                        <a:buFont typeface="Arial"/>
                        <a:buNone/>
                      </a:pPr>
                      <a:r>
                        <a:rPr lang="en-US" sz="1200"/>
                        <a:t>Role</a:t>
                      </a:r>
                      <a:endParaRPr sz="1200">
                        <a:latin typeface="Arial"/>
                        <a:ea typeface="Arial"/>
                        <a:cs typeface="Arial"/>
                        <a:sym typeface="Arial"/>
                      </a:endParaRPr>
                    </a:p>
                  </a:txBody>
                  <a:tcPr marL="58100" marR="58100" marT="0" marB="0"/>
                </a:tc>
                <a:tc>
                  <a:txBody>
                    <a:bodyPr/>
                    <a:lstStyle/>
                    <a:p>
                      <a:pPr marL="0" marR="0" lvl="0" indent="0" algn="l" rtl="0">
                        <a:lnSpc>
                          <a:spcPct val="115000"/>
                        </a:lnSpc>
                        <a:spcBef>
                          <a:spcPts val="0"/>
                        </a:spcBef>
                        <a:spcAft>
                          <a:spcPts val="0"/>
                        </a:spcAft>
                        <a:buClr>
                          <a:schemeClr val="dk1"/>
                        </a:buClr>
                        <a:buSzPts val="1400"/>
                        <a:buFont typeface="Arial"/>
                        <a:buNone/>
                      </a:pPr>
                      <a:r>
                        <a:rPr lang="en-US" sz="1200"/>
                        <a:t>Battery Engineer </a:t>
                      </a:r>
                      <a:r>
                        <a:rPr lang="en-US" sz="1200">
                          <a:latin typeface="MS Gothic"/>
                          <a:ea typeface="MS Gothic"/>
                          <a:cs typeface="MS Gothic"/>
                          <a:sym typeface="MS Gothic"/>
                        </a:rPr>
                        <a:t>Ⅱ</a:t>
                      </a:r>
                      <a:r>
                        <a:rPr lang="en-US" sz="1200">
                          <a:latin typeface="Arial"/>
                          <a:ea typeface="Arial"/>
                          <a:cs typeface="Arial"/>
                          <a:sym typeface="Arial"/>
                        </a:rPr>
                        <a:t>, Lab Manager </a:t>
                      </a:r>
                      <a:endParaRPr sz="1200">
                        <a:latin typeface="Arial"/>
                        <a:ea typeface="Arial"/>
                        <a:cs typeface="Arial"/>
                        <a:sym typeface="Arial"/>
                      </a:endParaRPr>
                    </a:p>
                  </a:txBody>
                  <a:tcPr marL="58100" marR="58100" marT="0" marB="0"/>
                </a:tc>
                <a:tc>
                  <a:txBody>
                    <a:bodyPr/>
                    <a:lstStyle/>
                    <a:p>
                      <a:pPr marL="0" lvl="0" indent="0" algn="l" rtl="0">
                        <a:spcBef>
                          <a:spcPts val="0"/>
                        </a:spcBef>
                        <a:spcAft>
                          <a:spcPts val="0"/>
                        </a:spcAft>
                        <a:buNone/>
                      </a:pPr>
                      <a:endParaRPr/>
                    </a:p>
                  </a:txBody>
                  <a:tcPr marL="58100" marR="58100" marT="0" marB="0"/>
                </a:tc>
                <a:extLst>
                  <a:ext uri="{0D108BD9-81ED-4DB2-BD59-A6C34878D82A}">
                    <a16:rowId xmlns:a16="http://schemas.microsoft.com/office/drawing/2014/main" val="10002"/>
                  </a:ext>
                </a:extLst>
              </a:tr>
              <a:tr h="217525">
                <a:tc>
                  <a:txBody>
                    <a:bodyPr/>
                    <a:lstStyle/>
                    <a:p>
                      <a:pPr marL="0" marR="0" lvl="0" indent="0" algn="l" rtl="0">
                        <a:lnSpc>
                          <a:spcPct val="115000"/>
                        </a:lnSpc>
                        <a:spcBef>
                          <a:spcPts val="0"/>
                        </a:spcBef>
                        <a:spcAft>
                          <a:spcPts val="0"/>
                        </a:spcAft>
                        <a:buClr>
                          <a:schemeClr val="dk1"/>
                        </a:buClr>
                        <a:buSzPts val="1400"/>
                        <a:buFont typeface="Arial"/>
                        <a:buNone/>
                      </a:pPr>
                      <a:r>
                        <a:rPr lang="en-US" sz="1200"/>
                        <a:t>Quality Score</a:t>
                      </a:r>
                      <a:endParaRPr sz="1200">
                        <a:latin typeface="Arial"/>
                        <a:ea typeface="Arial"/>
                        <a:cs typeface="Arial"/>
                        <a:sym typeface="Arial"/>
                      </a:endParaRPr>
                    </a:p>
                  </a:txBody>
                  <a:tcPr marL="58100" marR="58100" marT="0" marB="0"/>
                </a:tc>
                <a:tc>
                  <a:txBody>
                    <a:bodyPr/>
                    <a:lstStyle/>
                    <a:p>
                      <a:pPr marL="0" marR="0" lvl="0" indent="0" algn="l" rtl="0">
                        <a:lnSpc>
                          <a:spcPct val="115000"/>
                        </a:lnSpc>
                        <a:spcBef>
                          <a:spcPts val="0"/>
                        </a:spcBef>
                        <a:spcAft>
                          <a:spcPts val="0"/>
                        </a:spcAft>
                        <a:buClr>
                          <a:schemeClr val="dk1"/>
                        </a:buClr>
                        <a:buSzPts val="1400"/>
                        <a:buFont typeface="Arial"/>
                        <a:buNone/>
                      </a:pPr>
                      <a:r>
                        <a:rPr lang="en-US" sz="1200"/>
                        <a:t>4</a:t>
                      </a:r>
                      <a:endParaRPr sz="1200">
                        <a:latin typeface="Arial"/>
                        <a:ea typeface="Arial"/>
                        <a:cs typeface="Arial"/>
                        <a:sym typeface="Arial"/>
                      </a:endParaRPr>
                    </a:p>
                  </a:txBody>
                  <a:tcPr marL="58100" marR="58100" marT="0" marB="0"/>
                </a:tc>
                <a:tc>
                  <a:txBody>
                    <a:bodyPr/>
                    <a:lstStyle/>
                    <a:p>
                      <a:pPr marL="0" lvl="0" indent="0" algn="l" rtl="0">
                        <a:lnSpc>
                          <a:spcPct val="115000"/>
                        </a:lnSpc>
                        <a:spcBef>
                          <a:spcPts val="0"/>
                        </a:spcBef>
                        <a:spcAft>
                          <a:spcPts val="0"/>
                        </a:spcAft>
                        <a:buClr>
                          <a:schemeClr val="dk1"/>
                        </a:buClr>
                        <a:buSzPts val="1400"/>
                        <a:buFont typeface="Arial"/>
                        <a:buNone/>
                      </a:pPr>
                      <a:r>
                        <a:rPr lang="en-US" sz="1200" u="sng">
                          <a:solidFill>
                            <a:schemeClr val="hlink"/>
                          </a:solidFill>
                          <a:latin typeface="Arial"/>
                          <a:ea typeface="Arial"/>
                          <a:cs typeface="Arial"/>
                          <a:sym typeface="Arial"/>
                          <a:hlinkClick r:id="rId3"/>
                        </a:rPr>
                        <a:t>10Ah/220Ah </a:t>
                      </a:r>
                      <a:r>
                        <a:rPr lang="en-US" sz="1200" u="sng">
                          <a:solidFill>
                            <a:schemeClr val="hlink"/>
                          </a:solidFill>
                          <a:latin typeface="Arial"/>
                          <a:ea typeface="Arial"/>
                          <a:cs typeface="Arial"/>
                          <a:sym typeface="Arial"/>
                          <a:hlinkClick r:id="rId3"/>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Report</a:t>
                      </a:r>
                      <a:endParaRPr/>
                    </a:p>
                  </a:txBody>
                  <a:tcPr marL="58100" marR="58100" marT="0" marB="0"/>
                </a:tc>
                <a:extLst>
                  <a:ext uri="{0D108BD9-81ED-4DB2-BD59-A6C34878D82A}">
                    <a16:rowId xmlns:a16="http://schemas.microsoft.com/office/drawing/2014/main" val="10003"/>
                  </a:ext>
                </a:extLst>
              </a:tr>
              <a:tr h="467650">
                <a:tc>
                  <a:txBody>
                    <a:bodyPr/>
                    <a:lstStyle/>
                    <a:p>
                      <a:pPr marL="0" marR="0" lvl="0" indent="0" algn="l" rtl="0">
                        <a:lnSpc>
                          <a:spcPct val="115000"/>
                        </a:lnSpc>
                        <a:spcBef>
                          <a:spcPts val="0"/>
                        </a:spcBef>
                        <a:spcAft>
                          <a:spcPts val="0"/>
                        </a:spcAft>
                        <a:buClr>
                          <a:schemeClr val="dk1"/>
                        </a:buClr>
                        <a:buSzPts val="1400"/>
                        <a:buFont typeface="Arial"/>
                        <a:buNone/>
                      </a:pPr>
                      <a:r>
                        <a:rPr lang="en-US" sz="1200"/>
                        <a:t>Productivity Score</a:t>
                      </a:r>
                      <a:endParaRPr sz="1200">
                        <a:latin typeface="Arial"/>
                        <a:ea typeface="Arial"/>
                        <a:cs typeface="Arial"/>
                        <a:sym typeface="Arial"/>
                      </a:endParaRPr>
                    </a:p>
                  </a:txBody>
                  <a:tcPr marL="58100" marR="58100" marT="0" marB="0"/>
                </a:tc>
                <a:tc>
                  <a:txBody>
                    <a:bodyPr/>
                    <a:lstStyle/>
                    <a:p>
                      <a:pPr marL="0" marR="0" lvl="0" indent="0" algn="l" rtl="0">
                        <a:lnSpc>
                          <a:spcPct val="115000"/>
                        </a:lnSpc>
                        <a:spcBef>
                          <a:spcPts val="0"/>
                        </a:spcBef>
                        <a:spcAft>
                          <a:spcPts val="0"/>
                        </a:spcAft>
                        <a:buClr>
                          <a:schemeClr val="dk1"/>
                        </a:buClr>
                        <a:buSzPts val="1400"/>
                        <a:buFont typeface="Arial"/>
                        <a:buNone/>
                      </a:pPr>
                      <a:r>
                        <a:rPr lang="en-US" sz="1200"/>
                        <a:t>5</a:t>
                      </a:r>
                      <a:endParaRPr sz="1200">
                        <a:latin typeface="Arial"/>
                        <a:ea typeface="Arial"/>
                        <a:cs typeface="Arial"/>
                        <a:sym typeface="Arial"/>
                      </a:endParaRPr>
                    </a:p>
                  </a:txBody>
                  <a:tcPr marL="58100" marR="58100" marT="0" marB="0"/>
                </a:tc>
                <a:tc>
                  <a:txBody>
                    <a:bodyPr/>
                    <a:lstStyle/>
                    <a:p>
                      <a:pPr marL="0" lvl="0" indent="0" algn="l" rtl="0">
                        <a:lnSpc>
                          <a:spcPct val="115000"/>
                        </a:lnSpc>
                        <a:spcBef>
                          <a:spcPts val="0"/>
                        </a:spcBef>
                        <a:spcAft>
                          <a:spcPts val="0"/>
                        </a:spcAft>
                        <a:buClr>
                          <a:schemeClr val="dk1"/>
                        </a:buClr>
                        <a:buSzPts val="1400"/>
                        <a:buFont typeface="Arial"/>
                        <a:buNone/>
                      </a:pPr>
                      <a:r>
                        <a:rPr lang="en-US" sz="1200"/>
                        <a:t>developed </a:t>
                      </a:r>
                      <a:r>
                        <a:rPr lang="en-US" sz="1200" u="sng">
                          <a:solidFill>
                            <a:schemeClr val="hlink"/>
                          </a:solidFill>
                          <a:latin typeface="Arial"/>
                          <a:ea typeface="Arial"/>
                          <a:cs typeface="Arial"/>
                          <a:sym typeface="Arial"/>
                          <a:hlinkClick r:id="rId4"/>
                        </a:rPr>
                        <a:t>Prismatic Testing Plan.xlsx</a:t>
                      </a:r>
                      <a:r>
                        <a:rPr lang="en-US" sz="1200"/>
                        <a:t> coordinated coating and electrode preparation, built 20 Prismatic cells 100Ah - 200Ah</a:t>
                      </a:r>
                      <a:endParaRPr/>
                    </a:p>
                  </a:txBody>
                  <a:tcPr marL="58100" marR="58100" marT="0" marB="0"/>
                </a:tc>
                <a:extLst>
                  <a:ext uri="{0D108BD9-81ED-4DB2-BD59-A6C34878D82A}">
                    <a16:rowId xmlns:a16="http://schemas.microsoft.com/office/drawing/2014/main" val="10004"/>
                  </a:ext>
                </a:extLst>
              </a:tr>
              <a:tr h="717850">
                <a:tc>
                  <a:txBody>
                    <a:bodyPr/>
                    <a:lstStyle/>
                    <a:p>
                      <a:pPr marL="0" marR="0" lvl="0" indent="0" algn="l" rtl="0">
                        <a:lnSpc>
                          <a:spcPct val="115000"/>
                        </a:lnSpc>
                        <a:spcBef>
                          <a:spcPts val="0"/>
                        </a:spcBef>
                        <a:spcAft>
                          <a:spcPts val="0"/>
                        </a:spcAft>
                        <a:buClr>
                          <a:schemeClr val="dk1"/>
                        </a:buClr>
                        <a:buSzPts val="1400"/>
                        <a:buFont typeface="Arial"/>
                        <a:buNone/>
                      </a:pPr>
                      <a:r>
                        <a:rPr lang="en-US" sz="1200"/>
                        <a:t>Attendance, Reliability, Documentation Score</a:t>
                      </a:r>
                      <a:endParaRPr sz="1200">
                        <a:latin typeface="Arial"/>
                        <a:ea typeface="Arial"/>
                        <a:cs typeface="Arial"/>
                        <a:sym typeface="Arial"/>
                      </a:endParaRPr>
                    </a:p>
                  </a:txBody>
                  <a:tcPr marL="58100" marR="58100" marT="0" marB="0"/>
                </a:tc>
                <a:tc>
                  <a:txBody>
                    <a:bodyPr/>
                    <a:lstStyle/>
                    <a:p>
                      <a:pPr marL="0" marR="0" lvl="0" indent="0" algn="l" rtl="0">
                        <a:lnSpc>
                          <a:spcPct val="115000"/>
                        </a:lnSpc>
                        <a:spcBef>
                          <a:spcPts val="0"/>
                        </a:spcBef>
                        <a:spcAft>
                          <a:spcPts val="0"/>
                        </a:spcAft>
                        <a:buClr>
                          <a:schemeClr val="dk1"/>
                        </a:buClr>
                        <a:buSzPts val="1400"/>
                        <a:buFont typeface="Arial"/>
                        <a:buNone/>
                      </a:pPr>
                      <a:r>
                        <a:rPr lang="en-US" sz="1200"/>
                        <a:t>4</a:t>
                      </a:r>
                      <a:endParaRPr sz="1200">
                        <a:latin typeface="Arial"/>
                        <a:ea typeface="Arial"/>
                        <a:cs typeface="Arial"/>
                        <a:sym typeface="Arial"/>
                      </a:endParaRPr>
                    </a:p>
                  </a:txBody>
                  <a:tcPr marL="58100" marR="58100" marT="0" marB="0"/>
                </a:tc>
                <a:tc>
                  <a:txBody>
                    <a:bodyPr/>
                    <a:lstStyle/>
                    <a:p>
                      <a:pPr marL="0" lvl="0" indent="0" algn="l" rtl="0">
                        <a:lnSpc>
                          <a:spcPct val="115000"/>
                        </a:lnSpc>
                        <a:spcBef>
                          <a:spcPts val="0"/>
                        </a:spcBef>
                        <a:spcAft>
                          <a:spcPts val="0"/>
                        </a:spcAft>
                        <a:buClr>
                          <a:schemeClr val="dk1"/>
                        </a:buClr>
                        <a:buSzPts val="1400"/>
                        <a:buFont typeface="Arial"/>
                        <a:buNone/>
                      </a:pPr>
                      <a:r>
                        <a:rPr lang="en-US" sz="1200"/>
                        <a:t>started over 100 cylindrical tests and documented results, takes measurements of aging, refill cells as needed. Shows up on time every day. Took over NYSERDA for Sakshi. </a:t>
                      </a:r>
                      <a:endParaRPr/>
                    </a:p>
                  </a:txBody>
                  <a:tcPr marL="58100" marR="58100" marT="0" marB="0"/>
                </a:tc>
                <a:extLst>
                  <a:ext uri="{0D108BD9-81ED-4DB2-BD59-A6C34878D82A}">
                    <a16:rowId xmlns:a16="http://schemas.microsoft.com/office/drawing/2014/main" val="10005"/>
                  </a:ext>
                </a:extLst>
              </a:tr>
              <a:tr h="467650">
                <a:tc>
                  <a:txBody>
                    <a:bodyPr/>
                    <a:lstStyle/>
                    <a:p>
                      <a:pPr marL="0" marR="0" lvl="0" indent="0" algn="l" rtl="0">
                        <a:lnSpc>
                          <a:spcPct val="115000"/>
                        </a:lnSpc>
                        <a:spcBef>
                          <a:spcPts val="0"/>
                        </a:spcBef>
                        <a:spcAft>
                          <a:spcPts val="0"/>
                        </a:spcAft>
                        <a:buClr>
                          <a:schemeClr val="dk1"/>
                        </a:buClr>
                        <a:buSzPts val="1400"/>
                        <a:buFont typeface="Arial"/>
                        <a:buNone/>
                      </a:pPr>
                      <a:r>
                        <a:rPr lang="en-US" sz="1200"/>
                        <a:t>Skill Score</a:t>
                      </a:r>
                      <a:endParaRPr sz="1200">
                        <a:latin typeface="Arial"/>
                        <a:ea typeface="Arial"/>
                        <a:cs typeface="Arial"/>
                        <a:sym typeface="Arial"/>
                      </a:endParaRPr>
                    </a:p>
                  </a:txBody>
                  <a:tcPr marL="58100" marR="58100" marT="0" marB="0"/>
                </a:tc>
                <a:tc>
                  <a:txBody>
                    <a:bodyPr/>
                    <a:lstStyle/>
                    <a:p>
                      <a:pPr marL="0" marR="0" lvl="0" indent="0" algn="l" rtl="0">
                        <a:lnSpc>
                          <a:spcPct val="115000"/>
                        </a:lnSpc>
                        <a:spcBef>
                          <a:spcPts val="0"/>
                        </a:spcBef>
                        <a:spcAft>
                          <a:spcPts val="0"/>
                        </a:spcAft>
                        <a:buClr>
                          <a:schemeClr val="dk1"/>
                        </a:buClr>
                        <a:buSzPts val="1400"/>
                        <a:buFont typeface="Arial"/>
                        <a:buNone/>
                      </a:pPr>
                      <a:r>
                        <a:rPr lang="en-US" sz="1200"/>
                        <a:t>4</a:t>
                      </a:r>
                      <a:endParaRPr sz="1200">
                        <a:latin typeface="Arial"/>
                        <a:ea typeface="Arial"/>
                        <a:cs typeface="Arial"/>
                        <a:sym typeface="Arial"/>
                      </a:endParaRPr>
                    </a:p>
                  </a:txBody>
                  <a:tcPr marL="58100" marR="58100" marT="0" marB="0"/>
                </a:tc>
                <a:tc>
                  <a:txBody>
                    <a:bodyPr/>
                    <a:lstStyle/>
                    <a:p>
                      <a:pPr marL="0" lvl="0" indent="0" algn="l" rtl="0">
                        <a:lnSpc>
                          <a:spcPct val="115000"/>
                        </a:lnSpc>
                        <a:spcBef>
                          <a:spcPts val="0"/>
                        </a:spcBef>
                        <a:spcAft>
                          <a:spcPts val="0"/>
                        </a:spcAft>
                        <a:buClr>
                          <a:schemeClr val="dk1"/>
                        </a:buClr>
                        <a:buSzPts val="1400"/>
                        <a:buFont typeface="Arial"/>
                        <a:buNone/>
                      </a:pPr>
                      <a:r>
                        <a:rPr lang="en-US" sz="1200"/>
                        <a:t>good progress on writing more complex PEC protocols, learning Microsoft Projects, Learning how to make edits in redash</a:t>
                      </a:r>
                      <a:endParaRPr/>
                    </a:p>
                  </a:txBody>
                  <a:tcPr marL="58100" marR="58100" marT="0" marB="0"/>
                </a:tc>
                <a:extLst>
                  <a:ext uri="{0D108BD9-81ED-4DB2-BD59-A6C34878D82A}">
                    <a16:rowId xmlns:a16="http://schemas.microsoft.com/office/drawing/2014/main" val="10006"/>
                  </a:ext>
                </a:extLst>
              </a:tr>
              <a:tr h="467650">
                <a:tc>
                  <a:txBody>
                    <a:bodyPr/>
                    <a:lstStyle/>
                    <a:p>
                      <a:pPr marL="0" marR="0" lvl="0" indent="0" algn="l" rtl="0">
                        <a:lnSpc>
                          <a:spcPct val="115000"/>
                        </a:lnSpc>
                        <a:spcBef>
                          <a:spcPts val="0"/>
                        </a:spcBef>
                        <a:spcAft>
                          <a:spcPts val="0"/>
                        </a:spcAft>
                        <a:buClr>
                          <a:schemeClr val="dk1"/>
                        </a:buClr>
                        <a:buSzPts val="1400"/>
                        <a:buFont typeface="Arial"/>
                        <a:buNone/>
                      </a:pPr>
                      <a:r>
                        <a:rPr lang="en-US" sz="1200"/>
                        <a:t>Communication, Safety Score</a:t>
                      </a:r>
                      <a:endParaRPr sz="1200">
                        <a:latin typeface="Arial"/>
                        <a:ea typeface="Arial"/>
                        <a:cs typeface="Arial"/>
                        <a:sym typeface="Arial"/>
                      </a:endParaRPr>
                    </a:p>
                  </a:txBody>
                  <a:tcPr marL="58100" marR="58100" marT="0" marB="0"/>
                </a:tc>
                <a:tc>
                  <a:txBody>
                    <a:bodyPr/>
                    <a:lstStyle/>
                    <a:p>
                      <a:pPr marL="0" marR="0" lvl="0" indent="0" algn="l" rtl="0">
                        <a:lnSpc>
                          <a:spcPct val="115000"/>
                        </a:lnSpc>
                        <a:spcBef>
                          <a:spcPts val="0"/>
                        </a:spcBef>
                        <a:spcAft>
                          <a:spcPts val="0"/>
                        </a:spcAft>
                        <a:buClr>
                          <a:schemeClr val="dk1"/>
                        </a:buClr>
                        <a:buSzPts val="1400"/>
                        <a:buFont typeface="Arial"/>
                        <a:buNone/>
                      </a:pPr>
                      <a:r>
                        <a:rPr lang="en-US" sz="1200"/>
                        <a:t>5</a:t>
                      </a:r>
                      <a:endParaRPr sz="1200">
                        <a:latin typeface="Arial"/>
                        <a:ea typeface="Arial"/>
                        <a:cs typeface="Arial"/>
                        <a:sym typeface="Arial"/>
                      </a:endParaRPr>
                    </a:p>
                  </a:txBody>
                  <a:tcPr marL="58100" marR="58100" marT="0" marB="0"/>
                </a:tc>
                <a:tc>
                  <a:txBody>
                    <a:bodyPr/>
                    <a:lstStyle/>
                    <a:p>
                      <a:pPr marL="0" lvl="0" indent="0" algn="l" rtl="0">
                        <a:lnSpc>
                          <a:spcPct val="115000"/>
                        </a:lnSpc>
                        <a:spcBef>
                          <a:spcPts val="0"/>
                        </a:spcBef>
                        <a:spcAft>
                          <a:spcPts val="0"/>
                        </a:spcAft>
                        <a:buClr>
                          <a:schemeClr val="dk1"/>
                        </a:buClr>
                        <a:buSzPts val="1400"/>
                        <a:buFont typeface="Arial"/>
                        <a:buNone/>
                      </a:pPr>
                      <a:r>
                        <a:rPr lang="en-US" sz="1200"/>
                        <a:t>clearly communicating lab safety and organization to the rest of the team  </a:t>
                      </a:r>
                      <a:endParaRPr/>
                    </a:p>
                  </a:txBody>
                  <a:tcPr marL="58100" marR="58100" marT="0" marB="0"/>
                </a:tc>
                <a:extLst>
                  <a:ext uri="{0D108BD9-81ED-4DB2-BD59-A6C34878D82A}">
                    <a16:rowId xmlns:a16="http://schemas.microsoft.com/office/drawing/2014/main" val="10007"/>
                  </a:ext>
                </a:extLst>
              </a:tr>
              <a:tr h="253800">
                <a:tc>
                  <a:txBody>
                    <a:bodyPr/>
                    <a:lstStyle/>
                    <a:p>
                      <a:pPr marL="0" marR="0" lvl="0" indent="0" algn="l" rtl="0">
                        <a:lnSpc>
                          <a:spcPct val="115000"/>
                        </a:lnSpc>
                        <a:spcBef>
                          <a:spcPts val="0"/>
                        </a:spcBef>
                        <a:spcAft>
                          <a:spcPts val="0"/>
                        </a:spcAft>
                        <a:buClr>
                          <a:schemeClr val="dk1"/>
                        </a:buClr>
                        <a:buSzPts val="1400"/>
                        <a:buFont typeface="Arial"/>
                        <a:buNone/>
                      </a:pPr>
                      <a:r>
                        <a:rPr lang="en-US" sz="1200"/>
                        <a:t>Weighted Final Score</a:t>
                      </a:r>
                      <a:endParaRPr sz="1200">
                        <a:latin typeface="Arial"/>
                        <a:ea typeface="Arial"/>
                        <a:cs typeface="Arial"/>
                        <a:sym typeface="Arial"/>
                      </a:endParaRPr>
                    </a:p>
                  </a:txBody>
                  <a:tcPr marL="58100" marR="58100" marT="0" marB="0"/>
                </a:tc>
                <a:tc>
                  <a:txBody>
                    <a:bodyPr/>
                    <a:lstStyle/>
                    <a:p>
                      <a:pPr marL="0" marR="0" lvl="0" indent="0" algn="l" rtl="0">
                        <a:lnSpc>
                          <a:spcPct val="115000"/>
                        </a:lnSpc>
                        <a:spcBef>
                          <a:spcPts val="0"/>
                        </a:spcBef>
                        <a:spcAft>
                          <a:spcPts val="0"/>
                        </a:spcAft>
                        <a:buClr>
                          <a:schemeClr val="dk1"/>
                        </a:buClr>
                        <a:buSzPts val="1400"/>
                        <a:buFont typeface="Arial"/>
                        <a:buNone/>
                      </a:pPr>
                      <a:r>
                        <a:rPr lang="en-US" sz="1200" b="1"/>
                        <a:t>4.35</a:t>
                      </a:r>
                      <a:endParaRPr sz="1200" b="1">
                        <a:latin typeface="Arial"/>
                        <a:ea typeface="Arial"/>
                        <a:cs typeface="Arial"/>
                        <a:sym typeface="Arial"/>
                      </a:endParaRPr>
                    </a:p>
                  </a:txBody>
                  <a:tcPr marL="58100" marR="58100" marT="0" marB="0"/>
                </a:tc>
                <a:tc>
                  <a:txBody>
                    <a:bodyPr/>
                    <a:lstStyle/>
                    <a:p>
                      <a:pPr marL="0" lvl="0" indent="0" algn="l" rtl="0">
                        <a:spcBef>
                          <a:spcPts val="0"/>
                        </a:spcBef>
                        <a:spcAft>
                          <a:spcPts val="0"/>
                        </a:spcAft>
                        <a:buNone/>
                      </a:pPr>
                      <a:endParaRPr/>
                    </a:p>
                  </a:txBody>
                  <a:tcPr marL="58100" marR="58100" marT="0" marB="0"/>
                </a:tc>
                <a:extLst>
                  <a:ext uri="{0D108BD9-81ED-4DB2-BD59-A6C34878D82A}">
                    <a16:rowId xmlns:a16="http://schemas.microsoft.com/office/drawing/2014/main" val="10008"/>
                  </a:ext>
                </a:extLst>
              </a:tr>
              <a:tr h="467650">
                <a:tc>
                  <a:txBody>
                    <a:bodyPr/>
                    <a:lstStyle/>
                    <a:p>
                      <a:pPr marL="0" marR="0" lvl="0" indent="0" algn="l" rtl="0">
                        <a:lnSpc>
                          <a:spcPct val="115000"/>
                        </a:lnSpc>
                        <a:spcBef>
                          <a:spcPts val="0"/>
                        </a:spcBef>
                        <a:spcAft>
                          <a:spcPts val="0"/>
                        </a:spcAft>
                        <a:buClr>
                          <a:schemeClr val="dk1"/>
                        </a:buClr>
                        <a:buSzPts val="1400"/>
                        <a:buFont typeface="Arial"/>
                        <a:buNone/>
                      </a:pPr>
                      <a:r>
                        <a:rPr lang="en-US" sz="1200"/>
                        <a:t>Recommended Salary Increase</a:t>
                      </a:r>
                      <a:endParaRPr sz="1200">
                        <a:latin typeface="Arial"/>
                        <a:ea typeface="Arial"/>
                        <a:cs typeface="Arial"/>
                        <a:sym typeface="Arial"/>
                      </a:endParaRPr>
                    </a:p>
                  </a:txBody>
                  <a:tcPr marL="58100" marR="58100" marT="0" marB="0"/>
                </a:tc>
                <a:tc>
                  <a:txBody>
                    <a:bodyPr/>
                    <a:lstStyle/>
                    <a:p>
                      <a:pPr marL="0" lvl="0" indent="0" algn="l" rtl="0">
                        <a:lnSpc>
                          <a:spcPct val="115000"/>
                        </a:lnSpc>
                        <a:spcBef>
                          <a:spcPts val="0"/>
                        </a:spcBef>
                        <a:spcAft>
                          <a:spcPts val="0"/>
                        </a:spcAft>
                        <a:buClr>
                          <a:schemeClr val="dk1"/>
                        </a:buClr>
                        <a:buSzPts val="1400"/>
                        <a:buFont typeface="Arial"/>
                        <a:buNone/>
                      </a:pPr>
                      <a:r>
                        <a:rPr lang="en-US" sz="1200"/>
                        <a:t> 5% Increase. </a:t>
                      </a:r>
                      <a:endParaRPr sz="1200">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200"/>
                    </a:p>
                  </a:txBody>
                  <a:tcPr marL="58100" marR="58100" marT="0" marB="0"/>
                </a:tc>
                <a:tc>
                  <a:txBody>
                    <a:bodyPr/>
                    <a:lstStyle/>
                    <a:p>
                      <a:pPr marL="0" lvl="0" indent="0" algn="l" rtl="0">
                        <a:spcBef>
                          <a:spcPts val="0"/>
                        </a:spcBef>
                        <a:spcAft>
                          <a:spcPts val="0"/>
                        </a:spcAft>
                        <a:buNone/>
                      </a:pPr>
                      <a:endParaRPr/>
                    </a:p>
                  </a:txBody>
                  <a:tcPr marL="58100" marR="58100" marT="0" marB="0"/>
                </a:tc>
                <a:extLst>
                  <a:ext uri="{0D108BD9-81ED-4DB2-BD59-A6C34878D82A}">
                    <a16:rowId xmlns:a16="http://schemas.microsoft.com/office/drawing/2014/main" val="10009"/>
                  </a:ext>
                </a:extLst>
              </a:tr>
              <a:tr h="1870200">
                <a:tc>
                  <a:txBody>
                    <a:bodyPr/>
                    <a:lstStyle/>
                    <a:p>
                      <a:pPr marL="0" marR="0" lvl="0" indent="0" algn="l" rtl="0">
                        <a:lnSpc>
                          <a:spcPct val="115000"/>
                        </a:lnSpc>
                        <a:spcBef>
                          <a:spcPts val="0"/>
                        </a:spcBef>
                        <a:spcAft>
                          <a:spcPts val="0"/>
                        </a:spcAft>
                        <a:buClr>
                          <a:schemeClr val="dk1"/>
                        </a:buClr>
                        <a:buSzPts val="1400"/>
                        <a:buFont typeface="Arial"/>
                        <a:buNone/>
                      </a:pPr>
                      <a:r>
                        <a:rPr lang="en-US" sz="1200"/>
                        <a:t>Notes/Manager Comments</a:t>
                      </a:r>
                      <a:endParaRPr sz="1200">
                        <a:latin typeface="Arial"/>
                        <a:ea typeface="Arial"/>
                        <a:cs typeface="Arial"/>
                        <a:sym typeface="Arial"/>
                      </a:endParaRPr>
                    </a:p>
                  </a:txBody>
                  <a:tcPr marL="58100" marR="58100" marT="0" marB="0"/>
                </a:tc>
                <a:tc>
                  <a:txBody>
                    <a:bodyPr/>
                    <a:lstStyle/>
                    <a:p>
                      <a:pPr marL="0" marR="0" lvl="0" indent="0" algn="l" rtl="0">
                        <a:lnSpc>
                          <a:spcPct val="115000"/>
                        </a:lnSpc>
                        <a:spcBef>
                          <a:spcPts val="0"/>
                        </a:spcBef>
                        <a:spcAft>
                          <a:spcPts val="0"/>
                        </a:spcAft>
                        <a:buClr>
                          <a:schemeClr val="dk1"/>
                        </a:buClr>
                        <a:buSzPts val="1400"/>
                        <a:buFont typeface="Arial"/>
                        <a:buNone/>
                      </a:pPr>
                      <a:r>
                        <a:rPr lang="en-US" sz="1200"/>
                        <a:t>Malesa executes on all tasks given in a very efficient manner and knows how to leverage production staff for lower level tasks.  </a:t>
                      </a:r>
                      <a:endParaRPr sz="1200"/>
                    </a:p>
                    <a:p>
                      <a:pPr marL="0" marR="0" lvl="0" indent="0" algn="l" rtl="0">
                        <a:lnSpc>
                          <a:spcPct val="115000"/>
                        </a:lnSpc>
                        <a:spcBef>
                          <a:spcPts val="800"/>
                        </a:spcBef>
                        <a:spcAft>
                          <a:spcPts val="0"/>
                        </a:spcAft>
                        <a:buClr>
                          <a:schemeClr val="dk1"/>
                        </a:buClr>
                        <a:buSzPts val="1400"/>
                        <a:buFont typeface="Arial"/>
                        <a:buNone/>
                      </a:pPr>
                      <a:r>
                        <a:rPr lang="en-US" sz="12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
                            </a:ext>
                          </a:extLst>
                        </a:rPr>
                        <a:t>Would recommend increasing her technical capability by learning new statistical and modeling tools, battery and product development materials and courses.</a:t>
                      </a:r>
                      <a:endParaRPr sz="1200">
                        <a:latin typeface="Arial"/>
                        <a:ea typeface="Arial"/>
                        <a:cs typeface="Arial"/>
                        <a:sym typeface="Arial"/>
                      </a:endParaRPr>
                    </a:p>
                  </a:txBody>
                  <a:tcPr marL="58100" marR="58100" marT="0" marB="0"/>
                </a:tc>
                <a:tc>
                  <a:txBody>
                    <a:bodyPr/>
                    <a:lstStyle/>
                    <a:p>
                      <a:pPr marL="0" lvl="0" indent="0" algn="l" rtl="0">
                        <a:spcBef>
                          <a:spcPts val="0"/>
                        </a:spcBef>
                        <a:spcAft>
                          <a:spcPts val="0"/>
                        </a:spcAft>
                        <a:buNone/>
                      </a:pPr>
                      <a:endParaRPr/>
                    </a:p>
                  </a:txBody>
                  <a:tcPr marL="58100" marR="58100" marT="0" marB="0"/>
                </a:tc>
                <a:extLst>
                  <a:ext uri="{0D108BD9-81ED-4DB2-BD59-A6C34878D82A}">
                    <a16:rowId xmlns:a16="http://schemas.microsoft.com/office/drawing/2014/main" val="1001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913f5e25b6_0_5"/>
          <p:cNvSpPr txBox="1">
            <a:spLocks noGrp="1"/>
          </p:cNvSpPr>
          <p:nvPr>
            <p:ph type="title"/>
          </p:nvPr>
        </p:nvSpPr>
        <p:spPr>
          <a:xfrm>
            <a:off x="0" y="-36864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Battery Development November 2025</a:t>
            </a:r>
            <a:endParaRPr/>
          </a:p>
        </p:txBody>
      </p:sp>
      <p:graphicFrame>
        <p:nvGraphicFramePr>
          <p:cNvPr id="188" name="Google Shape;188;g3913f5e25b6_0_5"/>
          <p:cNvGraphicFramePr/>
          <p:nvPr>
            <p:extLst>
              <p:ext uri="{D42A27DB-BD31-4B8C-83A1-F6EECF244321}">
                <p14:modId xmlns:p14="http://schemas.microsoft.com/office/powerpoint/2010/main" val="1892846250"/>
              </p:ext>
            </p:extLst>
          </p:nvPr>
        </p:nvGraphicFramePr>
        <p:xfrm>
          <a:off x="0" y="682552"/>
          <a:ext cx="12081525" cy="6491029"/>
        </p:xfrm>
        <a:graphic>
          <a:graphicData uri="http://schemas.openxmlformats.org/drawingml/2006/table">
            <a:tbl>
              <a:tblPr firstRow="1" firstCol="1" bandRow="1">
                <a:noFill/>
              </a:tblPr>
              <a:tblGrid>
                <a:gridCol w="2186175">
                  <a:extLst>
                    <a:ext uri="{9D8B030D-6E8A-4147-A177-3AD203B41FA5}">
                      <a16:colId xmlns:a16="http://schemas.microsoft.com/office/drawing/2014/main" val="20000"/>
                    </a:ext>
                  </a:extLst>
                </a:gridCol>
                <a:gridCol w="4714025">
                  <a:extLst>
                    <a:ext uri="{9D8B030D-6E8A-4147-A177-3AD203B41FA5}">
                      <a16:colId xmlns:a16="http://schemas.microsoft.com/office/drawing/2014/main" val="20001"/>
                    </a:ext>
                  </a:extLst>
                </a:gridCol>
                <a:gridCol w="5181325">
                  <a:extLst>
                    <a:ext uri="{9D8B030D-6E8A-4147-A177-3AD203B41FA5}">
                      <a16:colId xmlns:a16="http://schemas.microsoft.com/office/drawing/2014/main" val="20002"/>
                    </a:ext>
                  </a:extLst>
                </a:gridCol>
              </a:tblGrid>
              <a:tr h="575750">
                <a:tc>
                  <a:txBody>
                    <a:bodyPr/>
                    <a:lstStyle/>
                    <a:p>
                      <a:pPr marL="0" marR="0" lvl="0" indent="0" algn="l" rtl="0">
                        <a:lnSpc>
                          <a:spcPct val="115000"/>
                        </a:lnSpc>
                        <a:spcBef>
                          <a:spcPts val="0"/>
                        </a:spcBef>
                        <a:spcAft>
                          <a:spcPts val="0"/>
                        </a:spcAft>
                        <a:buClr>
                          <a:schemeClr val="dk1"/>
                        </a:buClr>
                        <a:buSzPts val="1400"/>
                        <a:buFont typeface="Arial"/>
                        <a:buNone/>
                      </a:pPr>
                      <a:r>
                        <a:rPr lang="en-US" sz="1200"/>
                        <a:t>Details</a:t>
                      </a:r>
                      <a:endParaRPr sz="1200">
                        <a:latin typeface="Arial"/>
                        <a:ea typeface="Arial"/>
                        <a:cs typeface="Arial"/>
                        <a:sym typeface="Arial"/>
                      </a:endParaRPr>
                    </a:p>
                  </a:txBody>
                  <a:tcPr marL="58100" marR="58100" marT="0" marB="0">
                    <a:lnR w="12700" cap="flat" cmpd="sng" algn="ctr">
                      <a:solidFill>
                        <a:schemeClr val="tx1"/>
                      </a:solidFill>
                      <a:prstDash val="solid"/>
                      <a:round/>
                      <a:headEnd type="none" w="med" len="med"/>
                      <a:tailEnd type="none" w="med" len="med"/>
                    </a:lnR>
                  </a:tcPr>
                </a:tc>
                <a:tc>
                  <a:txBody>
                    <a:bodyPr/>
                    <a:lstStyle/>
                    <a:p>
                      <a:pPr marL="0" marR="0" lvl="0" indent="0" algn="l" rtl="0">
                        <a:lnSpc>
                          <a:spcPct val="115000"/>
                        </a:lnSpc>
                        <a:spcBef>
                          <a:spcPts val="0"/>
                        </a:spcBef>
                        <a:spcAft>
                          <a:spcPts val="0"/>
                        </a:spcAft>
                        <a:buClr>
                          <a:schemeClr val="dk1"/>
                        </a:buClr>
                        <a:buSzPts val="1400"/>
                        <a:buFont typeface="Arial"/>
                        <a:buNone/>
                      </a:pPr>
                      <a:r>
                        <a:rPr lang="en-US" sz="1200" dirty="0"/>
                        <a:t> Performance and Notes </a:t>
                      </a:r>
                      <a:endParaRPr sz="1200" dirty="0">
                        <a:latin typeface="Arial"/>
                        <a:ea typeface="Arial"/>
                        <a:cs typeface="Arial"/>
                        <a:sym typeface="Arial"/>
                      </a:endParaRPr>
                    </a:p>
                  </a:txBody>
                  <a:tcPr marL="58100" marR="581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15000"/>
                        </a:lnSpc>
                        <a:spcBef>
                          <a:spcPts val="0"/>
                        </a:spcBef>
                        <a:spcAft>
                          <a:spcPts val="0"/>
                        </a:spcAft>
                        <a:buClr>
                          <a:schemeClr val="dk1"/>
                        </a:buClr>
                        <a:buSzPts val="1400"/>
                        <a:buFont typeface="Arial"/>
                        <a:buNone/>
                      </a:pPr>
                      <a:r>
                        <a:rPr lang="en-US" sz="1200"/>
                        <a:t>  Proof and Notes </a:t>
                      </a:r>
                      <a:endParaRPr sz="1200">
                        <a:latin typeface="Arial"/>
                        <a:ea typeface="Arial"/>
                        <a:cs typeface="Arial"/>
                        <a:sym typeface="Arial"/>
                      </a:endParaRPr>
                    </a:p>
                    <a:p>
                      <a:pPr marL="0" marR="0" lvl="0" indent="0" algn="l" rtl="0">
                        <a:lnSpc>
                          <a:spcPct val="115000"/>
                        </a:lnSpc>
                        <a:spcBef>
                          <a:spcPts val="800"/>
                        </a:spcBef>
                        <a:spcAft>
                          <a:spcPts val="0"/>
                        </a:spcAft>
                        <a:buClr>
                          <a:schemeClr val="dk1"/>
                        </a:buClr>
                        <a:buSzPts val="1400"/>
                        <a:buFont typeface="Arial"/>
                        <a:buNone/>
                      </a:pPr>
                      <a:endParaRPr sz="1200">
                        <a:latin typeface="Arial"/>
                        <a:ea typeface="Arial"/>
                        <a:cs typeface="Arial"/>
                        <a:sym typeface="Arial"/>
                      </a:endParaRPr>
                    </a:p>
                  </a:txBody>
                  <a:tcPr marL="58100" marR="5810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248275">
                <a:tc>
                  <a:txBody>
                    <a:bodyPr/>
                    <a:lstStyle/>
                    <a:p>
                      <a:pPr marL="0" marR="0" lvl="0" indent="0" algn="l" rtl="0">
                        <a:lnSpc>
                          <a:spcPct val="115000"/>
                        </a:lnSpc>
                        <a:spcBef>
                          <a:spcPts val="0"/>
                        </a:spcBef>
                        <a:spcAft>
                          <a:spcPts val="0"/>
                        </a:spcAft>
                        <a:buClr>
                          <a:schemeClr val="dk1"/>
                        </a:buClr>
                        <a:buSzPts val="1400"/>
                        <a:buFont typeface="Arial"/>
                        <a:buNone/>
                      </a:pPr>
                      <a:r>
                        <a:rPr lang="en-US" sz="1200"/>
                        <a:t>Employee Name</a:t>
                      </a:r>
                      <a:endParaRPr sz="1200">
                        <a:latin typeface="Arial"/>
                        <a:ea typeface="Arial"/>
                        <a:cs typeface="Arial"/>
                        <a:sym typeface="Arial"/>
                      </a:endParaRPr>
                    </a:p>
                  </a:txBody>
                  <a:tcPr marL="58100" marR="58100" marT="0" marB="0">
                    <a:lnR w="12700" cap="flat" cmpd="sng" algn="ctr">
                      <a:solidFill>
                        <a:schemeClr val="tx1"/>
                      </a:solidFill>
                      <a:prstDash val="solid"/>
                      <a:round/>
                      <a:headEnd type="none" w="med" len="med"/>
                      <a:tailEnd type="none" w="med" len="med"/>
                    </a:lnR>
                  </a:tcPr>
                </a:tc>
                <a:tc>
                  <a:txBody>
                    <a:bodyPr/>
                    <a:lstStyle/>
                    <a:p>
                      <a:pPr marL="0" marR="0" lvl="0" indent="0" algn="l" rtl="0">
                        <a:lnSpc>
                          <a:spcPct val="115000"/>
                        </a:lnSpc>
                        <a:spcBef>
                          <a:spcPts val="0"/>
                        </a:spcBef>
                        <a:spcAft>
                          <a:spcPts val="0"/>
                        </a:spcAft>
                        <a:buClr>
                          <a:schemeClr val="dk1"/>
                        </a:buClr>
                        <a:buSzPts val="1400"/>
                        <a:buFont typeface="Arial"/>
                        <a:buNone/>
                      </a:pPr>
                      <a:r>
                        <a:rPr lang="en-US" sz="1200" b="1" dirty="0"/>
                        <a:t>Sakshi Lingayat</a:t>
                      </a:r>
                      <a:endParaRPr sz="1200" b="1" dirty="0">
                        <a:latin typeface="Arial"/>
                        <a:ea typeface="Arial"/>
                        <a:cs typeface="Arial"/>
                        <a:sym typeface="Arial"/>
                      </a:endParaRPr>
                    </a:p>
                  </a:txBody>
                  <a:tcPr marL="58100" marR="581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endParaRPr/>
                    </a:p>
                  </a:txBody>
                  <a:tcPr marL="58100" marR="5810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248275">
                <a:tc>
                  <a:txBody>
                    <a:bodyPr/>
                    <a:lstStyle/>
                    <a:p>
                      <a:pPr marL="0" marR="0" lvl="0" indent="0" algn="l" rtl="0">
                        <a:lnSpc>
                          <a:spcPct val="115000"/>
                        </a:lnSpc>
                        <a:spcBef>
                          <a:spcPts val="0"/>
                        </a:spcBef>
                        <a:spcAft>
                          <a:spcPts val="0"/>
                        </a:spcAft>
                        <a:buClr>
                          <a:schemeClr val="dk1"/>
                        </a:buClr>
                        <a:buSzPts val="1400"/>
                        <a:buFont typeface="Arial"/>
                        <a:buNone/>
                      </a:pPr>
                      <a:r>
                        <a:rPr lang="en-US" sz="1200"/>
                        <a:t>Role</a:t>
                      </a:r>
                      <a:endParaRPr sz="1200">
                        <a:latin typeface="Arial"/>
                        <a:ea typeface="Arial"/>
                        <a:cs typeface="Arial"/>
                        <a:sym typeface="Arial"/>
                      </a:endParaRPr>
                    </a:p>
                  </a:txBody>
                  <a:tcPr marL="58100" marR="58100" marT="0" marB="0">
                    <a:lnR w="12700" cap="flat" cmpd="sng" algn="ctr">
                      <a:solidFill>
                        <a:schemeClr val="tx1"/>
                      </a:solidFill>
                      <a:prstDash val="solid"/>
                      <a:round/>
                      <a:headEnd type="none" w="med" len="med"/>
                      <a:tailEnd type="none" w="med" len="med"/>
                    </a:lnR>
                  </a:tcPr>
                </a:tc>
                <a:tc>
                  <a:txBody>
                    <a:bodyPr/>
                    <a:lstStyle/>
                    <a:p>
                      <a:pPr marL="0" marR="0" lvl="0" indent="0" algn="l" rtl="0">
                        <a:lnSpc>
                          <a:spcPct val="115000"/>
                        </a:lnSpc>
                        <a:spcBef>
                          <a:spcPts val="0"/>
                        </a:spcBef>
                        <a:spcAft>
                          <a:spcPts val="0"/>
                        </a:spcAft>
                        <a:buClr>
                          <a:schemeClr val="dk1"/>
                        </a:buClr>
                        <a:buSzPts val="1400"/>
                        <a:buFont typeface="Arial"/>
                        <a:buNone/>
                      </a:pPr>
                      <a:r>
                        <a:rPr lang="en-US" sz="1200" dirty="0"/>
                        <a:t>Battery Engineer </a:t>
                      </a:r>
                      <a:r>
                        <a:rPr lang="en-US" sz="1200" dirty="0">
                          <a:latin typeface="MS Gothic"/>
                          <a:ea typeface="MS Gothic"/>
                          <a:cs typeface="MS Gothic"/>
                          <a:sym typeface="MS Gothic"/>
                        </a:rPr>
                        <a:t>Ⅱ</a:t>
                      </a:r>
                      <a:endParaRPr sz="1200" dirty="0">
                        <a:latin typeface="Arial"/>
                        <a:ea typeface="Arial"/>
                        <a:cs typeface="Arial"/>
                        <a:sym typeface="Arial"/>
                      </a:endParaRPr>
                    </a:p>
                  </a:txBody>
                  <a:tcPr marL="58100" marR="581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endParaRPr/>
                    </a:p>
                  </a:txBody>
                  <a:tcPr marL="58100" marR="5810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48275">
                <a:tc>
                  <a:txBody>
                    <a:bodyPr/>
                    <a:lstStyle/>
                    <a:p>
                      <a:pPr marL="0" marR="0" lvl="0" indent="0" algn="l" rtl="0">
                        <a:lnSpc>
                          <a:spcPct val="115000"/>
                        </a:lnSpc>
                        <a:spcBef>
                          <a:spcPts val="0"/>
                        </a:spcBef>
                        <a:spcAft>
                          <a:spcPts val="0"/>
                        </a:spcAft>
                        <a:buClr>
                          <a:schemeClr val="dk1"/>
                        </a:buClr>
                        <a:buSzPts val="1400"/>
                        <a:buFont typeface="Arial"/>
                        <a:buNone/>
                      </a:pPr>
                      <a:r>
                        <a:rPr lang="en-US" sz="1200"/>
                        <a:t>Quality Score</a:t>
                      </a:r>
                      <a:endParaRPr sz="1200">
                        <a:latin typeface="Arial"/>
                        <a:ea typeface="Arial"/>
                        <a:cs typeface="Arial"/>
                        <a:sym typeface="Arial"/>
                      </a:endParaRPr>
                    </a:p>
                  </a:txBody>
                  <a:tcPr marL="58100" marR="58100" marT="0" marB="0">
                    <a:lnR w="12700" cap="flat" cmpd="sng" algn="ctr">
                      <a:solidFill>
                        <a:schemeClr val="tx1"/>
                      </a:solidFill>
                      <a:prstDash val="solid"/>
                      <a:round/>
                      <a:headEnd type="none" w="med" len="med"/>
                      <a:tailEnd type="none" w="med" len="med"/>
                    </a:lnR>
                  </a:tcPr>
                </a:tc>
                <a:tc>
                  <a:txBody>
                    <a:bodyPr/>
                    <a:lstStyle/>
                    <a:p>
                      <a:pPr marL="0" marR="0" lvl="0" indent="0" algn="l" rtl="0">
                        <a:lnSpc>
                          <a:spcPct val="115000"/>
                        </a:lnSpc>
                        <a:spcBef>
                          <a:spcPts val="0"/>
                        </a:spcBef>
                        <a:spcAft>
                          <a:spcPts val="0"/>
                        </a:spcAft>
                        <a:buClr>
                          <a:schemeClr val="dk1"/>
                        </a:buClr>
                        <a:buSzPts val="1400"/>
                        <a:buFont typeface="Arial"/>
                        <a:buNone/>
                      </a:pPr>
                      <a:r>
                        <a:rPr lang="en-US" sz="1200" dirty="0"/>
                        <a:t>4</a:t>
                      </a:r>
                      <a:endParaRPr sz="1200" dirty="0">
                        <a:latin typeface="Arial"/>
                        <a:ea typeface="Arial"/>
                        <a:cs typeface="Arial"/>
                        <a:sym typeface="Arial"/>
                      </a:endParaRPr>
                    </a:p>
                  </a:txBody>
                  <a:tcPr marL="58100" marR="581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Clr>
                          <a:schemeClr val="dk1"/>
                        </a:buClr>
                        <a:buSzPts val="1400"/>
                        <a:buFont typeface="Arial"/>
                        <a:buNone/>
                      </a:pPr>
                      <a:r>
                        <a:rPr lang="en-US" sz="1200"/>
                        <a:t> </a:t>
                      </a:r>
                      <a:r>
                        <a:rPr lang="en-US" sz="12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Attention to detail in the NYSERDA Project and weekly reports</a:t>
                      </a:r>
                      <a:endParaRPr/>
                    </a:p>
                  </a:txBody>
                  <a:tcPr marL="58100" marR="5810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457500">
                <a:tc>
                  <a:txBody>
                    <a:bodyPr/>
                    <a:lstStyle/>
                    <a:p>
                      <a:pPr marL="0" marR="0" lvl="0" indent="0" algn="l" rtl="0">
                        <a:lnSpc>
                          <a:spcPct val="115000"/>
                        </a:lnSpc>
                        <a:spcBef>
                          <a:spcPts val="0"/>
                        </a:spcBef>
                        <a:spcAft>
                          <a:spcPts val="0"/>
                        </a:spcAft>
                        <a:buClr>
                          <a:schemeClr val="dk1"/>
                        </a:buClr>
                        <a:buSzPts val="1400"/>
                        <a:buFont typeface="Arial"/>
                        <a:buNone/>
                      </a:pPr>
                      <a:r>
                        <a:rPr lang="en-US" sz="1200"/>
                        <a:t>Productivity Score</a:t>
                      </a:r>
                      <a:endParaRPr sz="1200">
                        <a:latin typeface="Arial"/>
                        <a:ea typeface="Arial"/>
                        <a:cs typeface="Arial"/>
                        <a:sym typeface="Arial"/>
                      </a:endParaRPr>
                    </a:p>
                  </a:txBody>
                  <a:tcPr marL="58100" marR="58100" marT="0" marB="0">
                    <a:lnR w="12700" cap="flat" cmpd="sng" algn="ctr">
                      <a:solidFill>
                        <a:schemeClr val="tx1"/>
                      </a:solidFill>
                      <a:prstDash val="solid"/>
                      <a:round/>
                      <a:headEnd type="none" w="med" len="med"/>
                      <a:tailEnd type="none" w="med" len="med"/>
                    </a:lnR>
                  </a:tcPr>
                </a:tc>
                <a:tc>
                  <a:txBody>
                    <a:bodyPr/>
                    <a:lstStyle/>
                    <a:p>
                      <a:pPr marL="0" marR="0" lvl="0" indent="0" algn="l" rtl="0">
                        <a:lnSpc>
                          <a:spcPct val="115000"/>
                        </a:lnSpc>
                        <a:spcBef>
                          <a:spcPts val="0"/>
                        </a:spcBef>
                        <a:spcAft>
                          <a:spcPts val="0"/>
                        </a:spcAft>
                        <a:buClr>
                          <a:schemeClr val="dk1"/>
                        </a:buClr>
                        <a:buSzPts val="1400"/>
                        <a:buFont typeface="Arial"/>
                        <a:buNone/>
                      </a:pPr>
                      <a:r>
                        <a:rPr lang="en-US" sz="1200" dirty="0"/>
                        <a:t>5</a:t>
                      </a:r>
                      <a:endParaRPr sz="1200" dirty="0">
                        <a:latin typeface="Arial"/>
                        <a:ea typeface="Arial"/>
                        <a:cs typeface="Arial"/>
                        <a:sym typeface="Arial"/>
                      </a:endParaRPr>
                    </a:p>
                  </a:txBody>
                  <a:tcPr marL="58100" marR="581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Clr>
                          <a:schemeClr val="dk1"/>
                        </a:buClr>
                        <a:buSzPts val="1400"/>
                        <a:buFont typeface="Arial"/>
                        <a:buNone/>
                      </a:pPr>
                      <a:r>
                        <a:rPr lang="en-US" sz="12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Documenting spec sheet test results, </a:t>
                      </a:r>
                      <a:r>
                        <a:rPr lang="en-US" sz="1200" u="sng">
                          <a:solidFill>
                            <a:schemeClr val="hlink"/>
                          </a:solidFill>
                          <a:latin typeface="Arial"/>
                          <a:ea typeface="Arial"/>
                          <a:cs typeface="Arial"/>
                          <a:sym typeface="Arial"/>
                          <a:hlinkClick r:id="rId3"/>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7"/>
                            </a:ext>
                          </a:extLst>
                        </a:rPr>
                        <a:t>Data sheet_220Ah.xlsx</a:t>
                      </a:r>
                      <a:r>
                        <a:rPr lang="en-US" sz="1200">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8"/>
                            </a:ext>
                          </a:extLst>
                        </a:rPr>
                        <a:t> , </a:t>
                      </a:r>
                      <a:r>
                        <a:rPr lang="en-US" sz="12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rPr>
                        <a:t>Nyserda reports, UL coordination </a:t>
                      </a:r>
                      <a:endParaRPr/>
                    </a:p>
                  </a:txBody>
                  <a:tcPr marL="58100" marR="5810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946975">
                <a:tc>
                  <a:txBody>
                    <a:bodyPr/>
                    <a:lstStyle/>
                    <a:p>
                      <a:pPr marL="0" marR="0" lvl="0" indent="0" algn="l" rtl="0">
                        <a:lnSpc>
                          <a:spcPct val="115000"/>
                        </a:lnSpc>
                        <a:spcBef>
                          <a:spcPts val="0"/>
                        </a:spcBef>
                        <a:spcAft>
                          <a:spcPts val="0"/>
                        </a:spcAft>
                        <a:buClr>
                          <a:schemeClr val="dk1"/>
                        </a:buClr>
                        <a:buSzPts val="1400"/>
                        <a:buFont typeface="Arial"/>
                        <a:buNone/>
                      </a:pPr>
                      <a:r>
                        <a:rPr lang="en-US" sz="1200"/>
                        <a:t>Attendance, Reliability, Documentation Score</a:t>
                      </a:r>
                      <a:endParaRPr sz="1200">
                        <a:latin typeface="Arial"/>
                        <a:ea typeface="Arial"/>
                        <a:cs typeface="Arial"/>
                        <a:sym typeface="Arial"/>
                      </a:endParaRPr>
                    </a:p>
                  </a:txBody>
                  <a:tcPr marL="58100" marR="58100" marT="0" marB="0">
                    <a:lnR w="12700" cap="flat" cmpd="sng" algn="ctr">
                      <a:solidFill>
                        <a:schemeClr val="tx1"/>
                      </a:solidFill>
                      <a:prstDash val="solid"/>
                      <a:round/>
                      <a:headEnd type="none" w="med" len="med"/>
                      <a:tailEnd type="none" w="med" len="med"/>
                    </a:lnR>
                  </a:tcPr>
                </a:tc>
                <a:tc>
                  <a:txBody>
                    <a:bodyPr/>
                    <a:lstStyle/>
                    <a:p>
                      <a:pPr marL="0" marR="0" lvl="0" indent="0" algn="l" rtl="0">
                        <a:lnSpc>
                          <a:spcPct val="115000"/>
                        </a:lnSpc>
                        <a:spcBef>
                          <a:spcPts val="0"/>
                        </a:spcBef>
                        <a:spcAft>
                          <a:spcPts val="0"/>
                        </a:spcAft>
                        <a:buClr>
                          <a:schemeClr val="dk1"/>
                        </a:buClr>
                        <a:buSzPts val="1400"/>
                        <a:buFont typeface="Arial"/>
                        <a:buNone/>
                      </a:pPr>
                      <a:r>
                        <a:rPr lang="en-US" sz="1200" dirty="0"/>
                        <a:t>4</a:t>
                      </a:r>
                      <a:endParaRPr sz="1200" dirty="0"/>
                    </a:p>
                  </a:txBody>
                  <a:tcPr marL="58100" marR="581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Clr>
                          <a:schemeClr val="dk1"/>
                        </a:buClr>
                        <a:buSzPts val="1400"/>
                        <a:buFont typeface="Arial"/>
                        <a:buNone/>
                      </a:pPr>
                      <a:r>
                        <a:rPr lang="en-US" sz="12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0"/>
                            </a:ext>
                          </a:extLst>
                        </a:rPr>
                        <a:t>Helping Malesa in all general tasks</a:t>
                      </a:r>
                      <a:endParaRPr sz="12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1"/>
                          </a:ext>
                        </a:extLst>
                      </a:endParaRPr>
                    </a:p>
                    <a:p>
                      <a:pPr marL="0" lvl="0" indent="0" algn="l" rtl="0">
                        <a:lnSpc>
                          <a:spcPct val="115000"/>
                        </a:lnSpc>
                        <a:spcBef>
                          <a:spcPts val="0"/>
                        </a:spcBef>
                        <a:spcAft>
                          <a:spcPts val="0"/>
                        </a:spcAft>
                        <a:buClr>
                          <a:schemeClr val="dk1"/>
                        </a:buClr>
                        <a:buSzPts val="1400"/>
                        <a:buFont typeface="Arial"/>
                        <a:buNone/>
                      </a:pPr>
                      <a:r>
                        <a:rPr lang="en-US" sz="12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2"/>
                            </a:ext>
                          </a:extLst>
                        </a:rPr>
                        <a:t>takes measurements of aging, refill cells as needed. Shows up on time every day. Navajo Documentation</a:t>
                      </a:r>
                      <a:endParaRPr sz="12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3"/>
                          </a:ext>
                        </a:extLst>
                      </a:endParaRPr>
                    </a:p>
                    <a:p>
                      <a:pPr marL="0" lvl="0" indent="0" algn="l" rtl="0">
                        <a:lnSpc>
                          <a:spcPct val="115000"/>
                        </a:lnSpc>
                        <a:spcBef>
                          <a:spcPts val="0"/>
                        </a:spcBef>
                        <a:spcAft>
                          <a:spcPts val="0"/>
                        </a:spcAft>
                        <a:buClr>
                          <a:schemeClr val="dk1"/>
                        </a:buClr>
                        <a:buSzPts val="1400"/>
                        <a:buFont typeface="Arial"/>
                        <a:buNone/>
                      </a:pPr>
                      <a:r>
                        <a:rPr lang="en-US" sz="1200" u="sng">
                          <a:solidFill>
                            <a:schemeClr val="hlink"/>
                          </a:solidFill>
                          <a:latin typeface="Arial"/>
                          <a:ea typeface="Arial"/>
                          <a:cs typeface="Arial"/>
                          <a:sym typeface="Arial"/>
                          <a:hlinkClick r:id="rId4"/>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4"/>
                            </a:ext>
                          </a:extLst>
                        </a:rPr>
                        <a:t>Navajo in-House System Test.docx</a:t>
                      </a:r>
                      <a:endParaRPr/>
                    </a:p>
                  </a:txBody>
                  <a:tcPr marL="58100" marR="5810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457500">
                <a:tc>
                  <a:txBody>
                    <a:bodyPr/>
                    <a:lstStyle/>
                    <a:p>
                      <a:pPr marL="0" marR="0" lvl="0" indent="0" algn="l" rtl="0">
                        <a:lnSpc>
                          <a:spcPct val="115000"/>
                        </a:lnSpc>
                        <a:spcBef>
                          <a:spcPts val="0"/>
                        </a:spcBef>
                        <a:spcAft>
                          <a:spcPts val="0"/>
                        </a:spcAft>
                        <a:buClr>
                          <a:schemeClr val="dk1"/>
                        </a:buClr>
                        <a:buSzPts val="1400"/>
                        <a:buFont typeface="Arial"/>
                        <a:buNone/>
                      </a:pPr>
                      <a:r>
                        <a:rPr lang="en-US" sz="1200"/>
                        <a:t>Skill Score</a:t>
                      </a:r>
                      <a:endParaRPr sz="1200">
                        <a:latin typeface="Arial"/>
                        <a:ea typeface="Arial"/>
                        <a:cs typeface="Arial"/>
                        <a:sym typeface="Arial"/>
                      </a:endParaRPr>
                    </a:p>
                  </a:txBody>
                  <a:tcPr marL="58100" marR="58100" marT="0" marB="0">
                    <a:lnR w="12700" cap="flat" cmpd="sng" algn="ctr">
                      <a:solidFill>
                        <a:schemeClr val="tx1"/>
                      </a:solidFill>
                      <a:prstDash val="solid"/>
                      <a:round/>
                      <a:headEnd type="none" w="med" len="med"/>
                      <a:tailEnd type="none" w="med" len="med"/>
                    </a:lnR>
                  </a:tcPr>
                </a:tc>
                <a:tc>
                  <a:txBody>
                    <a:bodyPr/>
                    <a:lstStyle/>
                    <a:p>
                      <a:pPr marL="0" marR="0" lvl="0" indent="0" algn="l" rtl="0">
                        <a:lnSpc>
                          <a:spcPct val="115000"/>
                        </a:lnSpc>
                        <a:spcBef>
                          <a:spcPts val="0"/>
                        </a:spcBef>
                        <a:spcAft>
                          <a:spcPts val="0"/>
                        </a:spcAft>
                        <a:buClr>
                          <a:schemeClr val="dk1"/>
                        </a:buClr>
                        <a:buSzPts val="1400"/>
                        <a:buFont typeface="Arial"/>
                        <a:buNone/>
                      </a:pPr>
                      <a:r>
                        <a:rPr lang="en-US" sz="1200" dirty="0"/>
                        <a:t>4</a:t>
                      </a:r>
                      <a:endParaRPr sz="1200" dirty="0">
                        <a:latin typeface="Arial"/>
                        <a:ea typeface="Arial"/>
                        <a:cs typeface="Arial"/>
                        <a:sym typeface="Arial"/>
                      </a:endParaRPr>
                    </a:p>
                  </a:txBody>
                  <a:tcPr marL="58100" marR="581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Clr>
                          <a:schemeClr val="dk1"/>
                        </a:buClr>
                        <a:buSzPts val="1400"/>
                        <a:buFont typeface="Arial"/>
                        <a:buNone/>
                      </a:pPr>
                      <a:r>
                        <a:rPr lang="en-US" sz="1200"/>
                        <a:t>learned all Mechanical, electrical drawing for systems and components related to NYSERDA</a:t>
                      </a:r>
                      <a:endParaRPr sz="1200">
                        <a:latin typeface="Arial"/>
                        <a:ea typeface="Arial"/>
                        <a:cs typeface="Arial"/>
                        <a:sym typeface="Arial"/>
                      </a:endParaRPr>
                    </a:p>
                    <a:p>
                      <a:pPr marL="0" lvl="0" indent="0" algn="l" rtl="0">
                        <a:spcBef>
                          <a:spcPts val="0"/>
                        </a:spcBef>
                        <a:spcAft>
                          <a:spcPts val="0"/>
                        </a:spcAft>
                        <a:buNone/>
                      </a:pPr>
                      <a:endParaRPr/>
                    </a:p>
                  </a:txBody>
                  <a:tcPr marL="58100" marR="5810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457500">
                <a:tc>
                  <a:txBody>
                    <a:bodyPr/>
                    <a:lstStyle/>
                    <a:p>
                      <a:pPr marL="0" marR="0" lvl="0" indent="0" algn="l" rtl="0">
                        <a:lnSpc>
                          <a:spcPct val="115000"/>
                        </a:lnSpc>
                        <a:spcBef>
                          <a:spcPts val="0"/>
                        </a:spcBef>
                        <a:spcAft>
                          <a:spcPts val="0"/>
                        </a:spcAft>
                        <a:buClr>
                          <a:schemeClr val="dk1"/>
                        </a:buClr>
                        <a:buSzPts val="1400"/>
                        <a:buFont typeface="Arial"/>
                        <a:buNone/>
                      </a:pPr>
                      <a:r>
                        <a:rPr lang="en-US" sz="1200"/>
                        <a:t>Communication, Safety Score</a:t>
                      </a:r>
                      <a:endParaRPr sz="1200">
                        <a:latin typeface="Arial"/>
                        <a:ea typeface="Arial"/>
                        <a:cs typeface="Arial"/>
                        <a:sym typeface="Arial"/>
                      </a:endParaRPr>
                    </a:p>
                  </a:txBody>
                  <a:tcPr marL="58100" marR="58100" marT="0" marB="0">
                    <a:lnR w="12700" cap="flat" cmpd="sng" algn="ctr">
                      <a:solidFill>
                        <a:schemeClr val="tx1"/>
                      </a:solidFill>
                      <a:prstDash val="solid"/>
                      <a:round/>
                      <a:headEnd type="none" w="med" len="med"/>
                      <a:tailEnd type="none" w="med" len="med"/>
                    </a:lnR>
                  </a:tcPr>
                </a:tc>
                <a:tc>
                  <a:txBody>
                    <a:bodyPr/>
                    <a:lstStyle/>
                    <a:p>
                      <a:pPr marL="0" marR="0" lvl="0" indent="0" algn="l" rtl="0">
                        <a:lnSpc>
                          <a:spcPct val="115000"/>
                        </a:lnSpc>
                        <a:spcBef>
                          <a:spcPts val="0"/>
                        </a:spcBef>
                        <a:spcAft>
                          <a:spcPts val="0"/>
                        </a:spcAft>
                        <a:buClr>
                          <a:schemeClr val="dk1"/>
                        </a:buClr>
                        <a:buSzPts val="1400"/>
                        <a:buFont typeface="Arial"/>
                        <a:buNone/>
                      </a:pPr>
                      <a:r>
                        <a:rPr lang="en-US" sz="1200" dirty="0"/>
                        <a:t>5</a:t>
                      </a:r>
                      <a:endParaRPr sz="1200" dirty="0">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200" dirty="0"/>
                    </a:p>
                  </a:txBody>
                  <a:tcPr marL="58100" marR="581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Clr>
                          <a:schemeClr val="dk1"/>
                        </a:buClr>
                        <a:buSzPts val="1400"/>
                        <a:buFont typeface="Arial"/>
                        <a:buNone/>
                      </a:pPr>
                      <a:r>
                        <a:rPr lang="en-US" sz="1200"/>
                        <a:t>worked on collecting and writing all documents for </a:t>
                      </a:r>
                      <a:r>
                        <a:rPr lang="en-US" sz="1200" u="sng">
                          <a:solidFill>
                            <a:schemeClr val="hlink"/>
                          </a:solidFill>
                          <a:latin typeface="Arial"/>
                          <a:ea typeface="Arial"/>
                          <a:cs typeface="Arial"/>
                          <a:sym typeface="Arial"/>
                          <a:hlinkClick r:id="rId5"/>
                        </a:rPr>
                        <a:t>Rack 1973</a:t>
                      </a:r>
                      <a:endParaRPr/>
                    </a:p>
                  </a:txBody>
                  <a:tcPr marL="58100" marR="5810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248275">
                <a:tc>
                  <a:txBody>
                    <a:bodyPr/>
                    <a:lstStyle/>
                    <a:p>
                      <a:pPr marL="0" marR="0" lvl="0" indent="0" algn="l" rtl="0">
                        <a:lnSpc>
                          <a:spcPct val="115000"/>
                        </a:lnSpc>
                        <a:spcBef>
                          <a:spcPts val="0"/>
                        </a:spcBef>
                        <a:spcAft>
                          <a:spcPts val="0"/>
                        </a:spcAft>
                        <a:buClr>
                          <a:schemeClr val="dk1"/>
                        </a:buClr>
                        <a:buSzPts val="1400"/>
                        <a:buFont typeface="Arial"/>
                        <a:buNone/>
                      </a:pPr>
                      <a:r>
                        <a:rPr lang="en-US" sz="1200"/>
                        <a:t>Weighted Final Score</a:t>
                      </a:r>
                      <a:endParaRPr sz="1200">
                        <a:latin typeface="Arial"/>
                        <a:ea typeface="Arial"/>
                        <a:cs typeface="Arial"/>
                        <a:sym typeface="Arial"/>
                      </a:endParaRPr>
                    </a:p>
                  </a:txBody>
                  <a:tcPr marL="58100" marR="58100" marT="0" marB="0">
                    <a:lnR w="12700" cap="flat" cmpd="sng" algn="ctr">
                      <a:solidFill>
                        <a:schemeClr val="tx1"/>
                      </a:solidFill>
                      <a:prstDash val="solid"/>
                      <a:round/>
                      <a:headEnd type="none" w="med" len="med"/>
                      <a:tailEnd type="none" w="med" len="med"/>
                    </a:lnR>
                  </a:tcPr>
                </a:tc>
                <a:tc>
                  <a:txBody>
                    <a:bodyPr/>
                    <a:lstStyle/>
                    <a:p>
                      <a:pPr marL="0" marR="0" lvl="0" indent="0" algn="l" rtl="0">
                        <a:lnSpc>
                          <a:spcPct val="115000"/>
                        </a:lnSpc>
                        <a:spcBef>
                          <a:spcPts val="0"/>
                        </a:spcBef>
                        <a:spcAft>
                          <a:spcPts val="0"/>
                        </a:spcAft>
                        <a:buClr>
                          <a:schemeClr val="dk1"/>
                        </a:buClr>
                        <a:buSzPts val="1400"/>
                        <a:buFont typeface="Arial"/>
                        <a:buNone/>
                      </a:pPr>
                      <a:r>
                        <a:rPr lang="en-US" sz="1200" b="1" dirty="0"/>
                        <a:t>4.35</a:t>
                      </a:r>
                      <a:endParaRPr sz="1200" b="1" dirty="0">
                        <a:latin typeface="Arial"/>
                        <a:ea typeface="Arial"/>
                        <a:cs typeface="Arial"/>
                        <a:sym typeface="Arial"/>
                      </a:endParaRPr>
                    </a:p>
                  </a:txBody>
                  <a:tcPr marL="58100" marR="581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endParaRPr/>
                    </a:p>
                  </a:txBody>
                  <a:tcPr marL="58100" marR="5810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r h="457500">
                <a:tc>
                  <a:txBody>
                    <a:bodyPr/>
                    <a:lstStyle/>
                    <a:p>
                      <a:pPr marL="0" marR="0" lvl="0" indent="0" algn="l" rtl="0">
                        <a:lnSpc>
                          <a:spcPct val="115000"/>
                        </a:lnSpc>
                        <a:spcBef>
                          <a:spcPts val="0"/>
                        </a:spcBef>
                        <a:spcAft>
                          <a:spcPts val="0"/>
                        </a:spcAft>
                        <a:buClr>
                          <a:schemeClr val="dk1"/>
                        </a:buClr>
                        <a:buSzPts val="1400"/>
                        <a:buFont typeface="Arial"/>
                        <a:buNone/>
                      </a:pPr>
                      <a:r>
                        <a:rPr lang="en-US" sz="1200"/>
                        <a:t>Recommended Salary Increase</a:t>
                      </a:r>
                      <a:endParaRPr sz="1200">
                        <a:latin typeface="Arial"/>
                        <a:ea typeface="Arial"/>
                        <a:cs typeface="Arial"/>
                        <a:sym typeface="Arial"/>
                      </a:endParaRPr>
                    </a:p>
                  </a:txBody>
                  <a:tcPr marL="58100" marR="58100" marT="0" marB="0">
                    <a:lnR w="12700" cap="flat" cmpd="sng" algn="ctr">
                      <a:solidFill>
                        <a:schemeClr val="tx1"/>
                      </a:solidFill>
                      <a:prstDash val="solid"/>
                      <a:round/>
                      <a:headEnd type="none" w="med" len="med"/>
                      <a:tailEnd type="none" w="med" len="med"/>
                    </a:lnR>
                  </a:tcPr>
                </a:tc>
                <a:tc>
                  <a:txBody>
                    <a:bodyPr/>
                    <a:lstStyle/>
                    <a:p>
                      <a:pPr marL="0" marR="0" lvl="0" indent="0" algn="l" rtl="0">
                        <a:lnSpc>
                          <a:spcPct val="115000"/>
                        </a:lnSpc>
                        <a:spcBef>
                          <a:spcPts val="0"/>
                        </a:spcBef>
                        <a:spcAft>
                          <a:spcPts val="0"/>
                        </a:spcAft>
                        <a:buClr>
                          <a:schemeClr val="dk1"/>
                        </a:buClr>
                        <a:buSzPts val="1400"/>
                        <a:buFont typeface="Arial"/>
                        <a:buNone/>
                      </a:pPr>
                      <a:r>
                        <a:rPr lang="en-US" sz="1200" dirty="0"/>
                        <a:t>5% Increase. </a:t>
                      </a:r>
                      <a:endParaRPr sz="1200" dirty="0">
                        <a:latin typeface="Arial"/>
                        <a:ea typeface="Arial"/>
                        <a:cs typeface="Arial"/>
                        <a:sym typeface="Arial"/>
                      </a:endParaRPr>
                    </a:p>
                  </a:txBody>
                  <a:tcPr marL="58100" marR="581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endParaRPr/>
                    </a:p>
                  </a:txBody>
                  <a:tcPr marL="58100" marR="5810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9"/>
                  </a:ext>
                </a:extLst>
              </a:tr>
              <a:tr h="1829625">
                <a:tc>
                  <a:txBody>
                    <a:bodyPr/>
                    <a:lstStyle/>
                    <a:p>
                      <a:pPr marL="0" marR="0" lvl="0" indent="0" algn="l" rtl="0">
                        <a:lnSpc>
                          <a:spcPct val="115000"/>
                        </a:lnSpc>
                        <a:spcBef>
                          <a:spcPts val="0"/>
                        </a:spcBef>
                        <a:spcAft>
                          <a:spcPts val="0"/>
                        </a:spcAft>
                        <a:buClr>
                          <a:schemeClr val="dk1"/>
                        </a:buClr>
                        <a:buSzPts val="1400"/>
                        <a:buFont typeface="Arial"/>
                        <a:buNone/>
                      </a:pPr>
                      <a:r>
                        <a:rPr lang="en-US" sz="1200"/>
                        <a:t>Notes/Manager Comments</a:t>
                      </a:r>
                      <a:endParaRPr sz="1200">
                        <a:latin typeface="Arial"/>
                        <a:ea typeface="Arial"/>
                        <a:cs typeface="Arial"/>
                        <a:sym typeface="Arial"/>
                      </a:endParaRPr>
                    </a:p>
                  </a:txBody>
                  <a:tcPr marL="58100" marR="58100" marT="0" marB="0">
                    <a:lnR w="12700" cap="flat" cmpd="sng" algn="ctr">
                      <a:solidFill>
                        <a:schemeClr val="tx1"/>
                      </a:solidFill>
                      <a:prstDash val="solid"/>
                      <a:round/>
                      <a:headEnd type="none" w="med" len="med"/>
                      <a:tailEnd type="none" w="med" len="med"/>
                    </a:lnR>
                  </a:tcPr>
                </a:tc>
                <a:tc>
                  <a:txBody>
                    <a:bodyPr/>
                    <a:lstStyle/>
                    <a:p>
                      <a:pPr marL="0" marR="0" lvl="0" indent="0" algn="l" rtl="0">
                        <a:lnSpc>
                          <a:spcPct val="115000"/>
                        </a:lnSpc>
                        <a:spcBef>
                          <a:spcPts val="0"/>
                        </a:spcBef>
                        <a:spcAft>
                          <a:spcPts val="0"/>
                        </a:spcAft>
                        <a:buClr>
                          <a:schemeClr val="dk1"/>
                        </a:buClr>
                        <a:buSzPts val="1400"/>
                        <a:buFont typeface="Arial"/>
                        <a:buNone/>
                      </a:pPr>
                      <a:r>
                        <a:rPr lang="en-US" sz="1200"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5"/>
                            </a:ext>
                          </a:extLst>
                        </a:rPr>
                        <a:t>Sakshi shows good attention to details and great overall management of multiple tasks across various projects. </a:t>
                      </a:r>
                      <a:endParaRPr sz="1200"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6"/>
                          </a:ext>
                        </a:extLst>
                      </a:endParaRPr>
                    </a:p>
                    <a:p>
                      <a:pPr marL="0" marR="0" lvl="0" indent="0" algn="l" rtl="0">
                        <a:lnSpc>
                          <a:spcPct val="115000"/>
                        </a:lnSpc>
                        <a:spcBef>
                          <a:spcPts val="800"/>
                        </a:spcBef>
                        <a:spcAft>
                          <a:spcPts val="0"/>
                        </a:spcAft>
                        <a:buClr>
                          <a:schemeClr val="dk1"/>
                        </a:buClr>
                        <a:buSzPts val="1400"/>
                        <a:buFont typeface="Arial"/>
                        <a:buNone/>
                      </a:pPr>
                      <a:r>
                        <a:rPr lang="en-US" sz="1200"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7"/>
                            </a:ext>
                          </a:extLst>
                        </a:rPr>
                        <a:t>Would recommend increasing her project management skills by learning new concepts and tools related to project planning and execution.</a:t>
                      </a:r>
                      <a:endParaRPr sz="1200" dirty="0">
                        <a:latin typeface="Arial"/>
                        <a:ea typeface="Arial"/>
                        <a:cs typeface="Arial"/>
                        <a:sym typeface="Arial"/>
                      </a:endParaRPr>
                    </a:p>
                  </a:txBody>
                  <a:tcPr marL="58100" marR="581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endParaRPr dirty="0"/>
                    </a:p>
                  </a:txBody>
                  <a:tcPr marL="58100" marR="5810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23F48-8367-FBA0-1AA6-C0B803C48091}"/>
              </a:ext>
            </a:extLst>
          </p:cNvPr>
          <p:cNvSpPr>
            <a:spLocks noGrp="1"/>
          </p:cNvSpPr>
          <p:nvPr>
            <p:ph type="title"/>
          </p:nvPr>
        </p:nvSpPr>
        <p:spPr/>
        <p:txBody>
          <a:bodyPr/>
          <a:lstStyle/>
          <a:p>
            <a:r>
              <a:rPr lang="en-US" dirty="0"/>
              <a:t>Production</a:t>
            </a:r>
          </a:p>
        </p:txBody>
      </p:sp>
    </p:spTree>
    <p:extLst>
      <p:ext uri="{BB962C8B-B14F-4D97-AF65-F5344CB8AC3E}">
        <p14:creationId xmlns:p14="http://schemas.microsoft.com/office/powerpoint/2010/main" val="1804134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CC221-C294-E391-1644-2738A80AC0BF}"/>
              </a:ext>
            </a:extLst>
          </p:cNvPr>
          <p:cNvSpPr>
            <a:spLocks noGrp="1"/>
          </p:cNvSpPr>
          <p:nvPr>
            <p:ph type="title"/>
          </p:nvPr>
        </p:nvSpPr>
        <p:spPr/>
        <p:txBody>
          <a:bodyPr/>
          <a:lstStyle/>
          <a:p>
            <a:endParaRPr lang="en-US"/>
          </a:p>
        </p:txBody>
      </p:sp>
      <p:graphicFrame>
        <p:nvGraphicFramePr>
          <p:cNvPr id="3" name="Table 2">
            <a:extLst>
              <a:ext uri="{FF2B5EF4-FFF2-40B4-BE49-F238E27FC236}">
                <a16:creationId xmlns:a16="http://schemas.microsoft.com/office/drawing/2014/main" id="{EF09BAB7-6EBD-E5A4-54D5-165DE280D22B}"/>
              </a:ext>
            </a:extLst>
          </p:cNvPr>
          <p:cNvGraphicFramePr>
            <a:graphicFrameLocks noGrp="1"/>
          </p:cNvGraphicFramePr>
          <p:nvPr>
            <p:extLst>
              <p:ext uri="{D42A27DB-BD31-4B8C-83A1-F6EECF244321}">
                <p14:modId xmlns:p14="http://schemas.microsoft.com/office/powerpoint/2010/main" val="3150303398"/>
              </p:ext>
            </p:extLst>
          </p:nvPr>
        </p:nvGraphicFramePr>
        <p:xfrm>
          <a:off x="259491" y="-11624"/>
          <a:ext cx="10703776" cy="6869624"/>
        </p:xfrm>
        <a:graphic>
          <a:graphicData uri="http://schemas.openxmlformats.org/drawingml/2006/table">
            <a:tbl>
              <a:tblPr>
                <a:tableStyleId>{5C22544A-7EE6-4342-B048-85BDC9FD1C3A}</a:tableStyleId>
              </a:tblPr>
              <a:tblGrid>
                <a:gridCol w="2000146">
                  <a:extLst>
                    <a:ext uri="{9D8B030D-6E8A-4147-A177-3AD203B41FA5}">
                      <a16:colId xmlns:a16="http://schemas.microsoft.com/office/drawing/2014/main" val="2592264385"/>
                    </a:ext>
                  </a:extLst>
                </a:gridCol>
                <a:gridCol w="305199">
                  <a:extLst>
                    <a:ext uri="{9D8B030D-6E8A-4147-A177-3AD203B41FA5}">
                      <a16:colId xmlns:a16="http://schemas.microsoft.com/office/drawing/2014/main" val="1806754723"/>
                    </a:ext>
                  </a:extLst>
                </a:gridCol>
                <a:gridCol w="305199">
                  <a:extLst>
                    <a:ext uri="{9D8B030D-6E8A-4147-A177-3AD203B41FA5}">
                      <a16:colId xmlns:a16="http://schemas.microsoft.com/office/drawing/2014/main" val="3084932237"/>
                    </a:ext>
                  </a:extLst>
                </a:gridCol>
                <a:gridCol w="2697744">
                  <a:extLst>
                    <a:ext uri="{9D8B030D-6E8A-4147-A177-3AD203B41FA5}">
                      <a16:colId xmlns:a16="http://schemas.microsoft.com/office/drawing/2014/main" val="638956068"/>
                    </a:ext>
                  </a:extLst>
                </a:gridCol>
                <a:gridCol w="2697744">
                  <a:extLst>
                    <a:ext uri="{9D8B030D-6E8A-4147-A177-3AD203B41FA5}">
                      <a16:colId xmlns:a16="http://schemas.microsoft.com/office/drawing/2014/main" val="1497330570"/>
                    </a:ext>
                  </a:extLst>
                </a:gridCol>
                <a:gridCol w="2697744">
                  <a:extLst>
                    <a:ext uri="{9D8B030D-6E8A-4147-A177-3AD203B41FA5}">
                      <a16:colId xmlns:a16="http://schemas.microsoft.com/office/drawing/2014/main" val="416685599"/>
                    </a:ext>
                  </a:extLst>
                </a:gridCol>
              </a:tblGrid>
              <a:tr h="247870">
                <a:tc>
                  <a:txBody>
                    <a:bodyPr/>
                    <a:lstStyle/>
                    <a:p>
                      <a:pPr algn="l" fontAlgn="b">
                        <a:buNone/>
                      </a:pPr>
                      <a:r>
                        <a:rPr lang="en-US" sz="800" u="none" strike="noStrike" dirty="0">
                          <a:effectLst/>
                        </a:rPr>
                        <a:t>Details</a:t>
                      </a:r>
                      <a:endParaRPr lang="en-US" sz="800" b="1" i="0" u="none" strike="noStrike" dirty="0">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b="1" i="0" u="none" strike="noStrike" dirty="0">
                          <a:solidFill>
                            <a:srgbClr val="000000"/>
                          </a:solidFill>
                          <a:effectLst/>
                          <a:latin typeface="Aptos Narrow" panose="020B0004020202020204" pitchFamily="34" charset="0"/>
                        </a:rPr>
                        <a:t>Performance</a:t>
                      </a:r>
                    </a:p>
                  </a:txBody>
                  <a:tcPr marL="5453" marR="5453" marT="5453" marB="0" anchor="b"/>
                </a:tc>
                <a:tc>
                  <a:txBody>
                    <a:bodyPr/>
                    <a:lstStyle/>
                    <a:p>
                      <a:pPr algn="r" fontAlgn="b">
                        <a:buNone/>
                      </a:pPr>
                      <a:endParaRPr lang="en-US" sz="800" b="1" i="0" u="none" strike="noStrike" dirty="0">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Criteria</a:t>
                      </a:r>
                      <a:endParaRPr lang="en-US" sz="800" b="1"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Comments</a:t>
                      </a:r>
                      <a:endParaRPr lang="en-US" sz="800" b="1"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Links</a:t>
                      </a:r>
                      <a:endParaRPr lang="en-US" sz="800" b="1" i="0" u="none" strike="noStrike">
                        <a:solidFill>
                          <a:srgbClr val="000000"/>
                        </a:solidFill>
                        <a:effectLst/>
                        <a:latin typeface="Aptos Narrow" panose="020B0004020202020204" pitchFamily="34" charset="0"/>
                      </a:endParaRPr>
                    </a:p>
                  </a:txBody>
                  <a:tcPr marL="5453" marR="5453" marT="5453" marB="0" anchor="b"/>
                </a:tc>
                <a:extLst>
                  <a:ext uri="{0D108BD9-81ED-4DB2-BD59-A6C34878D82A}">
                    <a16:rowId xmlns:a16="http://schemas.microsoft.com/office/drawing/2014/main" val="1467252457"/>
                  </a:ext>
                </a:extLst>
              </a:tr>
              <a:tr h="126662">
                <a:tc>
                  <a:txBody>
                    <a:bodyPr/>
                    <a:lstStyle/>
                    <a:p>
                      <a:pPr algn="l" fontAlgn="b">
                        <a:buNone/>
                      </a:pPr>
                      <a:r>
                        <a:rPr lang="en-US" sz="800" u="none" strike="noStrike" dirty="0">
                          <a:effectLst/>
                        </a:rPr>
                        <a:t>Ryan </a:t>
                      </a:r>
                      <a:r>
                        <a:rPr lang="en-US" sz="800" u="none" strike="noStrike" dirty="0" err="1">
                          <a:effectLst/>
                        </a:rPr>
                        <a:t>LaVigne</a:t>
                      </a:r>
                      <a:r>
                        <a:rPr lang="en-US" sz="800" u="none" strike="noStrike" dirty="0">
                          <a:effectLst/>
                        </a:rPr>
                        <a:t> (Employee name)</a:t>
                      </a: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1"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1"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1"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1"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1" i="0" u="none" strike="noStrike">
                        <a:solidFill>
                          <a:srgbClr val="000000"/>
                        </a:solidFill>
                        <a:effectLst/>
                        <a:latin typeface="Aptos Narrow" panose="020B0004020202020204" pitchFamily="34" charset="0"/>
                      </a:endParaRPr>
                    </a:p>
                  </a:txBody>
                  <a:tcPr marL="5453" marR="5453" marT="5453" marB="0" anchor="b"/>
                </a:tc>
                <a:extLst>
                  <a:ext uri="{0D108BD9-81ED-4DB2-BD59-A6C34878D82A}">
                    <a16:rowId xmlns:a16="http://schemas.microsoft.com/office/drawing/2014/main" val="3471532466"/>
                  </a:ext>
                </a:extLst>
              </a:tr>
              <a:tr h="126662">
                <a:tc>
                  <a:txBody>
                    <a:bodyPr/>
                    <a:lstStyle/>
                    <a:p>
                      <a:pPr algn="l" fontAlgn="b">
                        <a:buNone/>
                      </a:pPr>
                      <a:r>
                        <a:rPr lang="en-US" sz="800" u="none" strike="noStrike" dirty="0">
                          <a:effectLst/>
                        </a:rPr>
                        <a:t>Sr. Manufacturing Mechanic (Role)</a:t>
                      </a: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extLst>
                  <a:ext uri="{0D108BD9-81ED-4DB2-BD59-A6C34878D82A}">
                    <a16:rowId xmlns:a16="http://schemas.microsoft.com/office/drawing/2014/main" val="913783090"/>
                  </a:ext>
                </a:extLst>
              </a:tr>
              <a:tr h="611495">
                <a:tc>
                  <a:txBody>
                    <a:bodyPr/>
                    <a:lstStyle/>
                    <a:p>
                      <a:pPr algn="l" fontAlgn="b">
                        <a:buNone/>
                      </a:pPr>
                      <a:r>
                        <a:rPr lang="en-US" sz="800" u="none" strike="noStrike" dirty="0">
                          <a:effectLst/>
                        </a:rPr>
                        <a:t>Quality of Work/Technical Accuracy</a:t>
                      </a: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r" fontAlgn="b">
                        <a:buNone/>
                      </a:pPr>
                      <a:r>
                        <a:rPr lang="en-US" sz="800" u="none" strike="noStrike" dirty="0">
                          <a:effectLst/>
                        </a:rPr>
                        <a:t>4</a:t>
                      </a: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r" fontAlgn="b">
                        <a:buNone/>
                      </a:pP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Quality of root-cause analysis like fishbone, understanding of machine settings, recipe tuning, correctness of calculations, predictive ability (do fixes stay fixed?), mastery of instrument science, etc</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Built and designed autofiller. Methodically analyzing pump deterioration mechanism. Preparing rebuild instruction manual. Efforts will contribute to successful filler operation or selection of new pump. Still no work on maintenance, but filler has been priority.</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extLst>
                  <a:ext uri="{0D108BD9-81ED-4DB2-BD59-A6C34878D82A}">
                    <a16:rowId xmlns:a16="http://schemas.microsoft.com/office/drawing/2014/main" val="3918867706"/>
                  </a:ext>
                </a:extLst>
              </a:tr>
              <a:tr h="494468">
                <a:tc>
                  <a:txBody>
                    <a:bodyPr/>
                    <a:lstStyle/>
                    <a:p>
                      <a:pPr algn="l" fontAlgn="b">
                        <a:buNone/>
                      </a:pPr>
                      <a:r>
                        <a:rPr lang="en-US" sz="800" u="none" strike="noStrike">
                          <a:effectLst/>
                        </a:rPr>
                        <a:t>Productivity/Output/Efficiency</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r" fontAlgn="b">
                        <a:buNone/>
                      </a:pPr>
                      <a:r>
                        <a:rPr lang="en-US" sz="800" u="none" strike="noStrike" dirty="0">
                          <a:effectLst/>
                        </a:rPr>
                        <a:t>3</a:t>
                      </a: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r" fontAlgn="b">
                        <a:buNone/>
                      </a:pP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Project completion rate, cycle time improvement, downtime reduction due to engineering fixes, implementation of new fixtures, ability to run experiments efficiently (no wasted trials)</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Maintenance of equipment is biggest issue, which leads to loss of productivity and efficiency. Not much work on filler efficiency this month but he is working with Jason and Sanbir to analyze filler process and effectiveness. </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extLst>
                  <a:ext uri="{0D108BD9-81ED-4DB2-BD59-A6C34878D82A}">
                    <a16:rowId xmlns:a16="http://schemas.microsoft.com/office/drawing/2014/main" val="3883216892"/>
                  </a:ext>
                </a:extLst>
              </a:tr>
              <a:tr h="369078">
                <a:tc>
                  <a:txBody>
                    <a:bodyPr/>
                    <a:lstStyle/>
                    <a:p>
                      <a:pPr algn="l" fontAlgn="b">
                        <a:buNone/>
                      </a:pPr>
                      <a:r>
                        <a:rPr lang="en-US" sz="800" u="none" strike="noStrike">
                          <a:effectLst/>
                        </a:rPr>
                        <a:t>Attendance, Documentation, Reliability and Discipline</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r" fontAlgn="b">
                        <a:buNone/>
                      </a:pPr>
                      <a:r>
                        <a:rPr lang="en-US" sz="800" u="none" strike="noStrike" dirty="0">
                          <a:effectLst/>
                        </a:rPr>
                        <a:t>4</a:t>
                      </a: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r" fontAlgn="b">
                        <a:buNone/>
                      </a:pP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Quality of engineering documentation (PDCA), correct data logging like plots, statistical analysis, accuracy of technical reports, etc</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He has embraced new documentation process. No issues with attendance or reliability.</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extLst>
                  <a:ext uri="{0D108BD9-81ED-4DB2-BD59-A6C34878D82A}">
                    <a16:rowId xmlns:a16="http://schemas.microsoft.com/office/drawing/2014/main" val="3792324833"/>
                  </a:ext>
                </a:extLst>
              </a:tr>
              <a:tr h="853912">
                <a:tc>
                  <a:txBody>
                    <a:bodyPr/>
                    <a:lstStyle/>
                    <a:p>
                      <a:pPr algn="l" fontAlgn="b">
                        <a:buNone/>
                      </a:pPr>
                      <a:r>
                        <a:rPr lang="en-US" sz="800" u="none" strike="noStrike">
                          <a:effectLst/>
                        </a:rPr>
                        <a:t>Skill Growth, Ownership, Cross-Training, Mastery</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r" fontAlgn="b">
                        <a:buNone/>
                      </a:pPr>
                      <a:r>
                        <a:rPr lang="en-US" sz="800" u="none" strike="noStrike" dirty="0">
                          <a:effectLst/>
                        </a:rPr>
                        <a:t>5</a:t>
                      </a: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r" fontAlgn="b">
                        <a:buNone/>
                      </a:pP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Understanding of machine mechanics and science, ability to train operators and managers on principles, depth of troubleshooting capability, etc</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Growth of engineering skills in filler development and troubleshooting have exceeded expectations for a mechanic. Exceptional work on skill growth and machine mechanics this month. Deep dive into pump degradation mechanisms. Writing details SOP for pump rebuild with identification of failure mechanisms. Ownership of maintenance still lacking but I have not elevated that priority above the filler.</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https://docs.google.com/document/d/1HBsTK4HGh_fvpyPmmOFdSbheiI38-oiP/edit</a:t>
                      </a:r>
                      <a:endParaRPr lang="en-US" sz="800" b="0" i="0" u="none" strike="noStrike">
                        <a:solidFill>
                          <a:srgbClr val="000000"/>
                        </a:solidFill>
                        <a:effectLst/>
                        <a:latin typeface="Aptos Narrow" panose="020B0004020202020204" pitchFamily="34" charset="0"/>
                      </a:endParaRPr>
                    </a:p>
                  </a:txBody>
                  <a:tcPr marL="5453" marR="5453" marT="5453" marB="0" anchor="b"/>
                </a:tc>
                <a:extLst>
                  <a:ext uri="{0D108BD9-81ED-4DB2-BD59-A6C34878D82A}">
                    <a16:rowId xmlns:a16="http://schemas.microsoft.com/office/drawing/2014/main" val="1233026271"/>
                  </a:ext>
                </a:extLst>
              </a:tr>
              <a:tr h="490287">
                <a:tc>
                  <a:txBody>
                    <a:bodyPr/>
                    <a:lstStyle/>
                    <a:p>
                      <a:pPr algn="l" fontAlgn="b">
                        <a:buNone/>
                      </a:pPr>
                      <a:r>
                        <a:rPr lang="en-US" sz="800" u="none" strike="noStrike">
                          <a:effectLst/>
                        </a:rPr>
                        <a:t>Teamwork, Safety and Communication</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r" fontAlgn="b">
                        <a:buNone/>
                      </a:pPr>
                      <a:r>
                        <a:rPr lang="en-US" sz="800" u="none" strike="noStrike" dirty="0">
                          <a:effectLst/>
                        </a:rPr>
                        <a:t>3</a:t>
                      </a: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r" fontAlgn="b">
                        <a:buNone/>
                      </a:pP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Working with QA/QC, working with R&amp;D, presenting data clearly, etc</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Engineering teamwork improving with experience. Communication between team has been a previous problem, but no problems recently. Safety good - no problems. Presentations great.</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extLst>
                  <a:ext uri="{0D108BD9-81ED-4DB2-BD59-A6C34878D82A}">
                    <a16:rowId xmlns:a16="http://schemas.microsoft.com/office/drawing/2014/main" val="117408933"/>
                  </a:ext>
                </a:extLst>
              </a:tr>
              <a:tr h="126662">
                <a:tc>
                  <a:txBody>
                    <a:bodyPr/>
                    <a:lstStyle/>
                    <a:p>
                      <a:pPr algn="l" fontAlgn="b">
                        <a:buNone/>
                      </a:pPr>
                      <a:r>
                        <a:rPr lang="en-US" sz="800" u="none" strike="noStrike">
                          <a:effectLst/>
                        </a:rPr>
                        <a:t>Weighted Final Score</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r" fontAlgn="b">
                        <a:buNone/>
                      </a:pPr>
                      <a:r>
                        <a:rPr lang="en-US" sz="800" u="none" strike="noStrike" dirty="0">
                          <a:effectLst/>
                        </a:rPr>
                        <a:t>3.8</a:t>
                      </a: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r" fontAlgn="b">
                        <a:buNone/>
                      </a:pP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extLst>
                  <a:ext uri="{0D108BD9-81ED-4DB2-BD59-A6C34878D82A}">
                    <a16:rowId xmlns:a16="http://schemas.microsoft.com/office/drawing/2014/main" val="504315388"/>
                  </a:ext>
                </a:extLst>
              </a:tr>
              <a:tr h="126662">
                <a:tc>
                  <a:txBody>
                    <a:bodyPr/>
                    <a:lstStyle/>
                    <a:p>
                      <a:pPr algn="l" fontAlgn="b">
                        <a:buNone/>
                      </a:pPr>
                      <a:r>
                        <a:rPr lang="en-US" sz="800" u="none" strike="noStrike">
                          <a:effectLst/>
                        </a:rPr>
                        <a:t>Recommended Salary Increase</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r" fontAlgn="b">
                        <a:buNone/>
                      </a:pPr>
                      <a:r>
                        <a:rPr lang="en-US" sz="800" u="none" strike="noStrike" dirty="0">
                          <a:effectLst/>
                        </a:rPr>
                        <a:t>4%</a:t>
                      </a: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r" fontAlgn="b">
                        <a:buNone/>
                      </a:pP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extLst>
                  <a:ext uri="{0D108BD9-81ED-4DB2-BD59-A6C34878D82A}">
                    <a16:rowId xmlns:a16="http://schemas.microsoft.com/office/drawing/2014/main" val="2942277673"/>
                  </a:ext>
                </a:extLst>
              </a:tr>
              <a:tr h="3278079">
                <a:tc>
                  <a:txBody>
                    <a:bodyPr/>
                    <a:lstStyle/>
                    <a:p>
                      <a:pPr algn="l" fontAlgn="b">
                        <a:buNone/>
                      </a:pPr>
                      <a:r>
                        <a:rPr lang="en-US" sz="800" u="none" strike="noStrike" dirty="0">
                          <a:effectLst/>
                        </a:rPr>
                        <a:t>Notes/Manager Comments</a:t>
                      </a: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Shown good engineering skills. Structure to documentation and reporting has benefited Ryan immensely. Equipment maintenance must improve.</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dirty="0">
                          <a:effectLst/>
                        </a:rPr>
                        <a:t> </a:t>
                      </a: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dirty="0">
                          <a:effectLst/>
                        </a:rPr>
                        <a:t> </a:t>
                      </a:r>
                      <a:endParaRPr lang="en-US" sz="800" b="0" i="0" u="none" strike="noStrike" dirty="0">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453" marR="5453" marT="5453" marB="0" anchor="b"/>
                </a:tc>
                <a:tc>
                  <a:txBody>
                    <a:bodyPr/>
                    <a:lstStyle/>
                    <a:p>
                      <a:pPr algn="l" fontAlgn="b">
                        <a:buNone/>
                      </a:pPr>
                      <a:r>
                        <a:rPr lang="en-US" sz="800" u="none" strike="noStrike" dirty="0">
                          <a:effectLst/>
                        </a:rPr>
                        <a:t> </a:t>
                      </a:r>
                      <a:endParaRPr lang="en-US" sz="800" b="0" i="0" u="none" strike="noStrike" dirty="0">
                        <a:solidFill>
                          <a:srgbClr val="000000"/>
                        </a:solidFill>
                        <a:effectLst/>
                        <a:latin typeface="Aptos Narrow" panose="020B0004020202020204" pitchFamily="34" charset="0"/>
                      </a:endParaRPr>
                    </a:p>
                  </a:txBody>
                  <a:tcPr marL="5453" marR="5453" marT="5453" marB="0" anchor="b"/>
                </a:tc>
                <a:extLst>
                  <a:ext uri="{0D108BD9-81ED-4DB2-BD59-A6C34878D82A}">
                    <a16:rowId xmlns:a16="http://schemas.microsoft.com/office/drawing/2014/main" val="1347923352"/>
                  </a:ext>
                </a:extLst>
              </a:tr>
            </a:tbl>
          </a:graphicData>
        </a:graphic>
      </p:graphicFrame>
    </p:spTree>
    <p:extLst>
      <p:ext uri="{BB962C8B-B14F-4D97-AF65-F5344CB8AC3E}">
        <p14:creationId xmlns:p14="http://schemas.microsoft.com/office/powerpoint/2010/main" val="2767795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9AA2D-4375-06BF-EF83-9B10655BD506}"/>
              </a:ext>
            </a:extLst>
          </p:cNvPr>
          <p:cNvSpPr>
            <a:spLocks noGrp="1"/>
          </p:cNvSpPr>
          <p:nvPr>
            <p:ph type="title"/>
          </p:nvPr>
        </p:nvSpPr>
        <p:spPr/>
        <p:txBody>
          <a:bodyPr/>
          <a:lstStyle/>
          <a:p>
            <a:endParaRPr lang="en-US"/>
          </a:p>
        </p:txBody>
      </p:sp>
      <p:graphicFrame>
        <p:nvGraphicFramePr>
          <p:cNvPr id="3" name="Table 2">
            <a:extLst>
              <a:ext uri="{FF2B5EF4-FFF2-40B4-BE49-F238E27FC236}">
                <a16:creationId xmlns:a16="http://schemas.microsoft.com/office/drawing/2014/main" id="{2FFFB38F-8A5B-298D-C3F3-15C3856CD12E}"/>
              </a:ext>
            </a:extLst>
          </p:cNvPr>
          <p:cNvGraphicFramePr>
            <a:graphicFrameLocks noGrp="1"/>
          </p:cNvGraphicFramePr>
          <p:nvPr>
            <p:extLst>
              <p:ext uri="{D42A27DB-BD31-4B8C-83A1-F6EECF244321}">
                <p14:modId xmlns:p14="http://schemas.microsoft.com/office/powerpoint/2010/main" val="436591540"/>
              </p:ext>
            </p:extLst>
          </p:nvPr>
        </p:nvGraphicFramePr>
        <p:xfrm>
          <a:off x="89855" y="51974"/>
          <a:ext cx="11008205" cy="6389169"/>
        </p:xfrm>
        <a:graphic>
          <a:graphicData uri="http://schemas.openxmlformats.org/drawingml/2006/table">
            <a:tbl>
              <a:tblPr>
                <a:tableStyleId>{5C22544A-7EE6-4342-B048-85BDC9FD1C3A}</a:tableStyleId>
              </a:tblPr>
              <a:tblGrid>
                <a:gridCol w="2032040">
                  <a:extLst>
                    <a:ext uri="{9D8B030D-6E8A-4147-A177-3AD203B41FA5}">
                      <a16:colId xmlns:a16="http://schemas.microsoft.com/office/drawing/2014/main" val="2627602967"/>
                    </a:ext>
                  </a:extLst>
                </a:gridCol>
                <a:gridCol w="310067">
                  <a:extLst>
                    <a:ext uri="{9D8B030D-6E8A-4147-A177-3AD203B41FA5}">
                      <a16:colId xmlns:a16="http://schemas.microsoft.com/office/drawing/2014/main" val="2585017264"/>
                    </a:ext>
                  </a:extLst>
                </a:gridCol>
                <a:gridCol w="348825">
                  <a:extLst>
                    <a:ext uri="{9D8B030D-6E8A-4147-A177-3AD203B41FA5}">
                      <a16:colId xmlns:a16="http://schemas.microsoft.com/office/drawing/2014/main" val="766357814"/>
                    </a:ext>
                  </a:extLst>
                </a:gridCol>
                <a:gridCol w="2740763">
                  <a:extLst>
                    <a:ext uri="{9D8B030D-6E8A-4147-A177-3AD203B41FA5}">
                      <a16:colId xmlns:a16="http://schemas.microsoft.com/office/drawing/2014/main" val="322298780"/>
                    </a:ext>
                  </a:extLst>
                </a:gridCol>
                <a:gridCol w="2740763">
                  <a:extLst>
                    <a:ext uri="{9D8B030D-6E8A-4147-A177-3AD203B41FA5}">
                      <a16:colId xmlns:a16="http://schemas.microsoft.com/office/drawing/2014/main" val="3393043170"/>
                    </a:ext>
                  </a:extLst>
                </a:gridCol>
                <a:gridCol w="2835747">
                  <a:extLst>
                    <a:ext uri="{9D8B030D-6E8A-4147-A177-3AD203B41FA5}">
                      <a16:colId xmlns:a16="http://schemas.microsoft.com/office/drawing/2014/main" val="3628879831"/>
                    </a:ext>
                  </a:extLst>
                </a:gridCol>
              </a:tblGrid>
              <a:tr h="118243">
                <a:tc>
                  <a:txBody>
                    <a:bodyPr/>
                    <a:lstStyle/>
                    <a:p>
                      <a:pPr algn="l" fontAlgn="b">
                        <a:buNone/>
                      </a:pPr>
                      <a:r>
                        <a:rPr lang="en-US" sz="700" u="none" strike="noStrike">
                          <a:effectLst/>
                        </a:rPr>
                        <a:t>Details</a:t>
                      </a:r>
                      <a:endParaRPr lang="en-US" sz="700" b="1"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b="1" i="0" u="none" strike="noStrike" dirty="0">
                          <a:solidFill>
                            <a:srgbClr val="000000"/>
                          </a:solidFill>
                          <a:effectLst/>
                          <a:latin typeface="Aptos Narrow" panose="020B0004020202020204" pitchFamily="34" charset="0"/>
                        </a:rPr>
                        <a:t>Performance </a:t>
                      </a:r>
                    </a:p>
                  </a:txBody>
                  <a:tcPr marL="5542" marR="5542" marT="5542" marB="0" anchor="b"/>
                </a:tc>
                <a:tc>
                  <a:txBody>
                    <a:bodyPr/>
                    <a:lstStyle/>
                    <a:p>
                      <a:pPr algn="r" fontAlgn="b">
                        <a:buNone/>
                      </a:pPr>
                      <a:endParaRPr lang="en-US" sz="700" b="1" i="0" u="none" strike="noStrike" dirty="0">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Criteria</a:t>
                      </a:r>
                      <a:endParaRPr lang="en-US" sz="700" b="1"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Comments</a:t>
                      </a:r>
                      <a:endParaRPr lang="en-US" sz="700" b="1"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Links</a:t>
                      </a:r>
                      <a:endParaRPr lang="en-US" sz="700" b="1" i="0" u="none" strike="noStrike">
                        <a:solidFill>
                          <a:srgbClr val="000000"/>
                        </a:solidFill>
                        <a:effectLst/>
                        <a:latin typeface="Aptos Narrow" panose="020B0004020202020204" pitchFamily="34" charset="0"/>
                      </a:endParaRPr>
                    </a:p>
                  </a:txBody>
                  <a:tcPr marL="5542" marR="5542" marT="5542" marB="0" anchor="b"/>
                </a:tc>
                <a:extLst>
                  <a:ext uri="{0D108BD9-81ED-4DB2-BD59-A6C34878D82A}">
                    <a16:rowId xmlns:a16="http://schemas.microsoft.com/office/drawing/2014/main" val="4120326224"/>
                  </a:ext>
                </a:extLst>
              </a:tr>
              <a:tr h="118243">
                <a:tc>
                  <a:txBody>
                    <a:bodyPr/>
                    <a:lstStyle/>
                    <a:p>
                      <a:pPr algn="l" fontAlgn="b">
                        <a:buNone/>
                      </a:pPr>
                      <a:r>
                        <a:rPr lang="en-US" sz="700" u="none" strike="noStrike">
                          <a:effectLst/>
                        </a:rPr>
                        <a:t>Chris Ilkow (Employee Name)</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endParaRPr lang="en-US" sz="700" b="1" i="0" u="none" strike="noStrike" dirty="0">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1"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1"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1"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1" i="0" u="none" strike="noStrike">
                        <a:solidFill>
                          <a:srgbClr val="000000"/>
                        </a:solidFill>
                        <a:effectLst/>
                        <a:latin typeface="Aptos Narrow" panose="020B0004020202020204" pitchFamily="34" charset="0"/>
                      </a:endParaRPr>
                    </a:p>
                  </a:txBody>
                  <a:tcPr marL="5542" marR="5542" marT="5542" marB="0" anchor="b"/>
                </a:tc>
                <a:extLst>
                  <a:ext uri="{0D108BD9-81ED-4DB2-BD59-A6C34878D82A}">
                    <a16:rowId xmlns:a16="http://schemas.microsoft.com/office/drawing/2014/main" val="3197063701"/>
                  </a:ext>
                </a:extLst>
              </a:tr>
              <a:tr h="118243">
                <a:tc>
                  <a:txBody>
                    <a:bodyPr/>
                    <a:lstStyle/>
                    <a:p>
                      <a:pPr algn="l" fontAlgn="b">
                        <a:buNone/>
                      </a:pPr>
                      <a:r>
                        <a:rPr lang="en-US" sz="700" u="none" strike="noStrike">
                          <a:effectLst/>
                        </a:rPr>
                        <a:t>Process Engineer I (Role)</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5542" marR="5542" marT="5542" marB="0" anchor="b"/>
                </a:tc>
                <a:tc>
                  <a:txBody>
                    <a:bodyPr/>
                    <a:lstStyle/>
                    <a:p>
                      <a:pPr algn="l" fontAlgn="b">
                        <a:buNone/>
                      </a:pPr>
                      <a:r>
                        <a:rPr lang="en-US" sz="700" u="none" strike="noStrike">
                          <a:effectLst/>
                        </a:rPr>
                        <a:t> </a:t>
                      </a:r>
                      <a:endParaRPr lang="en-US" sz="700" b="1"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extLst>
                  <a:ext uri="{0D108BD9-81ED-4DB2-BD59-A6C34878D82A}">
                    <a16:rowId xmlns:a16="http://schemas.microsoft.com/office/drawing/2014/main" val="4118587599"/>
                  </a:ext>
                </a:extLst>
              </a:tr>
              <a:tr h="1005061">
                <a:tc>
                  <a:txBody>
                    <a:bodyPr/>
                    <a:lstStyle/>
                    <a:p>
                      <a:pPr algn="l" fontAlgn="b">
                        <a:buNone/>
                      </a:pPr>
                      <a:r>
                        <a:rPr lang="en-US" sz="700" u="none" strike="noStrike">
                          <a:effectLst/>
                        </a:rPr>
                        <a:t>Quality of Work/Technical Accuracy</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r" fontAlgn="b">
                        <a:buNone/>
                      </a:pPr>
                      <a:r>
                        <a:rPr lang="en-US" sz="700" u="none" strike="noStrike" dirty="0">
                          <a:effectLst/>
                        </a:rPr>
                        <a:t>4</a:t>
                      </a: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Ability to translate science to actionable process settings, developing and fitting scientific models, understanding failure physics, predicting behavior, etc</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Starting to yield valuable information regarding coaters. Binding and oscillations on cathode coater recently identified and fixed - a significant improvement compared to prior work. Also has hypotheses he is evaluating which may yield further improvement.</a:t>
                      </a:r>
                      <a:br>
                        <a:rPr lang="en-US" sz="700" u="none" strike="noStrike">
                          <a:effectLst/>
                        </a:rPr>
                      </a:br>
                      <a:br>
                        <a:rPr lang="en-US" sz="700" u="none" strike="noStrike">
                          <a:effectLst/>
                        </a:rPr>
                      </a:br>
                      <a:r>
                        <a:rPr lang="en-US" sz="700" u="none" strike="noStrike">
                          <a:effectLst/>
                        </a:rPr>
                        <a:t>Past work on stack pressure and air knife were successful projects led by him. I think he is capable and similar effects will follow on coaters with experience.</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sng" strike="noStrike">
                          <a:effectLst/>
                          <a:hlinkClick r:id="rId2"/>
                        </a:rPr>
                        <a:t>20251125 Cathode Coating Report.pptx</a:t>
                      </a:r>
                      <a:endParaRPr lang="en-US" sz="700" b="0" i="0" u="sng" strike="noStrike">
                        <a:solidFill>
                          <a:srgbClr val="467886"/>
                        </a:solidFill>
                        <a:effectLst/>
                        <a:latin typeface="Aptos Narrow" panose="020B0004020202020204" pitchFamily="34" charset="0"/>
                      </a:endParaRPr>
                    </a:p>
                  </a:txBody>
                  <a:tcPr marL="5542" marR="5542" marT="5542" marB="0" anchor="b"/>
                </a:tc>
                <a:extLst>
                  <a:ext uri="{0D108BD9-81ED-4DB2-BD59-A6C34878D82A}">
                    <a16:rowId xmlns:a16="http://schemas.microsoft.com/office/drawing/2014/main" val="2302895826"/>
                  </a:ext>
                </a:extLst>
              </a:tr>
              <a:tr h="502531">
                <a:tc>
                  <a:txBody>
                    <a:bodyPr/>
                    <a:lstStyle/>
                    <a:p>
                      <a:pPr algn="l" fontAlgn="b">
                        <a:buNone/>
                      </a:pPr>
                      <a:r>
                        <a:rPr lang="en-US" sz="700" u="none" strike="noStrike">
                          <a:effectLst/>
                        </a:rPr>
                        <a:t>Productivity/Output/Efficiency</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r" fontAlgn="b">
                        <a:buNone/>
                      </a:pPr>
                      <a:r>
                        <a:rPr lang="en-US" sz="700" u="none" strike="noStrike" dirty="0">
                          <a:effectLst/>
                        </a:rPr>
                        <a:t>3</a:t>
                      </a: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Ability to do DOE, ability to design experiments to reveal mechanisms, etc</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Improving in this area regarding equipment behavior. Struggled significantly at first to attack the problem but is starting to design experiments to provide insights into coating capability and equimpent improvements. </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extLst>
                  <a:ext uri="{0D108BD9-81ED-4DB2-BD59-A6C34878D82A}">
                    <a16:rowId xmlns:a16="http://schemas.microsoft.com/office/drawing/2014/main" val="1453456595"/>
                  </a:ext>
                </a:extLst>
              </a:tr>
              <a:tr h="251266">
                <a:tc>
                  <a:txBody>
                    <a:bodyPr/>
                    <a:lstStyle/>
                    <a:p>
                      <a:pPr algn="l" fontAlgn="b">
                        <a:buNone/>
                      </a:pPr>
                      <a:r>
                        <a:rPr lang="en-US" sz="700" u="none" strike="noStrike">
                          <a:effectLst/>
                        </a:rPr>
                        <a:t>Attendance, Documentation, Reliability and Discipline</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r" fontAlgn="b">
                        <a:buNone/>
                      </a:pPr>
                      <a:r>
                        <a:rPr lang="en-US" sz="700" u="none" strike="noStrike" dirty="0">
                          <a:effectLst/>
                        </a:rPr>
                        <a:t>3</a:t>
                      </a: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Reports explaining physical principles, reproducible experiments, scientific accuracy, etc</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Documentation must be improved. Probably his weakest area, but this is his first year working as an engineer. I think he will do well.</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extLst>
                  <a:ext uri="{0D108BD9-81ED-4DB2-BD59-A6C34878D82A}">
                    <a16:rowId xmlns:a16="http://schemas.microsoft.com/office/drawing/2014/main" val="4250924738"/>
                  </a:ext>
                </a:extLst>
              </a:tr>
              <a:tr h="376898">
                <a:tc>
                  <a:txBody>
                    <a:bodyPr/>
                    <a:lstStyle/>
                    <a:p>
                      <a:pPr algn="l" fontAlgn="b">
                        <a:buNone/>
                      </a:pPr>
                      <a:r>
                        <a:rPr lang="en-US" sz="700" u="none" strike="noStrike">
                          <a:effectLst/>
                        </a:rPr>
                        <a:t>Skill Growth, Ownership, Cross-Training, Mastery</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r" fontAlgn="b">
                        <a:buNone/>
                      </a:pPr>
                      <a:r>
                        <a:rPr lang="en-US" sz="700" u="none" strike="noStrike" dirty="0">
                          <a:effectLst/>
                        </a:rPr>
                        <a:t>5</a:t>
                      </a: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Creating new scientific models, creating engineering plots and ability to control parametrs, improvement of SOPs, teaching other engineers, etc</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He is growing and showing equimpent improvements. Owning the coaters. It took a few months, previous months might have been a 1 or 2, but he has show significant improvement in this area. </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extLst>
                  <a:ext uri="{0D108BD9-81ED-4DB2-BD59-A6C34878D82A}">
                    <a16:rowId xmlns:a16="http://schemas.microsoft.com/office/drawing/2014/main" val="1335213390"/>
                  </a:ext>
                </a:extLst>
              </a:tr>
              <a:tr h="436630">
                <a:tc>
                  <a:txBody>
                    <a:bodyPr/>
                    <a:lstStyle/>
                    <a:p>
                      <a:pPr algn="l" fontAlgn="b">
                        <a:buNone/>
                      </a:pPr>
                      <a:r>
                        <a:rPr lang="en-US" sz="700" u="none" strike="noStrike">
                          <a:effectLst/>
                        </a:rPr>
                        <a:t>Teamwork, Safety and Communication</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r" fontAlgn="b">
                        <a:buNone/>
                      </a:pPr>
                      <a:r>
                        <a:rPr lang="en-US" sz="700" u="none" strike="noStrike" dirty="0">
                          <a:effectLst/>
                        </a:rPr>
                        <a:t>4</a:t>
                      </a: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Communication skills, collaboration between all departments, simplify complex ideas, etc</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Good communicator. Goes to Andy for help frequently. Works closely with Alex and Shinju on coating. One complaint is that he should be more proactive about letting me know if he needs help or if things are behind.</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extLst>
                  <a:ext uri="{0D108BD9-81ED-4DB2-BD59-A6C34878D82A}">
                    <a16:rowId xmlns:a16="http://schemas.microsoft.com/office/drawing/2014/main" val="3972877981"/>
                  </a:ext>
                </a:extLst>
              </a:tr>
              <a:tr h="118243">
                <a:tc>
                  <a:txBody>
                    <a:bodyPr/>
                    <a:lstStyle/>
                    <a:p>
                      <a:pPr algn="l" fontAlgn="b">
                        <a:buNone/>
                      </a:pPr>
                      <a:r>
                        <a:rPr lang="en-US" sz="700" u="none" strike="noStrike">
                          <a:effectLst/>
                        </a:rPr>
                        <a:t>Weighted Final Score</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r" fontAlgn="b">
                        <a:buNone/>
                      </a:pPr>
                      <a:r>
                        <a:rPr lang="en-US" sz="700" u="none" strike="noStrike" dirty="0">
                          <a:effectLst/>
                        </a:rPr>
                        <a:t>3.7</a:t>
                      </a: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extLst>
                  <a:ext uri="{0D108BD9-81ED-4DB2-BD59-A6C34878D82A}">
                    <a16:rowId xmlns:a16="http://schemas.microsoft.com/office/drawing/2014/main" val="1853094845"/>
                  </a:ext>
                </a:extLst>
              </a:tr>
              <a:tr h="0">
                <a:tc>
                  <a:txBody>
                    <a:bodyPr/>
                    <a:lstStyle/>
                    <a:p>
                      <a:pPr algn="l" fontAlgn="b">
                        <a:buNone/>
                      </a:pPr>
                      <a:r>
                        <a:rPr lang="en-US" sz="700" u="none" strike="noStrike">
                          <a:effectLst/>
                        </a:rPr>
                        <a:t>Recommended Salary Increase</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r" fontAlgn="b">
                        <a:buNone/>
                      </a:pPr>
                      <a:r>
                        <a:rPr lang="en-US" sz="700" u="none" strike="noStrike" dirty="0">
                          <a:effectLst/>
                        </a:rPr>
                        <a:t>4%</a:t>
                      </a: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extLst>
                  <a:ext uri="{0D108BD9-81ED-4DB2-BD59-A6C34878D82A}">
                    <a16:rowId xmlns:a16="http://schemas.microsoft.com/office/drawing/2014/main" val="4050054341"/>
                  </a:ext>
                </a:extLst>
              </a:tr>
              <a:tr h="3130930">
                <a:tc>
                  <a:txBody>
                    <a:bodyPr/>
                    <a:lstStyle/>
                    <a:p>
                      <a:pPr algn="l" fontAlgn="b">
                        <a:buNone/>
                      </a:pPr>
                      <a:r>
                        <a:rPr lang="en-US" sz="700" u="none" strike="noStrike">
                          <a:effectLst/>
                        </a:rPr>
                        <a:t>Notes/Manager Comments</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Slow start for Chris this year, but he inherently understands how to solve problems. He is learning and improving and quantifyable improvements are starting to emerge.</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542" marR="5542" marT="5542" marB="0" anchor="b"/>
                </a:tc>
                <a:tc>
                  <a:txBody>
                    <a:bodyPr/>
                    <a:lstStyle/>
                    <a:p>
                      <a:pPr algn="l" fontAlgn="b">
                        <a:buNone/>
                      </a:pPr>
                      <a:r>
                        <a:rPr lang="en-US" sz="700" u="none" strike="noStrike" dirty="0">
                          <a:effectLst/>
                        </a:rPr>
                        <a:t> </a:t>
                      </a:r>
                      <a:endParaRPr lang="en-US" sz="700" b="0" i="0" u="none" strike="noStrike" dirty="0">
                        <a:solidFill>
                          <a:srgbClr val="000000"/>
                        </a:solidFill>
                        <a:effectLst/>
                        <a:latin typeface="Aptos Narrow" panose="020B0004020202020204" pitchFamily="34" charset="0"/>
                      </a:endParaRPr>
                    </a:p>
                  </a:txBody>
                  <a:tcPr marL="5542" marR="5542" marT="5542" marB="0" anchor="b"/>
                </a:tc>
                <a:extLst>
                  <a:ext uri="{0D108BD9-81ED-4DB2-BD59-A6C34878D82A}">
                    <a16:rowId xmlns:a16="http://schemas.microsoft.com/office/drawing/2014/main" val="2667213158"/>
                  </a:ext>
                </a:extLst>
              </a:tr>
            </a:tbl>
          </a:graphicData>
        </a:graphic>
      </p:graphicFrame>
    </p:spTree>
    <p:extLst>
      <p:ext uri="{BB962C8B-B14F-4D97-AF65-F5344CB8AC3E}">
        <p14:creationId xmlns:p14="http://schemas.microsoft.com/office/powerpoint/2010/main" val="334469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EB7B5-43B4-54B1-D06D-97B6A89C1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8550A-A347-38E3-228F-E6C6A6C79347}"/>
              </a:ext>
            </a:extLst>
          </p:cNvPr>
          <p:cNvSpPr>
            <a:spLocks noGrp="1"/>
          </p:cNvSpPr>
          <p:nvPr>
            <p:ph type="title"/>
          </p:nvPr>
        </p:nvSpPr>
        <p:spPr/>
        <p:txBody>
          <a:bodyPr/>
          <a:lstStyle/>
          <a:p>
            <a:endParaRPr lang="en-US"/>
          </a:p>
        </p:txBody>
      </p:sp>
      <p:graphicFrame>
        <p:nvGraphicFramePr>
          <p:cNvPr id="4" name="Table 3">
            <a:extLst>
              <a:ext uri="{FF2B5EF4-FFF2-40B4-BE49-F238E27FC236}">
                <a16:creationId xmlns:a16="http://schemas.microsoft.com/office/drawing/2014/main" id="{D3A5CDF6-56BD-96FF-0163-0296B5C8DC7D}"/>
              </a:ext>
            </a:extLst>
          </p:cNvPr>
          <p:cNvGraphicFramePr>
            <a:graphicFrameLocks noGrp="1"/>
          </p:cNvGraphicFramePr>
          <p:nvPr>
            <p:extLst>
              <p:ext uri="{D42A27DB-BD31-4B8C-83A1-F6EECF244321}">
                <p14:modId xmlns:p14="http://schemas.microsoft.com/office/powerpoint/2010/main" val="2514123264"/>
              </p:ext>
            </p:extLst>
          </p:nvPr>
        </p:nvGraphicFramePr>
        <p:xfrm>
          <a:off x="415883" y="-1"/>
          <a:ext cx="8518051" cy="6752614"/>
        </p:xfrm>
        <a:graphic>
          <a:graphicData uri="http://schemas.openxmlformats.org/drawingml/2006/table">
            <a:tbl>
              <a:tblPr>
                <a:tableStyleId>{5C22544A-7EE6-4342-B048-85BDC9FD1C3A}</a:tableStyleId>
              </a:tblPr>
              <a:tblGrid>
                <a:gridCol w="1944107">
                  <a:extLst>
                    <a:ext uri="{9D8B030D-6E8A-4147-A177-3AD203B41FA5}">
                      <a16:colId xmlns:a16="http://schemas.microsoft.com/office/drawing/2014/main" val="3085142261"/>
                    </a:ext>
                  </a:extLst>
                </a:gridCol>
                <a:gridCol w="296648">
                  <a:extLst>
                    <a:ext uri="{9D8B030D-6E8A-4147-A177-3AD203B41FA5}">
                      <a16:colId xmlns:a16="http://schemas.microsoft.com/office/drawing/2014/main" val="2491741433"/>
                    </a:ext>
                  </a:extLst>
                </a:gridCol>
                <a:gridCol w="296648">
                  <a:extLst>
                    <a:ext uri="{9D8B030D-6E8A-4147-A177-3AD203B41FA5}">
                      <a16:colId xmlns:a16="http://schemas.microsoft.com/office/drawing/2014/main" val="2923767"/>
                    </a:ext>
                  </a:extLst>
                </a:gridCol>
                <a:gridCol w="2622162">
                  <a:extLst>
                    <a:ext uri="{9D8B030D-6E8A-4147-A177-3AD203B41FA5}">
                      <a16:colId xmlns:a16="http://schemas.microsoft.com/office/drawing/2014/main" val="2581094870"/>
                    </a:ext>
                  </a:extLst>
                </a:gridCol>
                <a:gridCol w="2622162">
                  <a:extLst>
                    <a:ext uri="{9D8B030D-6E8A-4147-A177-3AD203B41FA5}">
                      <a16:colId xmlns:a16="http://schemas.microsoft.com/office/drawing/2014/main" val="1040273541"/>
                    </a:ext>
                  </a:extLst>
                </a:gridCol>
                <a:gridCol w="736324">
                  <a:extLst>
                    <a:ext uri="{9D8B030D-6E8A-4147-A177-3AD203B41FA5}">
                      <a16:colId xmlns:a16="http://schemas.microsoft.com/office/drawing/2014/main" val="1387500183"/>
                    </a:ext>
                  </a:extLst>
                </a:gridCol>
              </a:tblGrid>
              <a:tr h="113103">
                <a:tc>
                  <a:txBody>
                    <a:bodyPr/>
                    <a:lstStyle/>
                    <a:p>
                      <a:pPr algn="l" fontAlgn="b">
                        <a:buNone/>
                      </a:pPr>
                      <a:r>
                        <a:rPr lang="en-US" sz="700" u="none" strike="noStrike">
                          <a:effectLst/>
                        </a:rPr>
                        <a:t>Details</a:t>
                      </a:r>
                      <a:endParaRPr lang="en-US" sz="700" b="1"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dirty="0">
                          <a:effectLst/>
                        </a:rPr>
                        <a:t>Performance</a:t>
                      </a:r>
                      <a:endParaRPr lang="en-US" sz="700" b="1" i="0" u="none" strike="noStrike" dirty="0">
                        <a:solidFill>
                          <a:srgbClr val="000000"/>
                        </a:solidFill>
                        <a:effectLst/>
                        <a:latin typeface="Aptos Narrow" panose="020B0004020202020204" pitchFamily="34" charset="0"/>
                      </a:endParaRPr>
                    </a:p>
                  </a:txBody>
                  <a:tcPr marL="5302" marR="5302" marT="5302" marB="0" anchor="b"/>
                </a:tc>
                <a:tc>
                  <a:txBody>
                    <a:bodyPr/>
                    <a:lstStyle/>
                    <a:p>
                      <a:pPr algn="r" fontAlgn="b">
                        <a:buNone/>
                      </a:pPr>
                      <a:r>
                        <a:rPr lang="en-US" sz="700" u="none" strike="noStrike">
                          <a:effectLst/>
                        </a:rPr>
                        <a:t>Nov-25</a:t>
                      </a:r>
                      <a:endParaRPr lang="en-US" sz="700" b="1"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Criteria</a:t>
                      </a:r>
                      <a:endParaRPr lang="en-US" sz="700" b="1"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Comments</a:t>
                      </a:r>
                      <a:endParaRPr lang="en-US" sz="700" b="1"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Links</a:t>
                      </a:r>
                      <a:endParaRPr lang="en-US" sz="700" b="1" i="0" u="none" strike="noStrike">
                        <a:solidFill>
                          <a:srgbClr val="000000"/>
                        </a:solidFill>
                        <a:effectLst/>
                        <a:latin typeface="Aptos Narrow" panose="020B0004020202020204" pitchFamily="34" charset="0"/>
                      </a:endParaRPr>
                    </a:p>
                  </a:txBody>
                  <a:tcPr marL="5302" marR="5302" marT="5302" marB="0" anchor="b"/>
                </a:tc>
                <a:extLst>
                  <a:ext uri="{0D108BD9-81ED-4DB2-BD59-A6C34878D82A}">
                    <a16:rowId xmlns:a16="http://schemas.microsoft.com/office/drawing/2014/main" val="2644550810"/>
                  </a:ext>
                </a:extLst>
              </a:tr>
              <a:tr h="113103">
                <a:tc>
                  <a:txBody>
                    <a:bodyPr/>
                    <a:lstStyle/>
                    <a:p>
                      <a:pPr algn="l" fontAlgn="b">
                        <a:buNone/>
                      </a:pPr>
                      <a:r>
                        <a:rPr lang="en-US" sz="700" u="none" strike="noStrike">
                          <a:effectLst/>
                        </a:rPr>
                        <a:t>Jason Couzis (Employee Name)</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1"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1"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1"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1"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1" i="0" u="none" strike="noStrike">
                        <a:solidFill>
                          <a:srgbClr val="000000"/>
                        </a:solidFill>
                        <a:effectLst/>
                        <a:latin typeface="Aptos Narrow" panose="020B0004020202020204" pitchFamily="34" charset="0"/>
                      </a:endParaRPr>
                    </a:p>
                  </a:txBody>
                  <a:tcPr marL="5302" marR="5302" marT="5302" marB="0" anchor="b"/>
                </a:tc>
                <a:extLst>
                  <a:ext uri="{0D108BD9-81ED-4DB2-BD59-A6C34878D82A}">
                    <a16:rowId xmlns:a16="http://schemas.microsoft.com/office/drawing/2014/main" val="582574224"/>
                  </a:ext>
                </a:extLst>
              </a:tr>
              <a:tr h="113103">
                <a:tc>
                  <a:txBody>
                    <a:bodyPr/>
                    <a:lstStyle/>
                    <a:p>
                      <a:pPr algn="l" fontAlgn="b">
                        <a:buNone/>
                      </a:pPr>
                      <a:r>
                        <a:rPr lang="en-US" sz="700" u="none" strike="noStrike">
                          <a:effectLst/>
                        </a:rPr>
                        <a:t>Mechanical Engineer (Role)</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302" marR="5302" marT="5302" marB="0" anchor="b"/>
                </a:tc>
                <a:extLst>
                  <a:ext uri="{0D108BD9-81ED-4DB2-BD59-A6C34878D82A}">
                    <a16:rowId xmlns:a16="http://schemas.microsoft.com/office/drawing/2014/main" val="46788090"/>
                  </a:ext>
                </a:extLst>
              </a:tr>
              <a:tr h="527139">
                <a:tc>
                  <a:txBody>
                    <a:bodyPr/>
                    <a:lstStyle/>
                    <a:p>
                      <a:pPr algn="l" fontAlgn="b">
                        <a:buNone/>
                      </a:pPr>
                      <a:r>
                        <a:rPr lang="en-US" sz="700" u="none" strike="noStrike">
                          <a:effectLst/>
                        </a:rPr>
                        <a:t>Quality of Work/Technical Accuracy</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r" fontAlgn="b">
                        <a:buNone/>
                      </a:pPr>
                      <a:r>
                        <a:rPr lang="en-US" sz="700" u="none" strike="noStrike" dirty="0">
                          <a:effectLst/>
                        </a:rPr>
                        <a:t>5</a:t>
                      </a: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Quality of root-cause analysis like fishbone, understanding of machine settings, recipe tuning, correctness of calculations, predictive ability (do fixes stay fixed?), mastery of instrument science, etc</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Gifted engineer with exceptional programming and analytic capabilities. Rarely makes technical mistakes. Has improved processes for module assembly, welding, and data collection across all stations. Exceptional work product when on task.</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Can provide link to FFT program created this month to diagnose winder problems.</a:t>
                      </a:r>
                      <a:endParaRPr lang="en-US" sz="700" b="0" i="0" u="none" strike="noStrike">
                        <a:solidFill>
                          <a:srgbClr val="000000"/>
                        </a:solidFill>
                        <a:effectLst/>
                        <a:latin typeface="Aptos Narrow" panose="020B0004020202020204" pitchFamily="34" charset="0"/>
                      </a:endParaRPr>
                    </a:p>
                  </a:txBody>
                  <a:tcPr marL="5302" marR="5302" marT="5302" marB="0" anchor="b"/>
                </a:tc>
                <a:extLst>
                  <a:ext uri="{0D108BD9-81ED-4DB2-BD59-A6C34878D82A}">
                    <a16:rowId xmlns:a16="http://schemas.microsoft.com/office/drawing/2014/main" val="839318133"/>
                  </a:ext>
                </a:extLst>
              </a:tr>
              <a:tr h="527139">
                <a:tc>
                  <a:txBody>
                    <a:bodyPr/>
                    <a:lstStyle/>
                    <a:p>
                      <a:pPr algn="l" fontAlgn="b">
                        <a:buNone/>
                      </a:pPr>
                      <a:r>
                        <a:rPr lang="en-US" sz="700" u="none" strike="noStrike">
                          <a:effectLst/>
                        </a:rPr>
                        <a:t>Productivity/Output/Efficiency</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r" fontAlgn="b">
                        <a:buNone/>
                      </a:pPr>
                      <a:r>
                        <a:rPr lang="en-US" sz="700" u="none" strike="noStrike" dirty="0">
                          <a:effectLst/>
                        </a:rPr>
                        <a:t>4</a:t>
                      </a: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dirty="0">
                          <a:effectLst/>
                        </a:rPr>
                        <a:t>Project completion rate, cycle time improvement, downtime reduction due to engineering fixes, implementation of new fixtures, ability to run experiments efficiently (no wasted trials)</a:t>
                      </a: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Extremely productive and fast-working when on task. His work usually ends with measureable improvements. Welders, filler data processing, QMS are examples. Documentation, analysis, and presentation is strong.  A very strong engineer. Efficiency discussed below.</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302" marR="5302" marT="5302" marB="0" anchor="b"/>
                </a:tc>
                <a:extLst>
                  <a:ext uri="{0D108BD9-81ED-4DB2-BD59-A6C34878D82A}">
                    <a16:rowId xmlns:a16="http://schemas.microsoft.com/office/drawing/2014/main" val="1920209661"/>
                  </a:ext>
                </a:extLst>
              </a:tr>
              <a:tr h="721030">
                <a:tc>
                  <a:txBody>
                    <a:bodyPr/>
                    <a:lstStyle/>
                    <a:p>
                      <a:pPr algn="l" fontAlgn="b">
                        <a:buNone/>
                      </a:pPr>
                      <a:r>
                        <a:rPr lang="en-US" sz="700" u="none" strike="noStrike">
                          <a:effectLst/>
                        </a:rPr>
                        <a:t>Attendance, Documentation, Reliability and Discipline</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r" fontAlgn="b">
                        <a:buNone/>
                      </a:pPr>
                      <a:r>
                        <a:rPr lang="en-US" sz="700" u="none" strike="noStrike">
                          <a:effectLst/>
                        </a:rPr>
                        <a:t>2</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dirty="0">
                          <a:effectLst/>
                        </a:rPr>
                        <a:t>Quality of engineering documentation (PDCA), correct data logging like plots, statistical analysis, accuracy of technical reports, </a:t>
                      </a:r>
                      <a:r>
                        <a:rPr lang="en-US" sz="700" u="none" strike="noStrike" dirty="0" err="1">
                          <a:effectLst/>
                        </a:rPr>
                        <a:t>etc</a:t>
                      </a: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Reliability and Discipline poor. Attendance and Documentation good. Significant difficulty staying on task pertaining explicit responsibilities for the Production Team. As the only person who makes changes to drawings, he is still responsible for  aspects of cell and system design, so I understand his focus not being 100% on production. Regardless, his attention must be improved.</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302" marR="5302" marT="5302" marB="0" anchor="b"/>
                </a:tc>
                <a:extLst>
                  <a:ext uri="{0D108BD9-81ED-4DB2-BD59-A6C34878D82A}">
                    <a16:rowId xmlns:a16="http://schemas.microsoft.com/office/drawing/2014/main" val="4208061752"/>
                  </a:ext>
                </a:extLst>
              </a:tr>
              <a:tr h="527139">
                <a:tc>
                  <a:txBody>
                    <a:bodyPr/>
                    <a:lstStyle/>
                    <a:p>
                      <a:pPr algn="l" fontAlgn="b">
                        <a:buNone/>
                      </a:pPr>
                      <a:r>
                        <a:rPr lang="en-US" sz="700" u="none" strike="noStrike">
                          <a:effectLst/>
                        </a:rPr>
                        <a:t>Skill Growth, Ownership, Cross-Training, Mastery</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r" fontAlgn="b">
                        <a:buNone/>
                      </a:pPr>
                      <a:r>
                        <a:rPr lang="en-US" sz="700" u="none" strike="noStrike" dirty="0">
                          <a:effectLst/>
                        </a:rPr>
                        <a:t>5</a:t>
                      </a: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dirty="0">
                          <a:effectLst/>
                        </a:rPr>
                        <a:t>Understanding of machine mechanics and science, ability to train operators and managers on principles, depth of troubleshooting capability, </a:t>
                      </a:r>
                      <a:r>
                        <a:rPr lang="en-US" sz="700" u="none" strike="noStrike" dirty="0" err="1">
                          <a:effectLst/>
                        </a:rPr>
                        <a:t>etc</a:t>
                      </a: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Strength in engineering work is outstanding. Can explain principles and evaluate equipment effectively. Learned principles of welding, made presentation, and used that information to improve welding process and terminal design.</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can provide link to welding presentation and terminal design with data</a:t>
                      </a:r>
                      <a:endParaRPr lang="en-US" sz="700" b="0" i="0" u="none" strike="noStrike">
                        <a:solidFill>
                          <a:srgbClr val="000000"/>
                        </a:solidFill>
                        <a:effectLst/>
                        <a:latin typeface="Aptos Narrow" panose="020B0004020202020204" pitchFamily="34" charset="0"/>
                      </a:endParaRPr>
                    </a:p>
                  </a:txBody>
                  <a:tcPr marL="5302" marR="5302" marT="5302" marB="0" anchor="b"/>
                </a:tc>
                <a:extLst>
                  <a:ext uri="{0D108BD9-81ED-4DB2-BD59-A6C34878D82A}">
                    <a16:rowId xmlns:a16="http://schemas.microsoft.com/office/drawing/2014/main" val="142096400"/>
                  </a:ext>
                </a:extLst>
              </a:tr>
              <a:tr h="240343">
                <a:tc>
                  <a:txBody>
                    <a:bodyPr/>
                    <a:lstStyle/>
                    <a:p>
                      <a:pPr algn="l" fontAlgn="b">
                        <a:buNone/>
                      </a:pPr>
                      <a:r>
                        <a:rPr lang="en-US" sz="700" u="none" strike="noStrike">
                          <a:effectLst/>
                        </a:rPr>
                        <a:t>Teamwork, Safety and Communication</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r" fontAlgn="b">
                        <a:buNone/>
                      </a:pPr>
                      <a:r>
                        <a:rPr lang="en-US" sz="700" u="none" strike="noStrike">
                          <a:effectLst/>
                        </a:rPr>
                        <a:t>4</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r" fontAlgn="b">
                        <a:buNone/>
                      </a:pP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dirty="0">
                          <a:effectLst/>
                        </a:rPr>
                        <a:t>Working with QA/QC, working with R&amp;D, presenting data clearly, </a:t>
                      </a:r>
                      <a:r>
                        <a:rPr lang="en-US" sz="700" u="none" strike="noStrike" dirty="0" err="1">
                          <a:effectLst/>
                        </a:rPr>
                        <a:t>etc</a:t>
                      </a: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He works with all teams effectively. QMS development is an example. Should spend less time working outside his own team, however.</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302" marR="5302" marT="5302" marB="0" anchor="b"/>
                </a:tc>
                <a:extLst>
                  <a:ext uri="{0D108BD9-81ED-4DB2-BD59-A6C34878D82A}">
                    <a16:rowId xmlns:a16="http://schemas.microsoft.com/office/drawing/2014/main" val="3691682889"/>
                  </a:ext>
                </a:extLst>
              </a:tr>
              <a:tr h="113103">
                <a:tc>
                  <a:txBody>
                    <a:bodyPr/>
                    <a:lstStyle/>
                    <a:p>
                      <a:pPr algn="l" fontAlgn="b">
                        <a:buNone/>
                      </a:pPr>
                      <a:r>
                        <a:rPr lang="en-US" sz="700" u="none" strike="noStrike">
                          <a:effectLst/>
                        </a:rPr>
                        <a:t>Weighted Final Score</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r" fontAlgn="b">
                        <a:buNone/>
                      </a:pPr>
                      <a:r>
                        <a:rPr lang="en-US" sz="700" u="none" strike="noStrike">
                          <a:effectLst/>
                        </a:rPr>
                        <a:t>4.05</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r" fontAlgn="b">
                        <a:buNone/>
                      </a:pP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dirty="0">
                          <a:effectLst/>
                        </a:rPr>
                        <a:t> </a:t>
                      </a: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302" marR="5302" marT="5302" marB="0" anchor="b"/>
                </a:tc>
                <a:extLst>
                  <a:ext uri="{0D108BD9-81ED-4DB2-BD59-A6C34878D82A}">
                    <a16:rowId xmlns:a16="http://schemas.microsoft.com/office/drawing/2014/main" val="2918047484"/>
                  </a:ext>
                </a:extLst>
              </a:tr>
              <a:tr h="113103">
                <a:tc>
                  <a:txBody>
                    <a:bodyPr/>
                    <a:lstStyle/>
                    <a:p>
                      <a:pPr algn="l" fontAlgn="b">
                        <a:buNone/>
                      </a:pPr>
                      <a:r>
                        <a:rPr lang="en-US" sz="700" u="none" strike="noStrike">
                          <a:effectLst/>
                        </a:rPr>
                        <a:t>Recommended Salary Increase</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r" fontAlgn="b">
                        <a:buNone/>
                      </a:pPr>
                      <a:r>
                        <a:rPr lang="en-US" sz="700" u="none" strike="noStrike" dirty="0">
                          <a:effectLst/>
                        </a:rPr>
                        <a:t>5%</a:t>
                      </a: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dirty="0">
                          <a:effectLst/>
                        </a:rPr>
                        <a:t> </a:t>
                      </a: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302" marR="5302" marT="5302" marB="0" anchor="b"/>
                </a:tc>
                <a:extLst>
                  <a:ext uri="{0D108BD9-81ED-4DB2-BD59-A6C34878D82A}">
                    <a16:rowId xmlns:a16="http://schemas.microsoft.com/office/drawing/2014/main" val="447130765"/>
                  </a:ext>
                </a:extLst>
              </a:tr>
              <a:tr h="3345057">
                <a:tc>
                  <a:txBody>
                    <a:bodyPr/>
                    <a:lstStyle/>
                    <a:p>
                      <a:pPr algn="l" fontAlgn="b">
                        <a:buNone/>
                      </a:pPr>
                      <a:r>
                        <a:rPr lang="en-US" sz="700" u="none" strike="noStrike">
                          <a:effectLst/>
                        </a:rPr>
                        <a:t>Notes/Manager Comments</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Gifted engineer with exceptional mathematical, programming, and analytical skills. Driven to solve problems and takes joy in doing so. Cannot stay focused on Production at the moment.</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dirty="0">
                          <a:effectLst/>
                        </a:rPr>
                        <a:t> </a:t>
                      </a: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dirty="0">
                          <a:effectLst/>
                        </a:rPr>
                        <a:t> </a:t>
                      </a:r>
                      <a:endParaRPr lang="en-US" sz="700" b="0" i="0" u="none" strike="noStrike" dirty="0">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a:effectLst/>
                        </a:rPr>
                        <a:t> </a:t>
                      </a:r>
                      <a:endParaRPr lang="en-US" sz="700" b="0" i="0" u="none" strike="noStrike">
                        <a:solidFill>
                          <a:srgbClr val="000000"/>
                        </a:solidFill>
                        <a:effectLst/>
                        <a:latin typeface="Aptos Narrow" panose="020B0004020202020204" pitchFamily="34" charset="0"/>
                      </a:endParaRPr>
                    </a:p>
                  </a:txBody>
                  <a:tcPr marL="5302" marR="5302" marT="5302" marB="0" anchor="b"/>
                </a:tc>
                <a:tc>
                  <a:txBody>
                    <a:bodyPr/>
                    <a:lstStyle/>
                    <a:p>
                      <a:pPr algn="l" fontAlgn="b">
                        <a:buNone/>
                      </a:pPr>
                      <a:r>
                        <a:rPr lang="en-US" sz="700" u="none" strike="noStrike" dirty="0">
                          <a:effectLst/>
                        </a:rPr>
                        <a:t> </a:t>
                      </a:r>
                      <a:endParaRPr lang="en-US" sz="700" b="0" i="0" u="none" strike="noStrike" dirty="0">
                        <a:solidFill>
                          <a:srgbClr val="000000"/>
                        </a:solidFill>
                        <a:effectLst/>
                        <a:latin typeface="Aptos Narrow" panose="020B0004020202020204" pitchFamily="34" charset="0"/>
                      </a:endParaRPr>
                    </a:p>
                  </a:txBody>
                  <a:tcPr marL="5302" marR="5302" marT="5302" marB="0" anchor="b"/>
                </a:tc>
                <a:extLst>
                  <a:ext uri="{0D108BD9-81ED-4DB2-BD59-A6C34878D82A}">
                    <a16:rowId xmlns:a16="http://schemas.microsoft.com/office/drawing/2014/main" val="590471541"/>
                  </a:ext>
                </a:extLst>
              </a:tr>
            </a:tbl>
          </a:graphicData>
        </a:graphic>
      </p:graphicFrame>
    </p:spTree>
    <p:extLst>
      <p:ext uri="{BB962C8B-B14F-4D97-AF65-F5344CB8AC3E}">
        <p14:creationId xmlns:p14="http://schemas.microsoft.com/office/powerpoint/2010/main" val="2030077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EDA39-E0F3-0B46-60AB-DEB8FA8C54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1C824B-3B08-4D67-06F1-6471C8AB7510}"/>
              </a:ext>
            </a:extLst>
          </p:cNvPr>
          <p:cNvSpPr>
            <a:spLocks noGrp="1"/>
          </p:cNvSpPr>
          <p:nvPr>
            <p:ph type="title"/>
          </p:nvPr>
        </p:nvSpPr>
        <p:spPr/>
        <p:txBody>
          <a:bodyPr/>
          <a:lstStyle/>
          <a:p>
            <a:endParaRPr lang="en-US"/>
          </a:p>
        </p:txBody>
      </p:sp>
      <p:graphicFrame>
        <p:nvGraphicFramePr>
          <p:cNvPr id="3" name="Table 2">
            <a:extLst>
              <a:ext uri="{FF2B5EF4-FFF2-40B4-BE49-F238E27FC236}">
                <a16:creationId xmlns:a16="http://schemas.microsoft.com/office/drawing/2014/main" id="{F3F051E5-AD57-BF81-F6F1-E3F00B005FD6}"/>
              </a:ext>
            </a:extLst>
          </p:cNvPr>
          <p:cNvGraphicFramePr>
            <a:graphicFrameLocks noGrp="1"/>
          </p:cNvGraphicFramePr>
          <p:nvPr>
            <p:extLst>
              <p:ext uri="{D42A27DB-BD31-4B8C-83A1-F6EECF244321}">
                <p14:modId xmlns:p14="http://schemas.microsoft.com/office/powerpoint/2010/main" val="1895301250"/>
              </p:ext>
            </p:extLst>
          </p:nvPr>
        </p:nvGraphicFramePr>
        <p:xfrm>
          <a:off x="475435" y="0"/>
          <a:ext cx="9607679" cy="7100988"/>
        </p:xfrm>
        <a:graphic>
          <a:graphicData uri="http://schemas.openxmlformats.org/drawingml/2006/table">
            <a:tbl>
              <a:tblPr>
                <a:tableStyleId>{5C22544A-7EE6-4342-B048-85BDC9FD1C3A}</a:tableStyleId>
              </a:tblPr>
              <a:tblGrid>
                <a:gridCol w="2192796">
                  <a:extLst>
                    <a:ext uri="{9D8B030D-6E8A-4147-A177-3AD203B41FA5}">
                      <a16:colId xmlns:a16="http://schemas.microsoft.com/office/drawing/2014/main" val="119591735"/>
                    </a:ext>
                  </a:extLst>
                </a:gridCol>
                <a:gridCol w="334597">
                  <a:extLst>
                    <a:ext uri="{9D8B030D-6E8A-4147-A177-3AD203B41FA5}">
                      <a16:colId xmlns:a16="http://schemas.microsoft.com/office/drawing/2014/main" val="560252377"/>
                    </a:ext>
                  </a:extLst>
                </a:gridCol>
                <a:gridCol w="334597">
                  <a:extLst>
                    <a:ext uri="{9D8B030D-6E8A-4147-A177-3AD203B41FA5}">
                      <a16:colId xmlns:a16="http://schemas.microsoft.com/office/drawing/2014/main" val="2850656049"/>
                    </a:ext>
                  </a:extLst>
                </a:gridCol>
                <a:gridCol w="2957587">
                  <a:extLst>
                    <a:ext uri="{9D8B030D-6E8A-4147-A177-3AD203B41FA5}">
                      <a16:colId xmlns:a16="http://schemas.microsoft.com/office/drawing/2014/main" val="4085108014"/>
                    </a:ext>
                  </a:extLst>
                </a:gridCol>
                <a:gridCol w="2957587">
                  <a:extLst>
                    <a:ext uri="{9D8B030D-6E8A-4147-A177-3AD203B41FA5}">
                      <a16:colId xmlns:a16="http://schemas.microsoft.com/office/drawing/2014/main" val="4006447842"/>
                    </a:ext>
                  </a:extLst>
                </a:gridCol>
                <a:gridCol w="830515">
                  <a:extLst>
                    <a:ext uri="{9D8B030D-6E8A-4147-A177-3AD203B41FA5}">
                      <a16:colId xmlns:a16="http://schemas.microsoft.com/office/drawing/2014/main" val="1767857233"/>
                    </a:ext>
                  </a:extLst>
                </a:gridCol>
              </a:tblGrid>
              <a:tr h="127571">
                <a:tc>
                  <a:txBody>
                    <a:bodyPr/>
                    <a:lstStyle/>
                    <a:p>
                      <a:pPr algn="l" fontAlgn="b">
                        <a:buNone/>
                      </a:pPr>
                      <a:r>
                        <a:rPr lang="en-US" sz="800" u="none" strike="noStrike">
                          <a:effectLst/>
                        </a:rPr>
                        <a:t>Details</a:t>
                      </a:r>
                      <a:endParaRPr lang="en-US" sz="800" b="1"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dirty="0">
                          <a:effectLst/>
                        </a:rPr>
                        <a:t>Performance</a:t>
                      </a:r>
                      <a:endParaRPr lang="en-US" sz="800" b="1" i="0" u="none" strike="noStrike" dirty="0">
                        <a:solidFill>
                          <a:srgbClr val="000000"/>
                        </a:solidFill>
                        <a:effectLst/>
                        <a:latin typeface="Aptos Narrow" panose="020B0004020202020204" pitchFamily="34" charset="0"/>
                      </a:endParaRPr>
                    </a:p>
                  </a:txBody>
                  <a:tcPr marL="5980" marR="5980" marT="5980" marB="0" anchor="b"/>
                </a:tc>
                <a:tc>
                  <a:txBody>
                    <a:bodyPr/>
                    <a:lstStyle/>
                    <a:p>
                      <a:pPr algn="r" fontAlgn="b">
                        <a:buNone/>
                      </a:pPr>
                      <a:r>
                        <a:rPr lang="en-US" sz="800" u="none" strike="noStrike">
                          <a:effectLst/>
                        </a:rPr>
                        <a:t>Nov-25</a:t>
                      </a:r>
                      <a:endParaRPr lang="en-US" sz="800" b="1"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Criteria</a:t>
                      </a:r>
                      <a:endParaRPr lang="en-US" sz="800" b="1"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Comments</a:t>
                      </a:r>
                      <a:endParaRPr lang="en-US" sz="800" b="1"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Links</a:t>
                      </a:r>
                      <a:endParaRPr lang="en-US" sz="800" b="1" i="0" u="none" strike="noStrike">
                        <a:solidFill>
                          <a:srgbClr val="000000"/>
                        </a:solidFill>
                        <a:effectLst/>
                        <a:latin typeface="Aptos Narrow" panose="020B0004020202020204" pitchFamily="34" charset="0"/>
                      </a:endParaRPr>
                    </a:p>
                  </a:txBody>
                  <a:tcPr marL="5980" marR="5980" marT="5980" marB="0" anchor="b"/>
                </a:tc>
                <a:extLst>
                  <a:ext uri="{0D108BD9-81ED-4DB2-BD59-A6C34878D82A}">
                    <a16:rowId xmlns:a16="http://schemas.microsoft.com/office/drawing/2014/main" val="2818076948"/>
                  </a:ext>
                </a:extLst>
              </a:tr>
              <a:tr h="127571">
                <a:tc>
                  <a:txBody>
                    <a:bodyPr/>
                    <a:lstStyle/>
                    <a:p>
                      <a:pPr algn="l" fontAlgn="b">
                        <a:buNone/>
                      </a:pPr>
                      <a:r>
                        <a:rPr lang="en-US" sz="800" u="none" strike="noStrike">
                          <a:effectLst/>
                        </a:rPr>
                        <a:t>Alex Cajuste (Employee Name)</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1"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1"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1"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1"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1" i="0" u="none" strike="noStrike">
                        <a:solidFill>
                          <a:srgbClr val="000000"/>
                        </a:solidFill>
                        <a:effectLst/>
                        <a:latin typeface="Aptos Narrow" panose="020B0004020202020204" pitchFamily="34" charset="0"/>
                      </a:endParaRPr>
                    </a:p>
                  </a:txBody>
                  <a:tcPr marL="5980" marR="5980" marT="5980" marB="0" anchor="b"/>
                </a:tc>
                <a:extLst>
                  <a:ext uri="{0D108BD9-81ED-4DB2-BD59-A6C34878D82A}">
                    <a16:rowId xmlns:a16="http://schemas.microsoft.com/office/drawing/2014/main" val="3393043954"/>
                  </a:ext>
                </a:extLst>
              </a:tr>
              <a:tr h="127571">
                <a:tc>
                  <a:txBody>
                    <a:bodyPr/>
                    <a:lstStyle/>
                    <a:p>
                      <a:pPr algn="l" fontAlgn="b">
                        <a:buNone/>
                      </a:pPr>
                      <a:r>
                        <a:rPr lang="en-US" sz="800" u="none" strike="noStrike">
                          <a:effectLst/>
                        </a:rPr>
                        <a:t>Production Director (Role)</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extLst>
                  <a:ext uri="{0D108BD9-81ED-4DB2-BD59-A6C34878D82A}">
                    <a16:rowId xmlns:a16="http://schemas.microsoft.com/office/drawing/2014/main" val="3447649771"/>
                  </a:ext>
                </a:extLst>
              </a:tr>
              <a:tr h="813264">
                <a:tc>
                  <a:txBody>
                    <a:bodyPr/>
                    <a:lstStyle/>
                    <a:p>
                      <a:pPr algn="l" fontAlgn="b">
                        <a:buNone/>
                      </a:pPr>
                      <a:r>
                        <a:rPr lang="en-US" sz="800" u="none" strike="noStrike">
                          <a:effectLst/>
                        </a:rPr>
                        <a:t>Quality of Work/Technical Accuracy</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r" fontAlgn="b">
                        <a:buNone/>
                      </a:pPr>
                      <a:r>
                        <a:rPr lang="en-US" sz="800" u="none" strike="noStrike" dirty="0">
                          <a:effectLst/>
                        </a:rPr>
                        <a:t>4</a:t>
                      </a: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r" fontAlgn="b">
                        <a:buNone/>
                      </a:pP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Line Scrap % vs target, no. of recurring defects, root cause containment, first pass yield from coater, winder, other steps, etc</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There are too many equipment problems to put blame on operators for scrap at this point - operators are performing acceptably. About to do some welding, which doesn't have equipment problems, so we'll see how that goes for december review. He is not considering these assessment criteria at the moment so that must be improved. Most quantitative analysis is done by Sanbir.</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extLst>
                  <a:ext uri="{0D108BD9-81ED-4DB2-BD59-A6C34878D82A}">
                    <a16:rowId xmlns:a16="http://schemas.microsoft.com/office/drawing/2014/main" val="3501361584"/>
                  </a:ext>
                </a:extLst>
              </a:tr>
              <a:tr h="487318">
                <a:tc>
                  <a:txBody>
                    <a:bodyPr/>
                    <a:lstStyle/>
                    <a:p>
                      <a:pPr algn="l" fontAlgn="b">
                        <a:buNone/>
                      </a:pPr>
                      <a:r>
                        <a:rPr lang="en-US" sz="800" u="none" strike="noStrike">
                          <a:effectLst/>
                        </a:rPr>
                        <a:t>Productivity/Output/Efficiency</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r" fontAlgn="b">
                        <a:buNone/>
                      </a:pPr>
                      <a:r>
                        <a:rPr lang="en-US" sz="800" u="none" strike="noStrike" dirty="0">
                          <a:effectLst/>
                        </a:rPr>
                        <a:t>4</a:t>
                      </a: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r" fontAlgn="b">
                        <a:buNone/>
                      </a:pP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Line Overall Equipment Efficiency, Labor allocation efficiency, downtime response coordination, etc</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Proactive about letting me know when there will be downtime and asking for activities. Cognizant of  improving efficiency, and performed detailed analysis of staff allocation with Andy and Sanbir for 210 Ah filling.</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extLst>
                  <a:ext uri="{0D108BD9-81ED-4DB2-BD59-A6C34878D82A}">
                    <a16:rowId xmlns:a16="http://schemas.microsoft.com/office/drawing/2014/main" val="416633908"/>
                  </a:ext>
                </a:extLst>
              </a:tr>
              <a:tr h="406632">
                <a:tc>
                  <a:txBody>
                    <a:bodyPr/>
                    <a:lstStyle/>
                    <a:p>
                      <a:pPr algn="l" fontAlgn="b">
                        <a:buNone/>
                      </a:pPr>
                      <a:r>
                        <a:rPr lang="en-US" sz="800" u="none" strike="noStrike">
                          <a:effectLst/>
                        </a:rPr>
                        <a:t>Attendance, Documentation, Reliability and Discipline</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r" fontAlgn="b">
                        <a:buNone/>
                      </a:pPr>
                      <a:r>
                        <a:rPr lang="en-US" sz="800" u="none" strike="noStrike" dirty="0">
                          <a:effectLst/>
                        </a:rPr>
                        <a:t>4</a:t>
                      </a: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r" fontAlgn="b">
                        <a:buNone/>
                      </a:pP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Team attendance, punctuality, proper shift reporting and handovers, documentation accuracy, adherence to production schedule, etc</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Perfect here for attendance and reliability of himself and his staff. Documentation of training and production issues/observations must improve.</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extLst>
                  <a:ext uri="{0D108BD9-81ED-4DB2-BD59-A6C34878D82A}">
                    <a16:rowId xmlns:a16="http://schemas.microsoft.com/office/drawing/2014/main" val="3910136745"/>
                  </a:ext>
                </a:extLst>
              </a:tr>
              <a:tr h="542176">
                <a:tc>
                  <a:txBody>
                    <a:bodyPr/>
                    <a:lstStyle/>
                    <a:p>
                      <a:pPr algn="l" fontAlgn="b">
                        <a:buNone/>
                      </a:pPr>
                      <a:r>
                        <a:rPr lang="en-US" sz="800" u="none" strike="noStrike">
                          <a:effectLst/>
                        </a:rPr>
                        <a:t>Skill Growth, Ownership, Cross-Training, Mastery</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r" fontAlgn="b">
                        <a:buNone/>
                      </a:pPr>
                      <a:r>
                        <a:rPr lang="en-US" sz="800" u="none" strike="noStrike" dirty="0">
                          <a:effectLst/>
                        </a:rPr>
                        <a:t>3</a:t>
                      </a: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r" fontAlgn="b">
                        <a:buNone/>
                      </a:pP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Team members cross-trained, new SOPs created or improved, coaching and performance improvement effectiveness, developing junior operators into leads, etc</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Official training documentation and continued education and skill growth must be improved for himself and his staff. However, this has not been made a priority for him to spend his time on it, so it is unfair to grade him too harshly.</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extLst>
                  <a:ext uri="{0D108BD9-81ED-4DB2-BD59-A6C34878D82A}">
                    <a16:rowId xmlns:a16="http://schemas.microsoft.com/office/drawing/2014/main" val="3329201439"/>
                  </a:ext>
                </a:extLst>
              </a:tr>
              <a:tr h="542176">
                <a:tc>
                  <a:txBody>
                    <a:bodyPr/>
                    <a:lstStyle/>
                    <a:p>
                      <a:pPr algn="l" fontAlgn="b">
                        <a:buNone/>
                      </a:pPr>
                      <a:r>
                        <a:rPr lang="en-US" sz="800" u="none" strike="noStrike">
                          <a:effectLst/>
                        </a:rPr>
                        <a:t>Teamwork, Safety and Communication</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r" fontAlgn="b">
                        <a:buNone/>
                      </a:pPr>
                      <a:r>
                        <a:rPr lang="en-US" sz="800" u="none" strike="noStrike" dirty="0">
                          <a:effectLst/>
                        </a:rPr>
                        <a:t>5</a:t>
                      </a: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r" fontAlgn="b">
                        <a:buNone/>
                      </a:pP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Safety record, conflict resolution, communication clarity, etc</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Perfect here. Always communicates safety issues to me. It is his first priority. Fantastic verbal communicator and facilitator. Writing communication needs improvement, but maybe outside his expertise. I have no complaints here</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extLst>
                  <a:ext uri="{0D108BD9-81ED-4DB2-BD59-A6C34878D82A}">
                    <a16:rowId xmlns:a16="http://schemas.microsoft.com/office/drawing/2014/main" val="3216586078"/>
                  </a:ext>
                </a:extLst>
              </a:tr>
              <a:tr h="127571">
                <a:tc>
                  <a:txBody>
                    <a:bodyPr/>
                    <a:lstStyle/>
                    <a:p>
                      <a:pPr algn="l" fontAlgn="b">
                        <a:buNone/>
                      </a:pPr>
                      <a:r>
                        <a:rPr lang="en-US" sz="800" u="none" strike="noStrike">
                          <a:effectLst/>
                        </a:rPr>
                        <a:t>Weighted Final Score</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r" fontAlgn="b">
                        <a:buNone/>
                      </a:pPr>
                      <a:r>
                        <a:rPr lang="en-US" sz="800" u="none" strike="noStrike" dirty="0">
                          <a:effectLst/>
                        </a:rPr>
                        <a:t>3.95</a:t>
                      </a: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r" fontAlgn="b">
                        <a:buNone/>
                      </a:pP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extLst>
                  <a:ext uri="{0D108BD9-81ED-4DB2-BD59-A6C34878D82A}">
                    <a16:rowId xmlns:a16="http://schemas.microsoft.com/office/drawing/2014/main" val="1576415010"/>
                  </a:ext>
                </a:extLst>
              </a:tr>
              <a:tr h="127571">
                <a:tc>
                  <a:txBody>
                    <a:bodyPr/>
                    <a:lstStyle/>
                    <a:p>
                      <a:pPr algn="l" fontAlgn="b">
                        <a:buNone/>
                      </a:pPr>
                      <a:r>
                        <a:rPr lang="en-US" sz="800" u="none" strike="noStrike">
                          <a:effectLst/>
                        </a:rPr>
                        <a:t>Recommended Salary Increase</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r" fontAlgn="b">
                        <a:buNone/>
                      </a:pPr>
                      <a:r>
                        <a:rPr lang="en-US" sz="800" u="none" strike="noStrike" dirty="0">
                          <a:effectLst/>
                        </a:rPr>
                        <a:t>4%</a:t>
                      </a: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r" fontAlgn="b">
                        <a:buNone/>
                      </a:pP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extLst>
                  <a:ext uri="{0D108BD9-81ED-4DB2-BD59-A6C34878D82A}">
                    <a16:rowId xmlns:a16="http://schemas.microsoft.com/office/drawing/2014/main" val="3318757503"/>
                  </a:ext>
                </a:extLst>
              </a:tr>
              <a:tr h="3495683">
                <a:tc>
                  <a:txBody>
                    <a:bodyPr/>
                    <a:lstStyle/>
                    <a:p>
                      <a:pPr algn="l" fontAlgn="b">
                        <a:buNone/>
                      </a:pPr>
                      <a:r>
                        <a:rPr lang="en-US" sz="800" u="none" strike="noStrike">
                          <a:effectLst/>
                        </a:rPr>
                        <a:t>Notes/Manager Comments</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Excellent leader of production staff and collaborator with R&amp;D, QA/QC. Excellent communicator. Analytical skills and documentation need to be developed.</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dirty="0">
                          <a:effectLst/>
                        </a:rPr>
                        <a:t> </a:t>
                      </a:r>
                      <a:endParaRPr lang="en-US" sz="800" b="0" i="0" u="none" strike="noStrike" dirty="0">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980" marR="5980" marT="5980" marB="0" anchor="b"/>
                </a:tc>
                <a:tc>
                  <a:txBody>
                    <a:bodyPr/>
                    <a:lstStyle/>
                    <a:p>
                      <a:pPr algn="l" fontAlgn="b">
                        <a:buNone/>
                      </a:pPr>
                      <a:r>
                        <a:rPr lang="en-US" sz="800" u="none" strike="noStrike" dirty="0">
                          <a:effectLst/>
                        </a:rPr>
                        <a:t> </a:t>
                      </a:r>
                      <a:endParaRPr lang="en-US" sz="800" b="0" i="0" u="none" strike="noStrike" dirty="0">
                        <a:solidFill>
                          <a:srgbClr val="000000"/>
                        </a:solidFill>
                        <a:effectLst/>
                        <a:latin typeface="Aptos Narrow" panose="020B0004020202020204" pitchFamily="34" charset="0"/>
                      </a:endParaRPr>
                    </a:p>
                  </a:txBody>
                  <a:tcPr marL="5980" marR="5980" marT="5980" marB="0" anchor="b"/>
                </a:tc>
                <a:extLst>
                  <a:ext uri="{0D108BD9-81ED-4DB2-BD59-A6C34878D82A}">
                    <a16:rowId xmlns:a16="http://schemas.microsoft.com/office/drawing/2014/main" val="3623829362"/>
                  </a:ext>
                </a:extLst>
              </a:tr>
            </a:tbl>
          </a:graphicData>
        </a:graphic>
      </p:graphicFrame>
    </p:spTree>
    <p:extLst>
      <p:ext uri="{BB962C8B-B14F-4D97-AF65-F5344CB8AC3E}">
        <p14:creationId xmlns:p14="http://schemas.microsoft.com/office/powerpoint/2010/main" val="7694372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5042</Words>
  <Application>Microsoft Macintosh PowerPoint</Application>
  <PresentationFormat>Widescreen</PresentationFormat>
  <Paragraphs>519</Paragraphs>
  <Slides>21</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MS Gothic</vt:lpstr>
      <vt:lpstr>Aptos</vt:lpstr>
      <vt:lpstr>Aptos Display</vt:lpstr>
      <vt:lpstr>Aptos Narrow</vt:lpstr>
      <vt:lpstr>Arial</vt:lpstr>
      <vt:lpstr>Helvetica</vt:lpstr>
      <vt:lpstr>Helvetica Neue</vt:lpstr>
      <vt:lpstr>Play</vt:lpstr>
      <vt:lpstr>Office Theme</vt:lpstr>
      <vt:lpstr>Assessment Analyzer</vt:lpstr>
      <vt:lpstr>Template</vt:lpstr>
      <vt:lpstr>Employee Assessment Table</vt:lpstr>
      <vt:lpstr>R&amp;D</vt:lpstr>
      <vt:lpstr>Employee Assessment Table</vt:lpstr>
      <vt:lpstr>Detailed Assessment for Nahian</vt:lpstr>
      <vt:lpstr>Employee Assessment Table</vt:lpstr>
      <vt:lpstr>Detailed Assessment for Suqi</vt:lpstr>
      <vt:lpstr>Employee Assessment Table</vt:lpstr>
      <vt:lpstr>Detailed Assessment for Shinju</vt:lpstr>
      <vt:lpstr>QA/QC</vt:lpstr>
      <vt:lpstr>Employee Assessment Table – 2025 End of Year</vt:lpstr>
      <vt:lpstr>Employee Assessment Table – 2025 End of Year (cont.)</vt:lpstr>
      <vt:lpstr>Batt Dev</vt:lpstr>
      <vt:lpstr>Battery Development November 2025</vt:lpstr>
      <vt:lpstr>Battery Development November 2025</vt:lpstr>
      <vt:lpstr>Production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Gautam Yadav</dc:creator>
  <cp:lastModifiedBy>Gautam Yadav</cp:lastModifiedBy>
  <cp:revision>4</cp:revision>
  <dcterms:created xsi:type="dcterms:W3CDTF">2025-12-09T00:25:18Z</dcterms:created>
  <dcterms:modified xsi:type="dcterms:W3CDTF">2025-12-09T01:00:29Z</dcterms:modified>
</cp:coreProperties>
</file>